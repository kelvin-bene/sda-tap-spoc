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6" roundtripDataSignature="AMtx7miS9ss8ZCZpXumVdMnvVg9ex0hH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 name="Google Shape;8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Measurement devices such as telescopes, radar, passive RF, etc. scan the sky for RSOs. Object will appear as a track, seen in the image When an object if found, its location is cross-referenced against a catalogue of known objects. Sometimes, the tracks do not correlate to any known objects. These are referred to as Uncorrelated Tracks, or UCTs. UCTs present an issue for SDA because it represents an object in space that we don’t know what it is. It might pose a threat to our space infrastructure. </a:t>
            </a:r>
            <a:endParaRPr/>
          </a:p>
        </p:txBody>
      </p:sp>
      <p:sp>
        <p:nvSpPr>
          <p:cNvPr id="88" name="Google Shape;8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Ground Traces shown is only 4 satellites, and already there are many observations that lie on top of eachother. It's obvious to see how this is a difficult problem to solve, but there is a separate, more nuanced issue associated with UCT processing. When someone presents a UCT solution, how do we know how accurate it is? By definition, there is no known solution to compare to.</a:t>
            </a:r>
            <a:endParaRPr/>
          </a:p>
        </p:txBody>
      </p:sp>
      <p:sp>
        <p:nvSpPr>
          <p:cNvPr id="98" name="Google Shape;9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710947e9c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g3710947e9cf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Common task framework is a structured method for evaluating and comparing different solutions to the same problem. CTF commonly used in data science, machine learning/AI, image recognition, etc. to accelerate advancements in state-of-the-art. As defined by Donoho in landmark paper </a:t>
            </a:r>
            <a:r>
              <a:rPr i="1" lang="en-US"/>
              <a:t>50 years of data science</a:t>
            </a:r>
            <a:r>
              <a:rPr lang="en-US"/>
              <a:t>, CTF has …. We want to bring elements of the CTF to SDA, by providing an objective way to evaluate performance of different predictive algorithms, and highlight where these algorithms are deficient/identify where they need to improve. Our specific task for this summer was to benchmark and evaluate UCT processing algorithms, with the idea being to create the framework to be generalized to other areas of SDA.</a:t>
            </a:r>
            <a:endParaRPr/>
          </a:p>
        </p:txBody>
      </p:sp>
      <p:sp>
        <p:nvSpPr>
          <p:cNvPr id="107" name="Google Shape;107;g3710947e9cf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71d208b708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g371d208b708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Google Deep Mind has developed a new AI agent for optimizing coding applications through an iterative process of querying LLM models via API based on a user defined prompt to suggest improvements to a given function. The suggested improvements are then evaluated against some user-defined scoring metrics to determine whether improvements were actually made, and the best function at every iteration is saved to be the new target of improvement. After many iterations of manipulation and evaluation, an optimized ‘best program’ is output by the software. Google Deep Mind has already demonstrated success with AlphaEvolve, improving current state-of-the-art for certain classes of matrix multiplication algorithms.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There is an open-source version of AlphaEvolve, called OpenEvolve, which works in a very similar way. It is intended to use our benchmarking and evaluation pipeline in the evaluation function required by the OpenEvolve architecture and attempt to iterate on existing UCTP algorithms to identify areas of improvement for current state-of-the-art to enhance SDA capabilities.</a:t>
            </a:r>
            <a:endParaRPr/>
          </a:p>
        </p:txBody>
      </p:sp>
      <p:sp>
        <p:nvSpPr>
          <p:cNvPr id="116" name="Google Shape;116;g371d208b708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710947e9cf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g3710947e9cf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 name="Google Shape;125;g3710947e9cf_0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710947e9cf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g3710947e9cf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Basic dataset generation workflow, we first allow the user, whether it is the developer of UCTP or a 3rd party evaluator, to select the desired characteristic of the dataset used to test. There are different options, such as object type, orbital regime, and data quality. We then go find the data that best matches the user-defined specifications, which becomes our reference objects and reference orbits, and perform any data manipulation necessary. If there is too much data and the user desires a sparser dataset, we will selectively downsample the data. If there is too little data, we will simulate observations to achieve the desired result. We will also convert the raw observations to trackTLEs. All of that information is then saved as the benchmark dataset, which is saved in a database. Any one of these datasets is then what is fed into the UCTP.</a:t>
            </a:r>
            <a:endParaRPr/>
          </a:p>
        </p:txBody>
      </p:sp>
      <p:sp>
        <p:nvSpPr>
          <p:cNvPr id="132" name="Google Shape;132;g3710947e9cf_0_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710947e9cf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g3710947e9cf_0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Dataset code is a unique 16 character string encoding the user selected data parameters. </a:t>
            </a:r>
            <a:endParaRPr/>
          </a:p>
        </p:txBody>
      </p:sp>
      <p:sp>
        <p:nvSpPr>
          <p:cNvPr id="140" name="Google Shape;140;g3710947e9cf_0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710947e9cf_1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g3710947e9cf_1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 name="Google Shape;148;g3710947e9cf_1_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89f1ec6837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89f1ec6837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389f1ec6837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710947e9cf_1_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g3710947e9cf_1_1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710947e9cf_1_1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710947e9cf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3710947e9cf_0_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segue into force model</a:t>
            </a:r>
            <a:endParaRPr/>
          </a:p>
        </p:txBody>
      </p:sp>
      <p:sp>
        <p:nvSpPr>
          <p:cNvPr id="173" name="Google Shape;173;g3710947e9cf_0_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713263bbdd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g3713263bbdd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g3713263bbdd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7181be29d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g37181be29d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MILES STARTS</a:t>
            </a:r>
            <a:endParaRPr/>
          </a:p>
        </p:txBody>
      </p:sp>
      <p:sp>
        <p:nvSpPr>
          <p:cNvPr id="192" name="Google Shape;192;g37181be29d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713263bbdd_1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g3713263bbdd_1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g3713263bbdd_1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713263bbdd_1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g3713263bbdd_1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400"/>
              <a:buNone/>
            </a:pPr>
            <a:r>
              <a:rPr lang="en-US" sz="1100">
                <a:latin typeface="Arial"/>
                <a:ea typeface="Arial"/>
                <a:cs typeface="Arial"/>
                <a:sym typeface="Arial"/>
              </a:rPr>
              <a:t>Observations can be classified in one of four categories, depending on if they were associated correctly or incorrectly. A True positive is when an observation is correctly associated with the appropriate reference object. A true negative is when an observation is correctly not associated with any reference object. A False positive is when an observation is incorrectly associated with a reference object, and a false negative is when an observation is incorrectly not associated with any reference object.</a:t>
            </a:r>
            <a:endParaRPr sz="1100">
              <a:latin typeface="Arial"/>
              <a:ea typeface="Arial"/>
              <a:cs typeface="Arial"/>
              <a:sym typeface="Arial"/>
            </a:endParaRPr>
          </a:p>
          <a:p>
            <a:pPr indent="0" lvl="0" marL="0" rtl="0" algn="l">
              <a:lnSpc>
                <a:spcPct val="115000"/>
              </a:lnSpc>
              <a:spcBef>
                <a:spcPts val="1200"/>
              </a:spcBef>
              <a:spcAft>
                <a:spcPts val="0"/>
              </a:spcAft>
              <a:buSzPts val="1400"/>
              <a:buNone/>
            </a:pPr>
            <a:r>
              <a:t/>
            </a:r>
            <a:endParaRPr b="1" sz="1100">
              <a:latin typeface="Arial"/>
              <a:ea typeface="Arial"/>
              <a:cs typeface="Arial"/>
              <a:sym typeface="Arial"/>
            </a:endParaRPr>
          </a:p>
          <a:p>
            <a:pPr indent="-298450" lvl="0" marL="9144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True Positive (TP):</a:t>
            </a:r>
            <a:r>
              <a:rPr lang="en-US" sz="1100">
                <a:latin typeface="Arial"/>
                <a:ea typeface="Arial"/>
                <a:cs typeface="Arial"/>
                <a:sym typeface="Arial"/>
              </a:rPr>
              <a:t> Observation or TrackTLE belongs to both the Candidate Orbit and the Reference Orbit to which it has been associated </a:t>
            </a:r>
            <a:endParaRPr sz="1100">
              <a:latin typeface="Arial"/>
              <a:ea typeface="Arial"/>
              <a:cs typeface="Arial"/>
              <a:sym typeface="Arial"/>
            </a:endParaRPr>
          </a:p>
          <a:p>
            <a:pPr indent="-298450" lvl="0"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True Negative (TN):</a:t>
            </a:r>
            <a:r>
              <a:rPr lang="en-US" sz="1100">
                <a:latin typeface="Arial"/>
                <a:ea typeface="Arial"/>
                <a:cs typeface="Arial"/>
                <a:sym typeface="Arial"/>
              </a:rPr>
              <a:t> Observation or TrackTLE does not belong to any Candidate Orbit or Reference Orbit</a:t>
            </a:r>
            <a:endParaRPr sz="1100">
              <a:latin typeface="Arial"/>
              <a:ea typeface="Arial"/>
              <a:cs typeface="Arial"/>
              <a:sym typeface="Arial"/>
            </a:endParaRPr>
          </a:p>
          <a:p>
            <a:pPr indent="-298450" lvl="0"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False Positive (FP):</a:t>
            </a:r>
            <a:r>
              <a:rPr lang="en-US" sz="1100">
                <a:latin typeface="Arial"/>
                <a:ea typeface="Arial"/>
                <a:cs typeface="Arial"/>
                <a:sym typeface="Arial"/>
              </a:rPr>
              <a:t> Observation or TrackTLE belongs to a Candidate Orbit but not the Reference Orbit to which it has been associated</a:t>
            </a:r>
            <a:endParaRPr sz="1100">
              <a:latin typeface="Arial"/>
              <a:ea typeface="Arial"/>
              <a:cs typeface="Arial"/>
              <a:sym typeface="Arial"/>
            </a:endParaRPr>
          </a:p>
          <a:p>
            <a:pPr indent="-298450" lvl="0"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False Negative (FN):</a:t>
            </a:r>
            <a:r>
              <a:rPr lang="en-US" sz="1100">
                <a:latin typeface="Arial"/>
                <a:ea typeface="Arial"/>
                <a:cs typeface="Arial"/>
                <a:sym typeface="Arial"/>
              </a:rPr>
              <a:t> Observation or TrackTLE does not belong to a Candidate Orbit but does belong to the Reference Orbit to which it has been associated</a:t>
            </a:r>
            <a:endParaRPr sz="1100">
              <a:latin typeface="Arial"/>
              <a:ea typeface="Arial"/>
              <a:cs typeface="Arial"/>
              <a:sym typeface="Arial"/>
            </a:endParaRPr>
          </a:p>
          <a:p>
            <a:pPr indent="0" lvl="0" marL="0" rtl="0" algn="l">
              <a:lnSpc>
                <a:spcPct val="115000"/>
              </a:lnSpc>
              <a:spcBef>
                <a:spcPts val="1200"/>
              </a:spcBef>
              <a:spcAft>
                <a:spcPts val="0"/>
              </a:spcAft>
              <a:buSzPts val="1400"/>
              <a:buNone/>
            </a:pPr>
            <a:r>
              <a:rPr lang="en-US" sz="1100">
                <a:latin typeface="Arial"/>
                <a:ea typeface="Arial"/>
                <a:cs typeface="Arial"/>
                <a:sym typeface="Arial"/>
              </a:rPr>
              <a:t>Compare The Observations/TrackTLEs associated by the UCTP</a:t>
            </a:r>
            <a:endParaRPr sz="1100">
              <a:latin typeface="Arial"/>
              <a:ea typeface="Arial"/>
              <a:cs typeface="Arial"/>
              <a:sym typeface="Arial"/>
            </a:endParaRPr>
          </a:p>
          <a:p>
            <a:pPr indent="0" lvl="0" marL="0" rtl="0" algn="l">
              <a:lnSpc>
                <a:spcPct val="115000"/>
              </a:lnSpc>
              <a:spcBef>
                <a:spcPts val="1200"/>
              </a:spcBef>
              <a:spcAft>
                <a:spcPts val="0"/>
              </a:spcAft>
              <a:buSzPts val="1400"/>
              <a:buNone/>
            </a:pPr>
            <a:r>
              <a:rPr lang="en-US" sz="1100">
                <a:latin typeface="Arial"/>
                <a:ea typeface="Arial"/>
                <a:cs typeface="Arial"/>
                <a:sym typeface="Arial"/>
              </a:rPr>
              <a:t>Leads to many more secondary values used to classify the results:</a:t>
            </a:r>
            <a:endParaRPr sz="1100">
              <a:latin typeface="Arial"/>
              <a:ea typeface="Arial"/>
              <a:cs typeface="Arial"/>
              <a:sym typeface="Arial"/>
            </a:endParaRPr>
          </a:p>
          <a:p>
            <a:pPr indent="0" lvl="0" marL="0" rtl="0" algn="l">
              <a:lnSpc>
                <a:spcPct val="115000"/>
              </a:lnSpc>
              <a:spcBef>
                <a:spcPts val="1200"/>
              </a:spcBef>
              <a:spcAft>
                <a:spcPts val="0"/>
              </a:spcAft>
              <a:buSzPts val="1400"/>
              <a:buNone/>
            </a:pPr>
            <a:r>
              <a:rPr b="1" lang="en-US" sz="1100">
                <a:latin typeface="Arial"/>
                <a:ea typeface="Arial"/>
                <a:cs typeface="Arial"/>
                <a:sym typeface="Arial"/>
              </a:rPr>
              <a:t>F1 Score</a:t>
            </a:r>
            <a:endParaRPr sz="1100">
              <a:latin typeface="Arial"/>
              <a:ea typeface="Arial"/>
              <a:cs typeface="Arial"/>
              <a:sym typeface="Arial"/>
            </a:endParaRPr>
          </a:p>
          <a:p>
            <a:pPr indent="0" lvl="0" marL="0" rtl="0" algn="l">
              <a:lnSpc>
                <a:spcPct val="115000"/>
              </a:lnSpc>
              <a:spcBef>
                <a:spcPts val="1200"/>
              </a:spcBef>
              <a:spcAft>
                <a:spcPts val="0"/>
              </a:spcAft>
              <a:buSzPts val="1400"/>
              <a:buNone/>
            </a:pPr>
            <a:r>
              <a:rPr b="1" lang="en-US" sz="1100">
                <a:latin typeface="Arial"/>
                <a:ea typeface="Arial"/>
                <a:cs typeface="Arial"/>
                <a:sym typeface="Arial"/>
              </a:rPr>
              <a:t>Cohen’s Kappa Coefficient</a:t>
            </a:r>
            <a:endParaRPr b="1" sz="1100">
              <a:latin typeface="Arial"/>
              <a:ea typeface="Arial"/>
              <a:cs typeface="Arial"/>
              <a:sym typeface="Arial"/>
            </a:endParaRPr>
          </a:p>
          <a:p>
            <a:pPr indent="0" lvl="0" marL="0" rtl="0" algn="l">
              <a:lnSpc>
                <a:spcPct val="115000"/>
              </a:lnSpc>
              <a:spcBef>
                <a:spcPts val="1200"/>
              </a:spcBef>
              <a:spcAft>
                <a:spcPts val="0"/>
              </a:spcAft>
              <a:buSzPts val="1400"/>
              <a:buNone/>
            </a:pPr>
            <a:r>
              <a:rPr b="1" lang="en-US" sz="1100">
                <a:latin typeface="Arial"/>
                <a:ea typeface="Arial"/>
                <a:cs typeface="Arial"/>
                <a:sym typeface="Arial"/>
              </a:rPr>
              <a:t>Matthews Correlation Coefficient</a:t>
            </a:r>
            <a:endParaRPr sz="1100">
              <a:latin typeface="Arial"/>
              <a:ea typeface="Arial"/>
              <a:cs typeface="Arial"/>
              <a:sym typeface="Arial"/>
            </a:endParaRPr>
          </a:p>
          <a:p>
            <a:pPr indent="0" lvl="0" marL="0" rtl="0" algn="l">
              <a:lnSpc>
                <a:spcPct val="115000"/>
              </a:lnSpc>
              <a:spcBef>
                <a:spcPts val="1200"/>
              </a:spcBef>
              <a:spcAft>
                <a:spcPts val="1200"/>
              </a:spcAft>
              <a:buSzPts val="1400"/>
              <a:buNone/>
            </a:pPr>
            <a:r>
              <a:t/>
            </a:r>
            <a:endParaRPr sz="1100">
              <a:latin typeface="Arial"/>
              <a:ea typeface="Arial"/>
              <a:cs typeface="Arial"/>
              <a:sym typeface="Arial"/>
            </a:endParaRPr>
          </a:p>
        </p:txBody>
      </p:sp>
      <p:sp>
        <p:nvSpPr>
          <p:cNvPr id="211" name="Google Shape;211;g3713263bbdd_1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89f1ec683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89f1ec6837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g389f1ec6837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710947e9cf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g3710947e9cf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9" name="Google Shape;229;g3710947e9cf_0_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73e5a908b0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g373e5a908b0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0"/>
              </a:spcBef>
              <a:spcAft>
                <a:spcPts val="0"/>
              </a:spcAft>
              <a:buSzPts val="1800"/>
              <a:buChar char="●"/>
            </a:pPr>
            <a:r>
              <a:rPr lang="en-US" sz="1600"/>
              <a:t>Finding ground truth in space is very hard to do for a multitude of reasons; noisy sensor data, fragmentation of observations and reporting, data silos and confidentiality, lack of standardization and continuity of defining space events. If we intend to tackle the characterization, detection, and classification of space events using machine learning, finding a way to derive some truth from the ground truth data we do have is essential.</a:t>
            </a:r>
            <a:endParaRPr sz="1600"/>
          </a:p>
          <a:p>
            <a:pPr indent="-342900" lvl="0" marL="457200" rtl="0" algn="l">
              <a:lnSpc>
                <a:spcPct val="100000"/>
              </a:lnSpc>
              <a:spcBef>
                <a:spcPts val="0"/>
              </a:spcBef>
              <a:spcAft>
                <a:spcPts val="0"/>
              </a:spcAft>
              <a:buSzPts val="1800"/>
              <a:buChar char="●"/>
            </a:pPr>
            <a:r>
              <a:rPr lang="en-US" sz="1600"/>
              <a:t>NOTSOs (Notice to Space Operators) are notifications from the Joint Commercial Operations that state when a known entity or entities has done something; made a maneuver, executed a rendezvous, created a breakup, launched from from a particular site. Right now this one of the most reliable sources reporting events that happen in space.</a:t>
            </a:r>
            <a:endParaRPr sz="1600"/>
          </a:p>
          <a:p>
            <a:pPr indent="-342900" lvl="0" marL="457200" rtl="0" algn="l">
              <a:lnSpc>
                <a:spcPct val="100000"/>
              </a:lnSpc>
              <a:spcBef>
                <a:spcPts val="0"/>
              </a:spcBef>
              <a:spcAft>
                <a:spcPts val="0"/>
              </a:spcAft>
              <a:buSzPts val="1800"/>
              <a:buChar char="●"/>
            </a:pPr>
            <a:r>
              <a:rPr lang="en-US" sz="1600"/>
              <a:t>The problem is that these notifications are text-heavy, human-entered, semantically-rich and have a large amount of variance in how each type of event is reported over time, and is most likely to change in the future.</a:t>
            </a:r>
            <a:endParaRPr sz="1600"/>
          </a:p>
          <a:p>
            <a:pPr indent="-342900" lvl="0" marL="457200" rtl="0" algn="l">
              <a:lnSpc>
                <a:spcPct val="100000"/>
              </a:lnSpc>
              <a:spcBef>
                <a:spcPts val="0"/>
              </a:spcBef>
              <a:spcAft>
                <a:spcPts val="0"/>
              </a:spcAft>
              <a:buSzPts val="1800"/>
              <a:buChar char="●"/>
            </a:pPr>
            <a:r>
              <a:rPr lang="en-US" sz="1600"/>
              <a:t>Our pipeline uses a combination of natural language processing (text classification) and software engineering to extract insights from the text-heavy event such as date/times, satellite numbers an provides the event with one of the 82 space event labels curated by subject matter experts the space domain.</a:t>
            </a:r>
            <a:endParaRPr sz="1600"/>
          </a:p>
          <a:p>
            <a:pPr indent="-342900" lvl="0" marL="457200" rtl="0" algn="l">
              <a:lnSpc>
                <a:spcPct val="100000"/>
              </a:lnSpc>
              <a:spcBef>
                <a:spcPts val="0"/>
              </a:spcBef>
              <a:spcAft>
                <a:spcPts val="0"/>
              </a:spcAft>
              <a:buSzPts val="1800"/>
              <a:buChar char="●"/>
            </a:pPr>
            <a:r>
              <a:rPr lang="en-US" sz="1600"/>
              <a:t>From there we are able to build a time window around that event which is used to gather observation data that will assist in contextualizing the event. All of this data is then packaged and formatted for space operators.</a:t>
            </a:r>
            <a:endParaRPr sz="1600"/>
          </a:p>
          <a:p>
            <a:pPr indent="-342900" lvl="0" marL="457200" rtl="0" algn="l">
              <a:lnSpc>
                <a:spcPct val="100000"/>
              </a:lnSpc>
              <a:spcBef>
                <a:spcPts val="0"/>
              </a:spcBef>
              <a:spcAft>
                <a:spcPts val="0"/>
              </a:spcAft>
              <a:buSzPts val="1800"/>
              <a:buChar char="●"/>
            </a:pPr>
            <a:r>
              <a:rPr lang="en-US" sz="1600"/>
              <a:t>The value of this is that future engineers now have labeled ground truth data which can be used train algorithms to characterize, classify, and detect events in space.</a:t>
            </a:r>
            <a:endParaRPr sz="1600"/>
          </a:p>
          <a:p>
            <a:pPr indent="-330200" lvl="0" marL="457200" rtl="0" algn="l">
              <a:lnSpc>
                <a:spcPct val="100000"/>
              </a:lnSpc>
              <a:spcBef>
                <a:spcPts val="0"/>
              </a:spcBef>
              <a:spcAft>
                <a:spcPts val="0"/>
              </a:spcAft>
              <a:buSzPts val="1600"/>
              <a:buChar char="●"/>
            </a:pPr>
            <a:r>
              <a:rPr lang="en-US" sz="1600"/>
              <a:t>My team will be giving a full length presentation on this topic August 6th if you are interested in learning more about the project</a:t>
            </a:r>
            <a:endParaRPr sz="1600"/>
          </a:p>
        </p:txBody>
      </p:sp>
      <p:sp>
        <p:nvSpPr>
          <p:cNvPr id="236" name="Google Shape;236;g373e5a908b0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89f1ec6837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89f1ec6837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g389f1ec6837_0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389f1ec6837_1_456"/>
          <p:cNvSpPr txBox="1"/>
          <p:nvPr>
            <p:ph type="ctrTitle"/>
          </p:nvPr>
        </p:nvSpPr>
        <p:spPr>
          <a:xfrm>
            <a:off x="415611" y="992767"/>
            <a:ext cx="11360700" cy="27369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15" name="Google Shape;15;g389f1ec6837_1_456"/>
          <p:cNvSpPr txBox="1"/>
          <p:nvPr>
            <p:ph idx="1" type="subTitle"/>
          </p:nvPr>
        </p:nvSpPr>
        <p:spPr>
          <a:xfrm>
            <a:off x="415600" y="3778833"/>
            <a:ext cx="11360700" cy="10569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6" name="Google Shape;16;g389f1ec6837_1_45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g389f1ec6837_1_460"/>
          <p:cNvSpPr txBox="1"/>
          <p:nvPr>
            <p:ph type="title"/>
          </p:nvPr>
        </p:nvSpPr>
        <p:spPr>
          <a:xfrm>
            <a:off x="415600" y="2867800"/>
            <a:ext cx="11360700" cy="11223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g389f1ec6837_1_46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g389f1ec6837_1_463"/>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2" name="Google Shape;22;g389f1ec6837_1_463"/>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23" name="Google Shape;23;g389f1ec6837_1_46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g389f1ec6837_1_467"/>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6" name="Google Shape;26;g389f1ec6837_1_467"/>
          <p:cNvSpPr txBox="1"/>
          <p:nvPr>
            <p:ph idx="1" type="body"/>
          </p:nvPr>
        </p:nvSpPr>
        <p:spPr>
          <a:xfrm>
            <a:off x="4156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7" name="Google Shape;27;g389f1ec6837_1_467"/>
          <p:cNvSpPr txBox="1"/>
          <p:nvPr>
            <p:ph idx="2" type="body"/>
          </p:nvPr>
        </p:nvSpPr>
        <p:spPr>
          <a:xfrm>
            <a:off x="64432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8" name="Google Shape;28;g389f1ec6837_1_46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g389f1ec6837_1_472"/>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31" name="Google Shape;31;g389f1ec6837_1_47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g389f1ec6837_1_475"/>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4" name="Google Shape;34;g389f1ec6837_1_475"/>
          <p:cNvSpPr txBox="1"/>
          <p:nvPr>
            <p:ph idx="1" type="body"/>
          </p:nvPr>
        </p:nvSpPr>
        <p:spPr>
          <a:xfrm>
            <a:off x="415600" y="1852800"/>
            <a:ext cx="3744000" cy="42393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5" name="Google Shape;35;g389f1ec6837_1_47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g389f1ec6837_1_479"/>
          <p:cNvSpPr txBox="1"/>
          <p:nvPr>
            <p:ph type="title"/>
          </p:nvPr>
        </p:nvSpPr>
        <p:spPr>
          <a:xfrm>
            <a:off x="653667" y="600200"/>
            <a:ext cx="8490300" cy="54543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38" name="Google Shape;38;g389f1ec6837_1_47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g389f1ec6837_1_482"/>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 name="Google Shape;41;g389f1ec6837_1_482"/>
          <p:cNvSpPr txBox="1"/>
          <p:nvPr>
            <p:ph type="title"/>
          </p:nvPr>
        </p:nvSpPr>
        <p:spPr>
          <a:xfrm>
            <a:off x="354000" y="1644233"/>
            <a:ext cx="5393700" cy="19764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42" name="Google Shape;42;g389f1ec6837_1_482"/>
          <p:cNvSpPr txBox="1"/>
          <p:nvPr>
            <p:ph idx="1" type="subTitle"/>
          </p:nvPr>
        </p:nvSpPr>
        <p:spPr>
          <a:xfrm>
            <a:off x="354000" y="3737433"/>
            <a:ext cx="5393700" cy="16467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3" name="Google Shape;43;g389f1ec6837_1_482"/>
          <p:cNvSpPr txBox="1"/>
          <p:nvPr>
            <p:ph idx="2" type="body"/>
          </p:nvPr>
        </p:nvSpPr>
        <p:spPr>
          <a:xfrm>
            <a:off x="6586000" y="965433"/>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44" name="Google Shape;44;g389f1ec6837_1_48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g389f1ec6837_1_488"/>
          <p:cNvSpPr txBox="1"/>
          <p:nvPr>
            <p:ph idx="1" type="body"/>
          </p:nvPr>
        </p:nvSpPr>
        <p:spPr>
          <a:xfrm>
            <a:off x="415600" y="5640767"/>
            <a:ext cx="7998300" cy="8067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47" name="Google Shape;47;g389f1ec6837_1_48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g389f1ec6837_1_491"/>
          <p:cNvSpPr txBox="1"/>
          <p:nvPr>
            <p:ph hasCustomPrompt="1" type="title"/>
          </p:nvPr>
        </p:nvSpPr>
        <p:spPr>
          <a:xfrm>
            <a:off x="415600" y="1474833"/>
            <a:ext cx="11360700" cy="26181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50" name="Google Shape;50;g389f1ec6837_1_491"/>
          <p:cNvSpPr txBox="1"/>
          <p:nvPr>
            <p:ph idx="1" type="body"/>
          </p:nvPr>
        </p:nvSpPr>
        <p:spPr>
          <a:xfrm>
            <a:off x="415600" y="4202967"/>
            <a:ext cx="11360700" cy="17343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51" name="Google Shape;51;g389f1ec6837_1_49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g389f1ec6837_1_49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blipFill>
          <a:blip r:embed="rId2">
            <a:alphaModFix/>
          </a:blip>
          <a:stretch>
            <a:fillRect/>
          </a:stretch>
        </a:blipFill>
      </p:bgPr>
    </p:bg>
    <p:spTree>
      <p:nvGrpSpPr>
        <p:cNvPr id="54" name="Shape 54"/>
        <p:cNvGrpSpPr/>
        <p:nvPr/>
      </p:nvGrpSpPr>
      <p:grpSpPr>
        <a:xfrm>
          <a:off x="0" y="0"/>
          <a:ext cx="0" cy="0"/>
          <a:chOff x="0" y="0"/>
          <a:chExt cx="0" cy="0"/>
        </a:xfrm>
      </p:grpSpPr>
      <p:sp>
        <p:nvSpPr>
          <p:cNvPr id="55" name="Google Shape;55;g389f1ec6837_1_497"/>
          <p:cNvSpPr txBox="1"/>
          <p:nvPr>
            <p:ph type="ctrTitle"/>
          </p:nvPr>
        </p:nvSpPr>
        <p:spPr>
          <a:xfrm>
            <a:off x="510396" y="2907101"/>
            <a:ext cx="11171100" cy="1569900"/>
          </a:xfrm>
          <a:prstGeom prst="rect">
            <a:avLst/>
          </a:prstGeom>
          <a:noFill/>
          <a:ln>
            <a:noFill/>
          </a:ln>
        </p:spPr>
        <p:txBody>
          <a:bodyPr anchorCtr="0" anchor="ctr" bIns="45700" lIns="0" spcFirstLastPara="1" rIns="0" wrap="square" tIns="45700">
            <a:normAutofit/>
          </a:bodyPr>
          <a:lstStyle>
            <a:lvl1pPr lvl="0" algn="ctr">
              <a:lnSpc>
                <a:spcPct val="90000"/>
              </a:lnSpc>
              <a:spcBef>
                <a:spcPts val="0"/>
              </a:spcBef>
              <a:spcAft>
                <a:spcPts val="0"/>
              </a:spcAft>
              <a:buClr>
                <a:srgbClr val="F8F8F8"/>
              </a:buClr>
              <a:buSzPts val="4400"/>
              <a:buFont typeface="Arial"/>
              <a:buNone/>
              <a:defRPr sz="4400">
                <a:solidFill>
                  <a:srgbClr val="F8F8F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g389f1ec6837_1_497"/>
          <p:cNvSpPr txBox="1"/>
          <p:nvPr>
            <p:ph idx="1" type="body"/>
          </p:nvPr>
        </p:nvSpPr>
        <p:spPr>
          <a:xfrm>
            <a:off x="871987" y="4792110"/>
            <a:ext cx="10448100" cy="714000"/>
          </a:xfrm>
          <a:prstGeom prst="rect">
            <a:avLst/>
          </a:prstGeom>
          <a:noFill/>
          <a:ln>
            <a:noFill/>
          </a:ln>
        </p:spPr>
        <p:txBody>
          <a:bodyPr anchorCtr="0" anchor="t" bIns="45700" lIns="91425" spcFirstLastPara="1" rIns="91425" wrap="square" tIns="45700">
            <a:normAutofit/>
          </a:bodyPr>
          <a:lstStyle>
            <a:lvl1pPr indent="-228600" lvl="0" marL="457200" algn="ctr">
              <a:lnSpc>
                <a:spcPct val="150000"/>
              </a:lnSpc>
              <a:spcBef>
                <a:spcPts val="1000"/>
              </a:spcBef>
              <a:spcAft>
                <a:spcPts val="0"/>
              </a:spcAft>
              <a:buClr>
                <a:schemeClr val="lt1"/>
              </a:buClr>
              <a:buSzPts val="1200"/>
              <a:buNone/>
              <a:defRPr b="0" sz="1200">
                <a:solidFill>
                  <a:schemeClr val="lt1"/>
                </a:solidFill>
                <a:latin typeface="Arial"/>
                <a:ea typeface="Arial"/>
                <a:cs typeface="Arial"/>
                <a:sym typeface="Arial"/>
              </a:defRPr>
            </a:lvl1pPr>
            <a:lvl2pPr indent="-228600" lvl="1" marL="914400" algn="ctr">
              <a:lnSpc>
                <a:spcPct val="90000"/>
              </a:lnSpc>
              <a:spcBef>
                <a:spcPts val="500"/>
              </a:spcBef>
              <a:spcAft>
                <a:spcPts val="0"/>
              </a:spcAft>
              <a:buClr>
                <a:schemeClr val="dk1"/>
              </a:buClr>
              <a:buSzPts val="1600"/>
              <a:buNone/>
              <a:defRPr/>
            </a:lvl2pPr>
            <a:lvl3pPr indent="-228600" lvl="2" marL="1371600" algn="ctr">
              <a:lnSpc>
                <a:spcPct val="90000"/>
              </a:lnSpc>
              <a:spcBef>
                <a:spcPts val="500"/>
              </a:spcBef>
              <a:spcAft>
                <a:spcPts val="0"/>
              </a:spcAft>
              <a:buClr>
                <a:schemeClr val="dk1"/>
              </a:buClr>
              <a:buSzPts val="1600"/>
              <a:buNone/>
              <a:defRPr/>
            </a:lvl3pPr>
            <a:lvl4pPr indent="-228600" lvl="3" marL="1828800" algn="ctr">
              <a:lnSpc>
                <a:spcPct val="90000"/>
              </a:lnSpc>
              <a:spcBef>
                <a:spcPts val="500"/>
              </a:spcBef>
              <a:spcAft>
                <a:spcPts val="0"/>
              </a:spcAft>
              <a:buClr>
                <a:schemeClr val="dk1"/>
              </a:buClr>
              <a:buSzPts val="1600"/>
              <a:buNone/>
              <a:defRPr/>
            </a:lvl4pPr>
            <a:lvl5pPr indent="-228600" lvl="4" marL="2286000" algn="ctr">
              <a:lnSpc>
                <a:spcPct val="90000"/>
              </a:lnSpc>
              <a:spcBef>
                <a:spcPts val="500"/>
              </a:spcBef>
              <a:spcAft>
                <a:spcPts val="0"/>
              </a:spcAft>
              <a:buClr>
                <a:schemeClr val="dk1"/>
              </a:buClr>
              <a:buSzPts val="16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7" name="Google Shape;57;g389f1ec6837_1_497"/>
          <p:cNvCxnSpPr/>
          <p:nvPr/>
        </p:nvCxnSpPr>
        <p:spPr>
          <a:xfrm>
            <a:off x="914400" y="6297039"/>
            <a:ext cx="10363200" cy="0"/>
          </a:xfrm>
          <a:prstGeom prst="straightConnector1">
            <a:avLst/>
          </a:prstGeom>
          <a:noFill/>
          <a:ln cap="flat" cmpd="sng" w="9525">
            <a:solidFill>
              <a:schemeClr val="lt1"/>
            </a:solidFill>
            <a:prstDash val="solid"/>
            <a:miter lim="800000"/>
            <a:headEnd len="sm" w="sm" type="none"/>
            <a:tailEnd len="sm" w="sm" type="none"/>
          </a:ln>
        </p:spPr>
      </p:cxnSp>
      <p:sp>
        <p:nvSpPr>
          <p:cNvPr id="58" name="Google Shape;58;g389f1ec6837_1_497"/>
          <p:cNvSpPr txBox="1"/>
          <p:nvPr>
            <p:ph idx="2" type="body"/>
          </p:nvPr>
        </p:nvSpPr>
        <p:spPr>
          <a:xfrm>
            <a:off x="7778423" y="6583680"/>
            <a:ext cx="3324900" cy="15030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lt1"/>
              </a:buClr>
              <a:buSzPts val="450"/>
              <a:buNone/>
              <a:defRPr sz="450">
                <a:solidFill>
                  <a:schemeClr val="lt1"/>
                </a:solidFill>
              </a:defRPr>
            </a:lvl1pPr>
            <a:lvl2pPr indent="-228600" lvl="1" marL="914400" algn="l">
              <a:lnSpc>
                <a:spcPct val="90000"/>
              </a:lnSpc>
              <a:spcBef>
                <a:spcPts val="500"/>
              </a:spcBef>
              <a:spcAft>
                <a:spcPts val="0"/>
              </a:spcAft>
              <a:buClr>
                <a:schemeClr val="dk1"/>
              </a:buClr>
              <a:buSzPts val="750"/>
              <a:buNone/>
              <a:defRPr sz="750"/>
            </a:lvl2pPr>
            <a:lvl3pPr indent="-228600" lvl="2" marL="1371600" algn="l">
              <a:lnSpc>
                <a:spcPct val="90000"/>
              </a:lnSpc>
              <a:spcBef>
                <a:spcPts val="500"/>
              </a:spcBef>
              <a:spcAft>
                <a:spcPts val="0"/>
              </a:spcAft>
              <a:buClr>
                <a:schemeClr val="dk1"/>
              </a:buClr>
              <a:buSzPts val="750"/>
              <a:buNone/>
              <a:defRPr sz="750"/>
            </a:lvl3pPr>
            <a:lvl4pPr indent="-228600" lvl="3" marL="1828800" algn="l">
              <a:lnSpc>
                <a:spcPct val="90000"/>
              </a:lnSpc>
              <a:spcBef>
                <a:spcPts val="500"/>
              </a:spcBef>
              <a:spcAft>
                <a:spcPts val="0"/>
              </a:spcAft>
              <a:buClr>
                <a:schemeClr val="dk1"/>
              </a:buClr>
              <a:buSzPts val="750"/>
              <a:buNone/>
              <a:defRPr sz="750"/>
            </a:lvl4pPr>
            <a:lvl5pPr indent="-228600" lvl="4" marL="2286000" algn="l">
              <a:lnSpc>
                <a:spcPct val="90000"/>
              </a:lnSpc>
              <a:spcBef>
                <a:spcPts val="500"/>
              </a:spcBef>
              <a:spcAft>
                <a:spcPts val="0"/>
              </a:spcAft>
              <a:buClr>
                <a:schemeClr val="dk1"/>
              </a:buClr>
              <a:buSzPts val="750"/>
              <a:buNone/>
              <a:defRPr sz="75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9" name="Shape 59"/>
        <p:cNvGrpSpPr/>
        <p:nvPr/>
      </p:nvGrpSpPr>
      <p:grpSpPr>
        <a:xfrm>
          <a:off x="0" y="0"/>
          <a:ext cx="0" cy="0"/>
          <a:chOff x="0" y="0"/>
          <a:chExt cx="0" cy="0"/>
        </a:xfrm>
      </p:grpSpPr>
      <p:cxnSp>
        <p:nvCxnSpPr>
          <p:cNvPr id="60" name="Google Shape;60;g389f1ec6837_1_505"/>
          <p:cNvCxnSpPr/>
          <p:nvPr/>
        </p:nvCxnSpPr>
        <p:spPr>
          <a:xfrm>
            <a:off x="914400" y="500338"/>
            <a:ext cx="10363200" cy="0"/>
          </a:xfrm>
          <a:prstGeom prst="straightConnector1">
            <a:avLst/>
          </a:prstGeom>
          <a:noFill/>
          <a:ln cap="flat" cmpd="sng" w="9525">
            <a:solidFill>
              <a:srgbClr val="595A59"/>
            </a:solidFill>
            <a:prstDash val="solid"/>
            <a:miter lim="800000"/>
            <a:headEnd len="sm" w="sm" type="none"/>
            <a:tailEnd len="sm" w="sm" type="none"/>
          </a:ln>
        </p:spPr>
      </p:cxnSp>
      <p:cxnSp>
        <p:nvCxnSpPr>
          <p:cNvPr id="61" name="Google Shape;61;g389f1ec6837_1_505"/>
          <p:cNvCxnSpPr/>
          <p:nvPr/>
        </p:nvCxnSpPr>
        <p:spPr>
          <a:xfrm>
            <a:off x="3519055" y="6536988"/>
            <a:ext cx="7819200" cy="0"/>
          </a:xfrm>
          <a:prstGeom prst="straightConnector1">
            <a:avLst/>
          </a:prstGeom>
          <a:noFill/>
          <a:ln cap="flat" cmpd="sng" w="9525">
            <a:solidFill>
              <a:srgbClr val="595A59"/>
            </a:solidFill>
            <a:prstDash val="solid"/>
            <a:miter lim="800000"/>
            <a:headEnd len="sm" w="sm" type="none"/>
            <a:tailEnd len="sm" w="sm" type="none"/>
          </a:ln>
        </p:spPr>
      </p:cxnSp>
      <p:sp>
        <p:nvSpPr>
          <p:cNvPr id="62" name="Google Shape;62;g389f1ec6837_1_505"/>
          <p:cNvSpPr txBox="1"/>
          <p:nvPr>
            <p:ph idx="1" type="body"/>
          </p:nvPr>
        </p:nvSpPr>
        <p:spPr>
          <a:xfrm>
            <a:off x="7860271" y="6621065"/>
            <a:ext cx="3324900" cy="15030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dk1"/>
              </a:buClr>
              <a:buSzPts val="450"/>
              <a:buNone/>
              <a:defRPr sz="450">
                <a:solidFill>
                  <a:schemeClr val="dk1"/>
                </a:solidFill>
              </a:defRPr>
            </a:lvl1pPr>
            <a:lvl2pPr indent="-228600" lvl="1" marL="914400" algn="l">
              <a:lnSpc>
                <a:spcPct val="90000"/>
              </a:lnSpc>
              <a:spcBef>
                <a:spcPts val="500"/>
              </a:spcBef>
              <a:spcAft>
                <a:spcPts val="0"/>
              </a:spcAft>
              <a:buClr>
                <a:schemeClr val="dk1"/>
              </a:buClr>
              <a:buSzPts val="750"/>
              <a:buNone/>
              <a:defRPr sz="750"/>
            </a:lvl2pPr>
            <a:lvl3pPr indent="-228600" lvl="2" marL="1371600" algn="l">
              <a:lnSpc>
                <a:spcPct val="90000"/>
              </a:lnSpc>
              <a:spcBef>
                <a:spcPts val="500"/>
              </a:spcBef>
              <a:spcAft>
                <a:spcPts val="0"/>
              </a:spcAft>
              <a:buClr>
                <a:schemeClr val="dk1"/>
              </a:buClr>
              <a:buSzPts val="750"/>
              <a:buNone/>
              <a:defRPr sz="750"/>
            </a:lvl3pPr>
            <a:lvl4pPr indent="-228600" lvl="3" marL="1828800" algn="l">
              <a:lnSpc>
                <a:spcPct val="90000"/>
              </a:lnSpc>
              <a:spcBef>
                <a:spcPts val="500"/>
              </a:spcBef>
              <a:spcAft>
                <a:spcPts val="0"/>
              </a:spcAft>
              <a:buClr>
                <a:schemeClr val="dk1"/>
              </a:buClr>
              <a:buSzPts val="750"/>
              <a:buNone/>
              <a:defRPr sz="750"/>
            </a:lvl4pPr>
            <a:lvl5pPr indent="-228600" lvl="4" marL="2286000" algn="l">
              <a:lnSpc>
                <a:spcPct val="90000"/>
              </a:lnSpc>
              <a:spcBef>
                <a:spcPts val="500"/>
              </a:spcBef>
              <a:spcAft>
                <a:spcPts val="0"/>
              </a:spcAft>
              <a:buClr>
                <a:schemeClr val="dk1"/>
              </a:buClr>
              <a:buSzPts val="750"/>
              <a:buNone/>
              <a:defRPr sz="75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g389f1ec6837_1_505"/>
          <p:cNvSpPr txBox="1"/>
          <p:nvPr/>
        </p:nvSpPr>
        <p:spPr>
          <a:xfrm>
            <a:off x="11086011" y="6603491"/>
            <a:ext cx="349500" cy="184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sp>
        <p:nvSpPr>
          <p:cNvPr id="64" name="Google Shape;64;g389f1ec6837_1_505"/>
          <p:cNvSpPr txBox="1"/>
          <p:nvPr>
            <p:ph type="title"/>
          </p:nvPr>
        </p:nvSpPr>
        <p:spPr>
          <a:xfrm>
            <a:off x="838200" y="460564"/>
            <a:ext cx="10515600" cy="605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4B8D"/>
              </a:buClr>
              <a:buSzPts val="3000"/>
              <a:buFont typeface="Arial"/>
              <a:buNone/>
              <a:defRPr sz="3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bg>
      <p:bgPr>
        <a:solidFill>
          <a:schemeClr val="lt1"/>
        </a:solidFill>
      </p:bgPr>
    </p:bg>
    <p:spTree>
      <p:nvGrpSpPr>
        <p:cNvPr id="65" name="Shape 65"/>
        <p:cNvGrpSpPr/>
        <p:nvPr/>
      </p:nvGrpSpPr>
      <p:grpSpPr>
        <a:xfrm>
          <a:off x="0" y="0"/>
          <a:ext cx="0" cy="0"/>
          <a:chOff x="0" y="0"/>
          <a:chExt cx="0" cy="0"/>
        </a:xfrm>
      </p:grpSpPr>
      <p:sp>
        <p:nvSpPr>
          <p:cNvPr id="66" name="Google Shape;66;g389f1ec6837_1_515"/>
          <p:cNvSpPr txBox="1"/>
          <p:nvPr>
            <p:ph type="title"/>
          </p:nvPr>
        </p:nvSpPr>
        <p:spPr>
          <a:xfrm>
            <a:off x="838200" y="468491"/>
            <a:ext cx="10515600" cy="6375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4B8D"/>
              </a:buClr>
              <a:buSzPts val="3000"/>
              <a:buFont typeface="Arial"/>
              <a:buNone/>
              <a:defRPr sz="3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g389f1ec6837_1_515"/>
          <p:cNvSpPr txBox="1"/>
          <p:nvPr>
            <p:ph idx="1" type="body"/>
          </p:nvPr>
        </p:nvSpPr>
        <p:spPr>
          <a:xfrm>
            <a:off x="838200" y="1335416"/>
            <a:ext cx="10515600" cy="5022300"/>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1"/>
              </a:buClr>
              <a:buSzPts val="2000"/>
              <a:buChar char="•"/>
              <a:defRPr sz="2000"/>
            </a:lvl1pPr>
            <a:lvl2pPr indent="-330200" lvl="1" marL="914400" algn="l">
              <a:lnSpc>
                <a:spcPct val="100000"/>
              </a:lnSpc>
              <a:spcBef>
                <a:spcPts val="500"/>
              </a:spcBef>
              <a:spcAft>
                <a:spcPts val="0"/>
              </a:spcAft>
              <a:buClr>
                <a:schemeClr val="dk1"/>
              </a:buClr>
              <a:buSzPts val="1600"/>
              <a:buChar char="•"/>
              <a:defRPr sz="1600"/>
            </a:lvl2pPr>
            <a:lvl3pPr indent="-330200" lvl="2" marL="1371600" algn="l">
              <a:lnSpc>
                <a:spcPct val="100000"/>
              </a:lnSpc>
              <a:spcBef>
                <a:spcPts val="500"/>
              </a:spcBef>
              <a:spcAft>
                <a:spcPts val="0"/>
              </a:spcAft>
              <a:buClr>
                <a:schemeClr val="dk1"/>
              </a:buClr>
              <a:buSzPts val="1600"/>
              <a:buChar char="•"/>
              <a:defRPr sz="1600"/>
            </a:lvl3pPr>
            <a:lvl4pPr indent="-330200" lvl="3" marL="1828800" algn="l">
              <a:lnSpc>
                <a:spcPct val="100000"/>
              </a:lnSpc>
              <a:spcBef>
                <a:spcPts val="5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68" name="Google Shape;68;g389f1ec6837_1_515"/>
          <p:cNvCxnSpPr/>
          <p:nvPr/>
        </p:nvCxnSpPr>
        <p:spPr>
          <a:xfrm>
            <a:off x="914400" y="500338"/>
            <a:ext cx="10363200" cy="0"/>
          </a:xfrm>
          <a:prstGeom prst="straightConnector1">
            <a:avLst/>
          </a:prstGeom>
          <a:noFill/>
          <a:ln cap="flat" cmpd="sng" w="9525">
            <a:solidFill>
              <a:srgbClr val="595A59"/>
            </a:solidFill>
            <a:prstDash val="solid"/>
            <a:miter lim="800000"/>
            <a:headEnd len="sm" w="sm" type="none"/>
            <a:tailEnd len="sm" w="sm" type="none"/>
          </a:ln>
        </p:spPr>
      </p:cxnSp>
      <p:cxnSp>
        <p:nvCxnSpPr>
          <p:cNvPr id="69" name="Google Shape;69;g389f1ec6837_1_515"/>
          <p:cNvCxnSpPr/>
          <p:nvPr/>
        </p:nvCxnSpPr>
        <p:spPr>
          <a:xfrm>
            <a:off x="3519055" y="6536988"/>
            <a:ext cx="7819200" cy="0"/>
          </a:xfrm>
          <a:prstGeom prst="straightConnector1">
            <a:avLst/>
          </a:prstGeom>
          <a:noFill/>
          <a:ln cap="flat" cmpd="sng" w="9525">
            <a:solidFill>
              <a:srgbClr val="595A59"/>
            </a:solidFill>
            <a:prstDash val="solid"/>
            <a:miter lim="800000"/>
            <a:headEnd len="sm" w="sm" type="none"/>
            <a:tailEnd len="sm" w="sm" type="none"/>
          </a:ln>
        </p:spPr>
      </p:cxnSp>
      <p:sp>
        <p:nvSpPr>
          <p:cNvPr id="70" name="Google Shape;70;g389f1ec6837_1_515"/>
          <p:cNvSpPr txBox="1"/>
          <p:nvPr>
            <p:ph idx="2" type="body"/>
          </p:nvPr>
        </p:nvSpPr>
        <p:spPr>
          <a:xfrm>
            <a:off x="7860271" y="6621065"/>
            <a:ext cx="3324900" cy="15030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dk1"/>
              </a:buClr>
              <a:buSzPts val="450"/>
              <a:buNone/>
              <a:defRPr sz="450">
                <a:solidFill>
                  <a:schemeClr val="dk1"/>
                </a:solidFill>
              </a:defRPr>
            </a:lvl1pPr>
            <a:lvl2pPr indent="-228600" lvl="1" marL="914400" algn="l">
              <a:lnSpc>
                <a:spcPct val="90000"/>
              </a:lnSpc>
              <a:spcBef>
                <a:spcPts val="500"/>
              </a:spcBef>
              <a:spcAft>
                <a:spcPts val="0"/>
              </a:spcAft>
              <a:buClr>
                <a:schemeClr val="dk1"/>
              </a:buClr>
              <a:buSzPts val="750"/>
              <a:buNone/>
              <a:defRPr sz="750"/>
            </a:lvl2pPr>
            <a:lvl3pPr indent="-228600" lvl="2" marL="1371600" algn="l">
              <a:lnSpc>
                <a:spcPct val="90000"/>
              </a:lnSpc>
              <a:spcBef>
                <a:spcPts val="500"/>
              </a:spcBef>
              <a:spcAft>
                <a:spcPts val="0"/>
              </a:spcAft>
              <a:buClr>
                <a:schemeClr val="dk1"/>
              </a:buClr>
              <a:buSzPts val="750"/>
              <a:buNone/>
              <a:defRPr sz="750"/>
            </a:lvl3pPr>
            <a:lvl4pPr indent="-228600" lvl="3" marL="1828800" algn="l">
              <a:lnSpc>
                <a:spcPct val="90000"/>
              </a:lnSpc>
              <a:spcBef>
                <a:spcPts val="500"/>
              </a:spcBef>
              <a:spcAft>
                <a:spcPts val="0"/>
              </a:spcAft>
              <a:buClr>
                <a:schemeClr val="dk1"/>
              </a:buClr>
              <a:buSzPts val="750"/>
              <a:buNone/>
              <a:defRPr sz="750"/>
            </a:lvl4pPr>
            <a:lvl5pPr indent="-228600" lvl="4" marL="2286000" algn="l">
              <a:lnSpc>
                <a:spcPct val="90000"/>
              </a:lnSpc>
              <a:spcBef>
                <a:spcPts val="500"/>
              </a:spcBef>
              <a:spcAft>
                <a:spcPts val="0"/>
              </a:spcAft>
              <a:buClr>
                <a:schemeClr val="dk1"/>
              </a:buClr>
              <a:buSzPts val="750"/>
              <a:buNone/>
              <a:defRPr sz="75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g389f1ec6837_1_515"/>
          <p:cNvSpPr txBox="1"/>
          <p:nvPr/>
        </p:nvSpPr>
        <p:spPr>
          <a:xfrm>
            <a:off x="11086011" y="6603491"/>
            <a:ext cx="349500" cy="184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dk1"/>
                </a:solidFill>
                <a:latin typeface="Arial"/>
                <a:ea typeface="Arial"/>
                <a:cs typeface="Arial"/>
                <a:sym typeface="Arial"/>
              </a:rPr>
              <a:t>‹#›</a:t>
            </a:fld>
            <a:endParaRPr b="0" i="0" sz="6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bg>
      <p:bgPr>
        <a:blipFill>
          <a:blip r:embed="rId2">
            <a:alphaModFix/>
          </a:blip>
          <a:stretch>
            <a:fillRect/>
          </a:stretch>
        </a:blipFill>
      </p:bgPr>
    </p:bg>
    <p:spTree>
      <p:nvGrpSpPr>
        <p:cNvPr id="72" name="Shape 72"/>
        <p:cNvGrpSpPr/>
        <p:nvPr/>
      </p:nvGrpSpPr>
      <p:grpSpPr>
        <a:xfrm>
          <a:off x="0" y="0"/>
          <a:ext cx="0" cy="0"/>
          <a:chOff x="0" y="0"/>
          <a:chExt cx="0" cy="0"/>
        </a:xfrm>
      </p:grpSpPr>
      <p:sp>
        <p:nvSpPr>
          <p:cNvPr id="73" name="Google Shape;73;g389f1ec6837_1_526"/>
          <p:cNvSpPr txBox="1"/>
          <p:nvPr>
            <p:ph type="title"/>
          </p:nvPr>
        </p:nvSpPr>
        <p:spPr>
          <a:xfrm>
            <a:off x="2342573" y="1903867"/>
            <a:ext cx="7494300" cy="28527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4400"/>
              <a:buFont typeface="Arial"/>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74" name="Google Shape;74;g389f1ec6837_1_526"/>
          <p:cNvCxnSpPr/>
          <p:nvPr/>
        </p:nvCxnSpPr>
        <p:spPr>
          <a:xfrm>
            <a:off x="3519055" y="6536988"/>
            <a:ext cx="7819200" cy="0"/>
          </a:xfrm>
          <a:prstGeom prst="straightConnector1">
            <a:avLst/>
          </a:prstGeom>
          <a:noFill/>
          <a:ln cap="flat" cmpd="sng" w="9525">
            <a:solidFill>
              <a:srgbClr val="CBCCCB"/>
            </a:solidFill>
            <a:prstDash val="solid"/>
            <a:miter lim="800000"/>
            <a:headEnd len="sm" w="sm" type="none"/>
            <a:tailEnd len="sm" w="sm" type="none"/>
          </a:ln>
        </p:spPr>
      </p:cxnSp>
      <p:cxnSp>
        <p:nvCxnSpPr>
          <p:cNvPr id="75" name="Google Shape;75;g389f1ec6837_1_526"/>
          <p:cNvCxnSpPr/>
          <p:nvPr/>
        </p:nvCxnSpPr>
        <p:spPr>
          <a:xfrm>
            <a:off x="914400" y="500368"/>
            <a:ext cx="10363200" cy="0"/>
          </a:xfrm>
          <a:prstGeom prst="straightConnector1">
            <a:avLst/>
          </a:prstGeom>
          <a:noFill/>
          <a:ln cap="flat" cmpd="sng" w="9525">
            <a:solidFill>
              <a:srgbClr val="CBCCCB"/>
            </a:solidFill>
            <a:prstDash val="solid"/>
            <a:miter lim="800000"/>
            <a:headEnd len="sm" w="sm" type="none"/>
            <a:tailEnd len="sm" w="sm" type="none"/>
          </a:ln>
        </p:spPr>
      </p:cxnSp>
      <p:sp>
        <p:nvSpPr>
          <p:cNvPr id="76" name="Google Shape;76;g389f1ec6837_1_526"/>
          <p:cNvSpPr txBox="1"/>
          <p:nvPr>
            <p:ph idx="1" type="body"/>
          </p:nvPr>
        </p:nvSpPr>
        <p:spPr>
          <a:xfrm>
            <a:off x="7860271" y="6621065"/>
            <a:ext cx="3324900" cy="15030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lt1"/>
              </a:buClr>
              <a:buSzPts val="450"/>
              <a:buNone/>
              <a:defRPr sz="450">
                <a:solidFill>
                  <a:schemeClr val="lt1"/>
                </a:solidFill>
              </a:defRPr>
            </a:lvl1pPr>
            <a:lvl2pPr indent="-228600" lvl="1" marL="914400" algn="l">
              <a:lnSpc>
                <a:spcPct val="90000"/>
              </a:lnSpc>
              <a:spcBef>
                <a:spcPts val="500"/>
              </a:spcBef>
              <a:spcAft>
                <a:spcPts val="0"/>
              </a:spcAft>
              <a:buClr>
                <a:schemeClr val="dk1"/>
              </a:buClr>
              <a:buSzPts val="750"/>
              <a:buNone/>
              <a:defRPr sz="750"/>
            </a:lvl2pPr>
            <a:lvl3pPr indent="-228600" lvl="2" marL="1371600" algn="l">
              <a:lnSpc>
                <a:spcPct val="90000"/>
              </a:lnSpc>
              <a:spcBef>
                <a:spcPts val="500"/>
              </a:spcBef>
              <a:spcAft>
                <a:spcPts val="0"/>
              </a:spcAft>
              <a:buClr>
                <a:schemeClr val="dk1"/>
              </a:buClr>
              <a:buSzPts val="750"/>
              <a:buNone/>
              <a:defRPr sz="750"/>
            </a:lvl3pPr>
            <a:lvl4pPr indent="-228600" lvl="3" marL="1828800" algn="l">
              <a:lnSpc>
                <a:spcPct val="90000"/>
              </a:lnSpc>
              <a:spcBef>
                <a:spcPts val="500"/>
              </a:spcBef>
              <a:spcAft>
                <a:spcPts val="0"/>
              </a:spcAft>
              <a:buClr>
                <a:schemeClr val="dk1"/>
              </a:buClr>
              <a:buSzPts val="750"/>
              <a:buNone/>
              <a:defRPr sz="750"/>
            </a:lvl4pPr>
            <a:lvl5pPr indent="-228600" lvl="4" marL="2286000" algn="l">
              <a:lnSpc>
                <a:spcPct val="90000"/>
              </a:lnSpc>
              <a:spcBef>
                <a:spcPts val="500"/>
              </a:spcBef>
              <a:spcAft>
                <a:spcPts val="0"/>
              </a:spcAft>
              <a:buClr>
                <a:schemeClr val="dk1"/>
              </a:buClr>
              <a:buSzPts val="750"/>
              <a:buNone/>
              <a:defRPr sz="75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g389f1ec6837_1_526"/>
          <p:cNvSpPr txBox="1"/>
          <p:nvPr/>
        </p:nvSpPr>
        <p:spPr>
          <a:xfrm>
            <a:off x="11086011" y="6603491"/>
            <a:ext cx="349500" cy="184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chemeClr val="lt1"/>
                </a:solidFill>
                <a:latin typeface="Arial"/>
                <a:ea typeface="Arial"/>
                <a:cs typeface="Arial"/>
                <a:sym typeface="Arial"/>
              </a:rPr>
              <a:t>‹#›</a:t>
            </a:fld>
            <a:endParaRPr b="0" i="0" sz="600" u="none" cap="none" strike="noStrike">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g389f1ec6837_1_452"/>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11" name="Google Shape;11;g389f1ec6837_1_452"/>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12" name="Google Shape;12;g389f1ec6837_1_45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hyperlink" Target="http://evaluator.py"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hyperlink" Target="http://evalutor.py" TargetMode="Externa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
          <p:cNvSpPr txBox="1"/>
          <p:nvPr>
            <p:ph type="ctrTitle"/>
          </p:nvPr>
        </p:nvSpPr>
        <p:spPr>
          <a:xfrm>
            <a:off x="510396" y="2907101"/>
            <a:ext cx="11171208" cy="1570003"/>
          </a:xfrm>
          <a:prstGeom prst="rect">
            <a:avLst/>
          </a:prstGeom>
          <a:noFill/>
          <a:ln>
            <a:noFill/>
          </a:ln>
        </p:spPr>
        <p:txBody>
          <a:bodyPr anchorCtr="0" anchor="ctr" bIns="45700" lIns="0" spcFirstLastPara="1" rIns="0" wrap="square" tIns="45700">
            <a:normAutofit/>
          </a:bodyPr>
          <a:lstStyle/>
          <a:p>
            <a:pPr indent="0" lvl="0" marL="0" rtl="0" algn="ctr">
              <a:lnSpc>
                <a:spcPct val="90000"/>
              </a:lnSpc>
              <a:spcBef>
                <a:spcPts val="0"/>
              </a:spcBef>
              <a:spcAft>
                <a:spcPts val="0"/>
              </a:spcAft>
              <a:buClr>
                <a:srgbClr val="F8F8F8"/>
              </a:buClr>
              <a:buSzPts val="4400"/>
              <a:buFont typeface="Arial"/>
              <a:buNone/>
            </a:pPr>
            <a:r>
              <a:rPr lang="en-US"/>
              <a:t>OpenEvolve for Uncorrelated Track Processing</a:t>
            </a:r>
            <a:endParaRPr/>
          </a:p>
        </p:txBody>
      </p:sp>
      <p:sp>
        <p:nvSpPr>
          <p:cNvPr id="83" name="Google Shape;83;p1"/>
          <p:cNvSpPr txBox="1"/>
          <p:nvPr>
            <p:ph idx="1" type="body"/>
          </p:nvPr>
        </p:nvSpPr>
        <p:spPr>
          <a:xfrm>
            <a:off x="871987" y="4792110"/>
            <a:ext cx="10448026" cy="714058"/>
          </a:xfrm>
          <a:prstGeom prst="rect">
            <a:avLst/>
          </a:prstGeom>
          <a:noFill/>
          <a:ln>
            <a:noFill/>
          </a:ln>
        </p:spPr>
        <p:txBody>
          <a:bodyPr anchorCtr="0" anchor="t" bIns="45700" lIns="91425" spcFirstLastPara="1" rIns="91425" wrap="square" tIns="45700">
            <a:noAutofit/>
          </a:bodyPr>
          <a:lstStyle/>
          <a:p>
            <a:pPr indent="0" lvl="0" marL="0" rtl="0" algn="ctr">
              <a:lnSpc>
                <a:spcPct val="150000"/>
              </a:lnSpc>
              <a:spcBef>
                <a:spcPts val="0"/>
              </a:spcBef>
              <a:spcAft>
                <a:spcPts val="0"/>
              </a:spcAft>
              <a:buClr>
                <a:schemeClr val="lt1"/>
              </a:buClr>
              <a:buSzPts val="1200"/>
              <a:buNone/>
            </a:pPr>
            <a:r>
              <a:rPr lang="en-US"/>
              <a:t>Background Information for </a:t>
            </a:r>
            <a:r>
              <a:rPr lang="en-US"/>
              <a:t>UCF Senior Design Project</a:t>
            </a:r>
            <a:endParaRPr/>
          </a:p>
          <a:p>
            <a:pPr indent="0" lvl="0" marL="0" rtl="0" algn="ctr">
              <a:lnSpc>
                <a:spcPct val="150000"/>
              </a:lnSpc>
              <a:spcBef>
                <a:spcPts val="0"/>
              </a:spcBef>
              <a:spcAft>
                <a:spcPts val="0"/>
              </a:spcAft>
              <a:buClr>
                <a:schemeClr val="lt1"/>
              </a:buClr>
              <a:buSzPts val="1200"/>
              <a:buNone/>
            </a:pPr>
            <a:r>
              <a:rPr lang="en-US"/>
              <a:t>SDA TAP Lab</a:t>
            </a:r>
            <a:endParaRPr/>
          </a:p>
          <a:p>
            <a:pPr indent="0" lvl="0" marL="0" rtl="0" algn="ctr">
              <a:lnSpc>
                <a:spcPct val="150000"/>
              </a:lnSpc>
              <a:spcBef>
                <a:spcPts val="1000"/>
              </a:spcBef>
              <a:spcAft>
                <a:spcPts val="0"/>
              </a:spcAft>
              <a:buClr>
                <a:schemeClr val="lt1"/>
              </a:buClr>
              <a:buSzPts val="1200"/>
              <a:buNone/>
            </a:pPr>
            <a:r>
              <a:t/>
            </a:r>
            <a:endParaRPr/>
          </a:p>
        </p:txBody>
      </p:sp>
      <p:sp>
        <p:nvSpPr>
          <p:cNvPr id="84" name="Google Shape;84;p1"/>
          <p:cNvSpPr txBox="1"/>
          <p:nvPr>
            <p:ph idx="2" type="body"/>
          </p:nvPr>
        </p:nvSpPr>
        <p:spPr>
          <a:xfrm>
            <a:off x="7778423" y="6583680"/>
            <a:ext cx="3324900" cy="150300"/>
          </a:xfrm>
          <a:prstGeom prst="rect">
            <a:avLst/>
          </a:prstGeom>
        </p:spPr>
        <p:txBody>
          <a:bodyPr anchorCtr="0" anchor="t" bIns="45700" lIns="91425" spcFirstLastPara="1" rIns="91425" wrap="square" tIns="45700">
            <a:noAutofit/>
          </a:bodyPr>
          <a:lstStyle/>
          <a:p>
            <a:pPr indent="0" lvl="0" marL="0" rtl="0" algn="r">
              <a:spcBef>
                <a:spcPts val="1000"/>
              </a:spcBef>
              <a:spcAft>
                <a:spcPts val="0"/>
              </a:spcAft>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460564"/>
            <a:ext cx="10515600" cy="605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4B8D"/>
              </a:buClr>
              <a:buSzPct val="100000"/>
              <a:buFont typeface="Arial"/>
              <a:buNone/>
            </a:pPr>
            <a:r>
              <a:rPr lang="en-US"/>
              <a:t>Uncorrelated Tracks (UCT) – What they are and why they matter</a:t>
            </a:r>
            <a:endParaRPr/>
          </a:p>
        </p:txBody>
      </p:sp>
      <p:pic>
        <p:nvPicPr>
          <p:cNvPr id="91" name="Google Shape;91;p2"/>
          <p:cNvPicPr preferRelativeResize="0"/>
          <p:nvPr/>
        </p:nvPicPr>
        <p:blipFill rotWithShape="1">
          <a:blip r:embed="rId3">
            <a:alphaModFix/>
          </a:blip>
          <a:srcRect b="0" l="0" r="0" t="0"/>
          <a:stretch/>
        </p:blipFill>
        <p:spPr>
          <a:xfrm>
            <a:off x="304800" y="1218457"/>
            <a:ext cx="9042690" cy="4880591"/>
          </a:xfrm>
          <a:prstGeom prst="rect">
            <a:avLst/>
          </a:prstGeom>
          <a:noFill/>
          <a:ln>
            <a:noFill/>
          </a:ln>
        </p:spPr>
      </p:pic>
      <p:sp>
        <p:nvSpPr>
          <p:cNvPr id="92" name="Google Shape;92;p2"/>
          <p:cNvSpPr txBox="1"/>
          <p:nvPr/>
        </p:nvSpPr>
        <p:spPr>
          <a:xfrm>
            <a:off x="0" y="6080760"/>
            <a:ext cx="9034272"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Calibri"/>
                <a:ea typeface="Calibri"/>
                <a:cs typeface="Calibri"/>
                <a:sym typeface="Calibri"/>
              </a:rPr>
              <a:t>Retrieved from: https://cdn.mos.cms.futurecdn.net/rU2TmB5aH6Uafd6sigNMeX-1200-80.jpg (July 2025)</a:t>
            </a:r>
            <a:endParaRPr b="0" i="0" sz="1400" u="none" cap="none" strike="noStrike">
              <a:solidFill>
                <a:srgbClr val="000000"/>
              </a:solidFill>
              <a:latin typeface="Arial"/>
              <a:ea typeface="Arial"/>
              <a:cs typeface="Arial"/>
              <a:sym typeface="Arial"/>
            </a:endParaRPr>
          </a:p>
        </p:txBody>
      </p:sp>
      <p:sp>
        <p:nvSpPr>
          <p:cNvPr id="93" name="Google Shape;93;p2"/>
          <p:cNvSpPr txBox="1"/>
          <p:nvPr/>
        </p:nvSpPr>
        <p:spPr>
          <a:xfrm>
            <a:off x="9827555" y="1645920"/>
            <a:ext cx="1635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Do we know what this is?</a:t>
            </a:r>
            <a:endParaRPr b="0" i="0" sz="1400" u="none" cap="none" strike="noStrike">
              <a:solidFill>
                <a:srgbClr val="000000"/>
              </a:solidFill>
              <a:latin typeface="Arial"/>
              <a:ea typeface="Arial"/>
              <a:cs typeface="Arial"/>
              <a:sym typeface="Arial"/>
            </a:endParaRPr>
          </a:p>
        </p:txBody>
      </p:sp>
      <p:cxnSp>
        <p:nvCxnSpPr>
          <p:cNvPr id="94" name="Google Shape;94;p2"/>
          <p:cNvCxnSpPr>
            <a:stCxn id="93" idx="1"/>
          </p:cNvCxnSpPr>
          <p:nvPr/>
        </p:nvCxnSpPr>
        <p:spPr>
          <a:xfrm flipH="1">
            <a:off x="8635955" y="1969170"/>
            <a:ext cx="1191600" cy="2100"/>
          </a:xfrm>
          <a:prstGeom prst="straightConnector1">
            <a:avLst/>
          </a:prstGeom>
          <a:noFill/>
          <a:ln cap="flat" cmpd="sng" w="38100">
            <a:solidFill>
              <a:schemeClr val="accent4"/>
            </a:solidFill>
            <a:prstDash val="solid"/>
            <a:miter lim="800000"/>
            <a:headEnd len="sm" w="sm" type="none"/>
            <a:tailEnd len="med" w="med" type="triangle"/>
          </a:ln>
        </p:spPr>
      </p:cxnSp>
      <p:sp>
        <p:nvSpPr>
          <p:cNvPr id="95" name="Google Shape;95;p2"/>
          <p:cNvSpPr txBox="1"/>
          <p:nvPr>
            <p:ph idx="1" type="body"/>
          </p:nvPr>
        </p:nvSpPr>
        <p:spPr>
          <a:xfrm>
            <a:off x="7860271" y="6621065"/>
            <a:ext cx="3324900" cy="150300"/>
          </a:xfrm>
          <a:prstGeom prst="rect">
            <a:avLst/>
          </a:prstGeom>
        </p:spPr>
        <p:txBody>
          <a:bodyPr anchorCtr="0" anchor="t" bIns="45700" lIns="91425" spcFirstLastPara="1" rIns="91425" wrap="square" tIns="45700">
            <a:noAutofit/>
          </a:bodyPr>
          <a:lstStyle/>
          <a:p>
            <a:pPr indent="0" lvl="0" marL="0" rtl="0" algn="r">
              <a:spcBef>
                <a:spcPts val="10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838200" y="460564"/>
            <a:ext cx="10515600" cy="605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4B8D"/>
              </a:buClr>
              <a:buSzPts val="3000"/>
              <a:buFont typeface="Arial"/>
              <a:buNone/>
            </a:pPr>
            <a:r>
              <a:rPr lang="en-US"/>
              <a:t>Uncorrelated Track Processing (UCTP)</a:t>
            </a:r>
            <a:endParaRPr/>
          </a:p>
        </p:txBody>
      </p:sp>
      <p:sp>
        <p:nvSpPr>
          <p:cNvPr id="101" name="Google Shape;101;p3"/>
          <p:cNvSpPr txBox="1"/>
          <p:nvPr/>
        </p:nvSpPr>
        <p:spPr>
          <a:xfrm>
            <a:off x="9337040" y="1439050"/>
            <a:ext cx="2590800" cy="230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Inputs: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List of UCTs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Outputs: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Orbital Estimate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List of observations         corresponding to that orbit</a:t>
            </a:r>
            <a:endParaRPr b="0" i="0" sz="1400" u="none" cap="none" strike="noStrike">
              <a:solidFill>
                <a:srgbClr val="000000"/>
              </a:solidFill>
              <a:latin typeface="Arial"/>
              <a:ea typeface="Arial"/>
              <a:cs typeface="Arial"/>
              <a:sym typeface="Arial"/>
            </a:endParaRPr>
          </a:p>
        </p:txBody>
      </p:sp>
      <p:pic>
        <p:nvPicPr>
          <p:cNvPr id="102" name="Google Shape;102;p3"/>
          <p:cNvPicPr preferRelativeResize="0"/>
          <p:nvPr/>
        </p:nvPicPr>
        <p:blipFill rotWithShape="1">
          <a:blip r:embed="rId3">
            <a:alphaModFix/>
          </a:blip>
          <a:srcRect b="0" l="0" r="0" t="0"/>
          <a:stretch/>
        </p:blipFill>
        <p:spPr>
          <a:xfrm>
            <a:off x="152400" y="1426017"/>
            <a:ext cx="9176918" cy="4642714"/>
          </a:xfrm>
          <a:prstGeom prst="rect">
            <a:avLst/>
          </a:prstGeom>
          <a:noFill/>
          <a:ln>
            <a:noFill/>
          </a:ln>
        </p:spPr>
      </p:pic>
      <p:sp>
        <p:nvSpPr>
          <p:cNvPr id="103" name="Google Shape;103;p3"/>
          <p:cNvSpPr txBox="1"/>
          <p:nvPr>
            <p:ph idx="1" type="body"/>
          </p:nvPr>
        </p:nvSpPr>
        <p:spPr>
          <a:xfrm>
            <a:off x="7860271" y="6621065"/>
            <a:ext cx="3324900" cy="150300"/>
          </a:xfrm>
          <a:prstGeom prst="rect">
            <a:avLst/>
          </a:prstGeom>
        </p:spPr>
        <p:txBody>
          <a:bodyPr anchorCtr="0" anchor="t" bIns="45700" lIns="91425" spcFirstLastPara="1" rIns="91425" wrap="square" tIns="45700">
            <a:noAutofit/>
          </a:bodyPr>
          <a:lstStyle/>
          <a:p>
            <a:pPr indent="0" lvl="0" marL="0" rtl="0" algn="r">
              <a:spcBef>
                <a:spcPts val="10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g3710947e9cf_0_0"/>
          <p:cNvSpPr txBox="1"/>
          <p:nvPr>
            <p:ph type="title"/>
          </p:nvPr>
        </p:nvSpPr>
        <p:spPr>
          <a:xfrm>
            <a:off x="838200" y="460564"/>
            <a:ext cx="10515600" cy="605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11111"/>
              <a:buNone/>
            </a:pPr>
            <a:r>
              <a:rPr lang="en-US"/>
              <a:t>Benchmarking and Evaluation - The Common Task Framework</a:t>
            </a:r>
            <a:endParaRPr/>
          </a:p>
        </p:txBody>
      </p:sp>
      <p:sp>
        <p:nvSpPr>
          <p:cNvPr id="110" name="Google Shape;110;g3710947e9cf_0_0"/>
          <p:cNvSpPr txBox="1"/>
          <p:nvPr/>
        </p:nvSpPr>
        <p:spPr>
          <a:xfrm>
            <a:off x="734900" y="886800"/>
            <a:ext cx="10618800" cy="548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chemeClr val="dk1"/>
                </a:solidFill>
                <a:latin typeface="Arial"/>
                <a:ea typeface="Arial"/>
                <a:cs typeface="Arial"/>
                <a:sym typeface="Arial"/>
              </a:rPr>
              <a:t>A common task framework has three components</a:t>
            </a:r>
            <a:endParaRPr b="0" i="0" sz="1700" u="none" cap="none" strike="noStrike">
              <a:solidFill>
                <a:schemeClr val="dk1"/>
              </a:solidFill>
              <a:latin typeface="Arial"/>
              <a:ea typeface="Arial"/>
              <a:cs typeface="Arial"/>
              <a:sym typeface="Arial"/>
            </a:endParaRPr>
          </a:p>
          <a:p>
            <a:pPr indent="-336550" lvl="0" marL="457200" marR="0" rtl="0" algn="l">
              <a:lnSpc>
                <a:spcPct val="10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“A publicly available training dataset involving, for each observation, a list of (possibly many) feature measurements, and a class label for that observation</a:t>
            </a:r>
            <a:endParaRPr b="0" i="0" sz="17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336550" lvl="0" marL="457200" marR="0" rtl="0" algn="l">
              <a:lnSpc>
                <a:spcPct val="10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A set of enrolled competitors whose common task is to infer a class prediction rule from the training data</a:t>
            </a:r>
            <a:endParaRPr b="0" i="0" sz="17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336550" lvl="0" marL="457200" marR="0" rtl="0" algn="l">
              <a:lnSpc>
                <a:spcPct val="10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A scoring referee, to which competitors can submit their prediction rule. The referee runs the prediction rule against a testing dataset which is sequestered behind a Chinese wall. The referee objectively and automatically reports the score (prediction accuracy) achieved by the submitted rule.”</a:t>
            </a:r>
            <a:endParaRPr b="0" i="0" sz="17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rPr b="0" i="0" lang="en-US" sz="1700" u="none" cap="none" strike="noStrike">
                <a:solidFill>
                  <a:schemeClr val="dk1"/>
                </a:solidFill>
                <a:latin typeface="Arial"/>
                <a:ea typeface="Arial"/>
                <a:cs typeface="Arial"/>
                <a:sym typeface="Arial"/>
              </a:rPr>
              <a:t>	- David Donoho. </a:t>
            </a:r>
            <a:r>
              <a:rPr b="0" i="1" lang="en-US" sz="1700" u="none" cap="none" strike="noStrike">
                <a:solidFill>
                  <a:schemeClr val="dk1"/>
                </a:solidFill>
                <a:latin typeface="Arial"/>
                <a:ea typeface="Arial"/>
                <a:cs typeface="Arial"/>
                <a:sym typeface="Arial"/>
              </a:rPr>
              <a:t>50 Years of Data Science</a:t>
            </a:r>
            <a:r>
              <a:rPr b="0" i="0" lang="en-US" sz="1700" u="none" cap="none" strike="noStrike">
                <a:solidFill>
                  <a:schemeClr val="dk1"/>
                </a:solidFill>
                <a:latin typeface="Arial"/>
                <a:ea typeface="Arial"/>
                <a:cs typeface="Arial"/>
                <a:sym typeface="Arial"/>
              </a:rPr>
              <a:t>. September 2015</a:t>
            </a:r>
            <a:endParaRPr b="0" i="0" sz="1700" u="none" cap="none" strike="noStrike">
              <a:solidFill>
                <a:schemeClr val="dk1"/>
              </a:solidFill>
              <a:latin typeface="Arial"/>
              <a:ea typeface="Arial"/>
              <a:cs typeface="Arial"/>
              <a:sym typeface="Arial"/>
            </a:endParaRPr>
          </a:p>
        </p:txBody>
      </p:sp>
      <p:pic>
        <p:nvPicPr>
          <p:cNvPr id="111" name="Google Shape;111;g3710947e9cf_0_0"/>
          <p:cNvPicPr preferRelativeResize="0"/>
          <p:nvPr/>
        </p:nvPicPr>
        <p:blipFill rotWithShape="1">
          <a:blip r:embed="rId3">
            <a:alphaModFix/>
          </a:blip>
          <a:srcRect b="0" l="0" r="0" t="0"/>
          <a:stretch/>
        </p:blipFill>
        <p:spPr>
          <a:xfrm>
            <a:off x="698725" y="3843158"/>
            <a:ext cx="10618799" cy="2607217"/>
          </a:xfrm>
          <a:prstGeom prst="rect">
            <a:avLst/>
          </a:prstGeom>
          <a:noFill/>
          <a:ln>
            <a:noFill/>
          </a:ln>
        </p:spPr>
      </p:pic>
      <p:sp>
        <p:nvSpPr>
          <p:cNvPr id="112" name="Google Shape;112;g3710947e9cf_0_0"/>
          <p:cNvSpPr txBox="1"/>
          <p:nvPr>
            <p:ph idx="1" type="body"/>
          </p:nvPr>
        </p:nvSpPr>
        <p:spPr>
          <a:xfrm>
            <a:off x="7860271" y="6621065"/>
            <a:ext cx="3324900" cy="150300"/>
          </a:xfrm>
          <a:prstGeom prst="rect">
            <a:avLst/>
          </a:prstGeom>
        </p:spPr>
        <p:txBody>
          <a:bodyPr anchorCtr="0" anchor="t" bIns="45700" lIns="91425" spcFirstLastPara="1" rIns="91425" wrap="square" tIns="45700">
            <a:noAutofit/>
          </a:bodyPr>
          <a:lstStyle/>
          <a:p>
            <a:pPr indent="0" lvl="0" marL="0" rtl="0" algn="r">
              <a:spcBef>
                <a:spcPts val="10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g371d208b708_0_8"/>
          <p:cNvSpPr txBox="1"/>
          <p:nvPr>
            <p:ph type="title"/>
          </p:nvPr>
        </p:nvSpPr>
        <p:spPr>
          <a:xfrm>
            <a:off x="838200" y="468491"/>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UCT Processing and OpenEvolve</a:t>
            </a:r>
            <a:endParaRPr/>
          </a:p>
        </p:txBody>
      </p:sp>
      <p:sp>
        <p:nvSpPr>
          <p:cNvPr id="119" name="Google Shape;119;g371d208b708_0_8"/>
          <p:cNvSpPr txBox="1"/>
          <p:nvPr>
            <p:ph idx="1" type="body"/>
          </p:nvPr>
        </p:nvSpPr>
        <p:spPr>
          <a:xfrm>
            <a:off x="838200" y="1335416"/>
            <a:ext cx="10515600" cy="5022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SzPts val="3200"/>
              <a:buNone/>
            </a:pPr>
            <a:r>
              <a:rPr lang="en-US"/>
              <a:t>Retrieved from: https://deepmind.google/discover/blog/alphaevolve-a-gemini-powered-coding-agent-for-designing-advanced-algorithms/</a:t>
            </a:r>
            <a:endParaRPr/>
          </a:p>
        </p:txBody>
      </p:sp>
      <p:pic>
        <p:nvPicPr>
          <p:cNvPr id="120" name="Google Shape;120;g371d208b708_0_8"/>
          <p:cNvPicPr preferRelativeResize="0"/>
          <p:nvPr/>
        </p:nvPicPr>
        <p:blipFill rotWithShape="1">
          <a:blip r:embed="rId3">
            <a:alphaModFix/>
          </a:blip>
          <a:srcRect b="0" l="0" r="0" t="0"/>
          <a:stretch/>
        </p:blipFill>
        <p:spPr>
          <a:xfrm>
            <a:off x="1563326" y="1008025"/>
            <a:ext cx="9217759" cy="5022300"/>
          </a:xfrm>
          <a:prstGeom prst="rect">
            <a:avLst/>
          </a:prstGeom>
          <a:noFill/>
          <a:ln>
            <a:noFill/>
          </a:ln>
        </p:spPr>
      </p:pic>
      <p:sp>
        <p:nvSpPr>
          <p:cNvPr id="121" name="Google Shape;121;g371d208b708_0_8"/>
          <p:cNvSpPr txBox="1"/>
          <p:nvPr>
            <p:ph idx="2" type="body"/>
          </p:nvPr>
        </p:nvSpPr>
        <p:spPr>
          <a:xfrm>
            <a:off x="7860271" y="6621065"/>
            <a:ext cx="3324900" cy="150300"/>
          </a:xfrm>
          <a:prstGeom prst="rect">
            <a:avLst/>
          </a:prstGeom>
        </p:spPr>
        <p:txBody>
          <a:bodyPr anchorCtr="0" anchor="t" bIns="45700" lIns="91425" spcFirstLastPara="1" rIns="91425" wrap="square" tIns="45700">
            <a:noAutofit/>
          </a:bodyPr>
          <a:lstStyle/>
          <a:p>
            <a:pPr indent="0" lvl="0" marL="0" rtl="0" algn="r">
              <a:spcBef>
                <a:spcPts val="10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3710947e9cf_0_11"/>
          <p:cNvSpPr txBox="1"/>
          <p:nvPr>
            <p:ph type="title"/>
          </p:nvPr>
        </p:nvSpPr>
        <p:spPr>
          <a:xfrm>
            <a:off x="2342573" y="1903867"/>
            <a:ext cx="7494300" cy="2852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400"/>
              <a:buNone/>
            </a:pPr>
            <a:r>
              <a:rPr lang="en-US"/>
              <a:t>Data Set Generation</a:t>
            </a:r>
            <a:endParaRPr/>
          </a:p>
        </p:txBody>
      </p:sp>
      <p:sp>
        <p:nvSpPr>
          <p:cNvPr id="128" name="Google Shape;128;g3710947e9cf_0_11"/>
          <p:cNvSpPr txBox="1"/>
          <p:nvPr>
            <p:ph idx="1" type="body"/>
          </p:nvPr>
        </p:nvSpPr>
        <p:spPr>
          <a:xfrm>
            <a:off x="7860271" y="6621065"/>
            <a:ext cx="3324900" cy="150300"/>
          </a:xfrm>
          <a:prstGeom prst="rect">
            <a:avLst/>
          </a:prstGeom>
        </p:spPr>
        <p:txBody>
          <a:bodyPr anchorCtr="0" anchor="t" bIns="45700" lIns="91425" spcFirstLastPara="1" rIns="91425" wrap="square" tIns="45700">
            <a:noAutofit/>
          </a:bodyPr>
          <a:lstStyle/>
          <a:p>
            <a:pPr indent="0" lvl="0" marL="0" rtl="0" algn="r">
              <a:spcBef>
                <a:spcPts val="100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710947e9cf_0_23"/>
          <p:cNvSpPr txBox="1"/>
          <p:nvPr>
            <p:ph type="title"/>
          </p:nvPr>
        </p:nvSpPr>
        <p:spPr>
          <a:xfrm>
            <a:off x="838200" y="460564"/>
            <a:ext cx="10515600" cy="605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Dataset Generation Workflow</a:t>
            </a:r>
            <a:endParaRPr/>
          </a:p>
        </p:txBody>
      </p:sp>
      <p:pic>
        <p:nvPicPr>
          <p:cNvPr id="135" name="Google Shape;135;g3710947e9cf_0_23"/>
          <p:cNvPicPr preferRelativeResize="0"/>
          <p:nvPr/>
        </p:nvPicPr>
        <p:blipFill rotWithShape="1">
          <a:blip r:embed="rId3">
            <a:alphaModFix/>
          </a:blip>
          <a:srcRect b="0" l="0" r="0" t="0"/>
          <a:stretch/>
        </p:blipFill>
        <p:spPr>
          <a:xfrm>
            <a:off x="152400" y="2190489"/>
            <a:ext cx="11887196" cy="2740730"/>
          </a:xfrm>
          <a:prstGeom prst="rect">
            <a:avLst/>
          </a:prstGeom>
          <a:noFill/>
          <a:ln>
            <a:noFill/>
          </a:ln>
        </p:spPr>
      </p:pic>
      <p:sp>
        <p:nvSpPr>
          <p:cNvPr id="136" name="Google Shape;136;g3710947e9cf_0_23"/>
          <p:cNvSpPr txBox="1"/>
          <p:nvPr>
            <p:ph idx="1" type="body"/>
          </p:nvPr>
        </p:nvSpPr>
        <p:spPr>
          <a:xfrm>
            <a:off x="7860271" y="6621065"/>
            <a:ext cx="3324900" cy="150300"/>
          </a:xfrm>
          <a:prstGeom prst="rect">
            <a:avLst/>
          </a:prstGeom>
        </p:spPr>
        <p:txBody>
          <a:bodyPr anchorCtr="0" anchor="t" bIns="45700" lIns="91425" spcFirstLastPara="1" rIns="91425" wrap="square" tIns="45700">
            <a:noAutofit/>
          </a:bodyPr>
          <a:lstStyle/>
          <a:p>
            <a:pPr indent="0" lvl="0" marL="0" rtl="0" algn="r">
              <a:spcBef>
                <a:spcPts val="10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710947e9cf_0_39"/>
          <p:cNvSpPr txBox="1"/>
          <p:nvPr>
            <p:ph type="title"/>
          </p:nvPr>
        </p:nvSpPr>
        <p:spPr>
          <a:xfrm>
            <a:off x="838200" y="460564"/>
            <a:ext cx="10515600" cy="605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User Input - Dataset Code</a:t>
            </a:r>
            <a:endParaRPr/>
          </a:p>
        </p:txBody>
      </p:sp>
      <p:pic>
        <p:nvPicPr>
          <p:cNvPr id="143" name="Google Shape;143;g3710947e9cf_0_39"/>
          <p:cNvPicPr preferRelativeResize="0"/>
          <p:nvPr/>
        </p:nvPicPr>
        <p:blipFill rotWithShape="1">
          <a:blip r:embed="rId3">
            <a:alphaModFix/>
          </a:blip>
          <a:srcRect b="0" l="0" r="0" t="0"/>
          <a:stretch/>
        </p:blipFill>
        <p:spPr>
          <a:xfrm>
            <a:off x="152400" y="1370764"/>
            <a:ext cx="11649075" cy="4953000"/>
          </a:xfrm>
          <a:prstGeom prst="rect">
            <a:avLst/>
          </a:prstGeom>
          <a:noFill/>
          <a:ln>
            <a:noFill/>
          </a:ln>
        </p:spPr>
      </p:pic>
      <p:sp>
        <p:nvSpPr>
          <p:cNvPr id="144" name="Google Shape;144;g3710947e9cf_0_39"/>
          <p:cNvSpPr txBox="1"/>
          <p:nvPr>
            <p:ph idx="1" type="body"/>
          </p:nvPr>
        </p:nvSpPr>
        <p:spPr>
          <a:xfrm>
            <a:off x="7860271" y="6621065"/>
            <a:ext cx="3324900" cy="150300"/>
          </a:xfrm>
          <a:prstGeom prst="rect">
            <a:avLst/>
          </a:prstGeom>
        </p:spPr>
        <p:txBody>
          <a:bodyPr anchorCtr="0" anchor="t" bIns="45700" lIns="91425" spcFirstLastPara="1" rIns="91425" wrap="square" tIns="45700">
            <a:noAutofit/>
          </a:bodyPr>
          <a:lstStyle/>
          <a:p>
            <a:pPr indent="0" lvl="0" marL="0" rtl="0" algn="r">
              <a:spcBef>
                <a:spcPts val="100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710947e9cf_1_31"/>
          <p:cNvSpPr txBox="1"/>
          <p:nvPr>
            <p:ph type="title"/>
          </p:nvPr>
        </p:nvSpPr>
        <p:spPr>
          <a:xfrm>
            <a:off x="838200" y="460564"/>
            <a:ext cx="10515600" cy="605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Unified Data Library</a:t>
            </a:r>
            <a:endParaRPr/>
          </a:p>
        </p:txBody>
      </p:sp>
      <p:sp>
        <p:nvSpPr>
          <p:cNvPr id="151" name="Google Shape;151;g3710947e9cf_1_31"/>
          <p:cNvSpPr txBox="1"/>
          <p:nvPr/>
        </p:nvSpPr>
        <p:spPr>
          <a:xfrm>
            <a:off x="734900" y="1225475"/>
            <a:ext cx="10618800" cy="5148600"/>
          </a:xfrm>
          <a:prstGeom prst="rect">
            <a:avLst/>
          </a:prstGeom>
          <a:noFill/>
          <a:ln>
            <a:noFill/>
          </a:ln>
        </p:spPr>
        <p:txBody>
          <a:bodyPr anchorCtr="0" anchor="t" bIns="91425" lIns="91425" spcFirstLastPara="1" rIns="91425" wrap="square" tIns="91425">
            <a:noAutofit/>
          </a:bodyPr>
          <a:lstStyle/>
          <a:p>
            <a:pPr indent="-336550" lvl="0" marL="457200" marR="0" rtl="0" algn="l">
              <a:lnSpc>
                <a:spcPct val="10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UDL contains data collected from various public/private sources</a:t>
            </a:r>
            <a:endParaRPr b="0" i="0" sz="1700" u="none" cap="none" strike="noStrike">
              <a:solidFill>
                <a:schemeClr val="dk1"/>
              </a:solidFill>
              <a:latin typeface="Arial"/>
              <a:ea typeface="Arial"/>
              <a:cs typeface="Arial"/>
              <a:sym typeface="Arial"/>
            </a:endParaRPr>
          </a:p>
          <a:p>
            <a:pPr indent="0" lvl="0" marL="91440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336550" lvl="0" marL="457200" marR="0" rtl="0" algn="l">
              <a:lnSpc>
                <a:spcPct val="10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Available data includes TLEs, raw observations (RA/Dec), state vectors with covariance, etc.</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336550" lvl="0" marL="457200" marR="0" rtl="0" algn="l">
              <a:lnSpc>
                <a:spcPct val="10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Built-in API allows for automated dataset updates</a:t>
            </a:r>
            <a:endParaRPr b="0" i="0" sz="1700" u="none" cap="none" strike="noStrike">
              <a:solidFill>
                <a:schemeClr val="dk1"/>
              </a:solidFill>
              <a:latin typeface="Arial"/>
              <a:ea typeface="Arial"/>
              <a:cs typeface="Arial"/>
              <a:sym typeface="Arial"/>
            </a:endParaRPr>
          </a:p>
          <a:p>
            <a:pPr indent="0" lvl="0" marL="91440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336550" lvl="0" marL="457200" marR="0" rtl="0" algn="l">
              <a:lnSpc>
                <a:spcPct val="10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Used known catalogued satellite data from UDL as “truth” reference</a:t>
            </a:r>
            <a:endParaRPr b="0" i="0" sz="1700" u="none" cap="none" strike="noStrike">
              <a:solidFill>
                <a:schemeClr val="dk1"/>
              </a:solidFill>
              <a:latin typeface="Arial"/>
              <a:ea typeface="Arial"/>
              <a:cs typeface="Arial"/>
              <a:sym typeface="Arial"/>
            </a:endParaRPr>
          </a:p>
          <a:p>
            <a:pPr indent="0" lvl="0" marL="91440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336550" lvl="0" marL="457200" marR="0" rtl="0" algn="l">
              <a:lnSpc>
                <a:spcPct val="10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Data is de-correlated to simulate UCT data before being fed to the UCTPs</a:t>
            </a:r>
            <a:endParaRPr b="0" i="0" sz="17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Arial"/>
              <a:ea typeface="Arial"/>
              <a:cs typeface="Arial"/>
              <a:sym typeface="Arial"/>
            </a:endParaRPr>
          </a:p>
          <a:p>
            <a:pPr indent="-336550" lvl="0" marL="457200" marR="0" rtl="0" algn="l">
              <a:lnSpc>
                <a:spcPct val="100000"/>
              </a:lnSpc>
              <a:spcBef>
                <a:spcPts val="0"/>
              </a:spcBef>
              <a:spcAft>
                <a:spcPts val="0"/>
              </a:spcAft>
              <a:buClr>
                <a:schemeClr val="dk1"/>
              </a:buClr>
              <a:buSzPts val="1700"/>
              <a:buFont typeface="Arial"/>
              <a:buChar char="●"/>
            </a:pPr>
            <a:r>
              <a:rPr b="0" i="0" lang="en-US" sz="1700" u="none" cap="none" strike="noStrike">
                <a:solidFill>
                  <a:schemeClr val="dk1"/>
                </a:solidFill>
                <a:latin typeface="Arial"/>
                <a:ea typeface="Arial"/>
                <a:cs typeface="Arial"/>
                <a:sym typeface="Arial"/>
              </a:rPr>
              <a:t>Reference is stored in answer key for later evaluation</a:t>
            </a:r>
            <a:endParaRPr b="0" i="0" sz="1700" u="none" cap="none" strike="noStrike">
              <a:solidFill>
                <a:schemeClr val="dk1"/>
              </a:solidFill>
              <a:latin typeface="Arial"/>
              <a:ea typeface="Arial"/>
              <a:cs typeface="Arial"/>
              <a:sym typeface="Arial"/>
            </a:endParaRPr>
          </a:p>
        </p:txBody>
      </p:sp>
      <p:pic>
        <p:nvPicPr>
          <p:cNvPr id="152" name="Google Shape;152;g3710947e9cf_1_31" title="udl-solid-w-text52.png"/>
          <p:cNvPicPr preferRelativeResize="0"/>
          <p:nvPr/>
        </p:nvPicPr>
        <p:blipFill rotWithShape="1">
          <a:blip r:embed="rId3">
            <a:alphaModFix/>
          </a:blip>
          <a:srcRect b="0" l="0" r="0" t="0"/>
          <a:stretch/>
        </p:blipFill>
        <p:spPr>
          <a:xfrm>
            <a:off x="7434275" y="3827450"/>
            <a:ext cx="3333750" cy="2171700"/>
          </a:xfrm>
          <a:prstGeom prst="rect">
            <a:avLst/>
          </a:prstGeom>
          <a:noFill/>
          <a:ln>
            <a:noFill/>
          </a:ln>
        </p:spPr>
      </p:pic>
      <p:sp>
        <p:nvSpPr>
          <p:cNvPr id="153" name="Google Shape;153;g3710947e9cf_1_31"/>
          <p:cNvSpPr txBox="1"/>
          <p:nvPr/>
        </p:nvSpPr>
        <p:spPr>
          <a:xfrm>
            <a:off x="6885475" y="6097176"/>
            <a:ext cx="44682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Calibri"/>
                <a:ea typeface="Calibri"/>
                <a:cs typeface="Calibri"/>
                <a:sym typeface="Calibri"/>
              </a:rPr>
              <a:t>Retrieved from: https://catalystcampus.org/programs/ (July 2025)</a:t>
            </a:r>
            <a:endParaRPr b="0" i="0" sz="1400" u="none" cap="none" strike="noStrike">
              <a:solidFill>
                <a:srgbClr val="000000"/>
              </a:solidFill>
              <a:latin typeface="Arial"/>
              <a:ea typeface="Arial"/>
              <a:cs typeface="Arial"/>
              <a:sym typeface="Arial"/>
            </a:endParaRPr>
          </a:p>
        </p:txBody>
      </p:sp>
      <p:sp>
        <p:nvSpPr>
          <p:cNvPr id="154" name="Google Shape;154;g3710947e9cf_1_31"/>
          <p:cNvSpPr txBox="1"/>
          <p:nvPr>
            <p:ph idx="1" type="body"/>
          </p:nvPr>
        </p:nvSpPr>
        <p:spPr>
          <a:xfrm>
            <a:off x="7860271" y="6621065"/>
            <a:ext cx="3324900" cy="150300"/>
          </a:xfrm>
          <a:prstGeom prst="rect">
            <a:avLst/>
          </a:prstGeom>
        </p:spPr>
        <p:txBody>
          <a:bodyPr anchorCtr="0" anchor="t" bIns="45700" lIns="91425" spcFirstLastPara="1" rIns="91425" wrap="square" tIns="45700">
            <a:noAutofit/>
          </a:bodyPr>
          <a:lstStyle/>
          <a:p>
            <a:pPr indent="0" lvl="0" marL="0" rtl="0" algn="r">
              <a:spcBef>
                <a:spcPts val="100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89f1ec6837_0_7"/>
          <p:cNvSpPr txBox="1"/>
          <p:nvPr>
            <p:ph idx="1" type="body"/>
          </p:nvPr>
        </p:nvSpPr>
        <p:spPr>
          <a:xfrm>
            <a:off x="7860271" y="6621065"/>
            <a:ext cx="3324900" cy="150300"/>
          </a:xfrm>
          <a:prstGeom prst="rect">
            <a:avLst/>
          </a:prstGeom>
        </p:spPr>
        <p:txBody>
          <a:bodyPr anchorCtr="0" anchor="t" bIns="45700" lIns="91425" spcFirstLastPara="1" rIns="91425" wrap="square" tIns="45700">
            <a:noAutofit/>
          </a:bodyPr>
          <a:lstStyle/>
          <a:p>
            <a:pPr indent="0" lvl="0" marL="0" rtl="0" algn="r">
              <a:spcBef>
                <a:spcPts val="1000"/>
              </a:spcBef>
              <a:spcAft>
                <a:spcPts val="0"/>
              </a:spcAft>
              <a:buNone/>
            </a:pPr>
            <a:r>
              <a:t/>
            </a:r>
            <a:endParaRPr/>
          </a:p>
        </p:txBody>
      </p:sp>
      <p:sp>
        <p:nvSpPr>
          <p:cNvPr id="161" name="Google Shape;161;g389f1ec6837_0_7"/>
          <p:cNvSpPr txBox="1"/>
          <p:nvPr>
            <p:ph type="title"/>
          </p:nvPr>
        </p:nvSpPr>
        <p:spPr>
          <a:xfrm>
            <a:off x="838200" y="460564"/>
            <a:ext cx="10515600" cy="605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Benchmark Datasets and OpenEvolve</a:t>
            </a:r>
            <a:endParaRPr/>
          </a:p>
        </p:txBody>
      </p:sp>
      <p:sp>
        <p:nvSpPr>
          <p:cNvPr id="162" name="Google Shape;162;g389f1ec6837_0_7"/>
          <p:cNvSpPr txBox="1"/>
          <p:nvPr/>
        </p:nvSpPr>
        <p:spPr>
          <a:xfrm>
            <a:off x="945600" y="1365875"/>
            <a:ext cx="10468500" cy="49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rPr>
              <a:t>Automated pipeline has the ability to </a:t>
            </a:r>
            <a:r>
              <a:rPr lang="en-US" sz="1800">
                <a:solidFill>
                  <a:schemeClr val="dk1"/>
                </a:solidFill>
              </a:rPr>
              <a:t>generate and evaluate on many different benchmark datasets depending on user configuration</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457200" lvl="0" marL="0" rtl="0" algn="l">
              <a:spcBef>
                <a:spcPts val="0"/>
              </a:spcBef>
              <a:spcAft>
                <a:spcPts val="0"/>
              </a:spcAft>
              <a:buNone/>
            </a:pPr>
            <a:r>
              <a:rPr lang="en-US" sz="1800">
                <a:solidFill>
                  <a:schemeClr val="dk1"/>
                </a:solidFill>
              </a:rPr>
              <a:t>This is to ensure robustness in the evaluation</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457200" lvl="0" marL="0" rtl="0" algn="l">
              <a:spcBef>
                <a:spcPts val="0"/>
              </a:spcBef>
              <a:spcAft>
                <a:spcPts val="0"/>
              </a:spcAft>
              <a:buNone/>
            </a:pPr>
            <a:r>
              <a:rPr lang="en-US" sz="1800">
                <a:solidFill>
                  <a:schemeClr val="dk1"/>
                </a:solidFill>
              </a:rPr>
              <a:t>We want our OpenEvolve architecture to share the same robustness</a:t>
            </a:r>
            <a:endParaRPr sz="1800">
              <a:solidFill>
                <a:schemeClr val="dk1"/>
              </a:solidFill>
            </a:endParaRPr>
          </a:p>
          <a:p>
            <a:pPr indent="457200" lvl="0" marL="0" rtl="0" algn="l">
              <a:spcBef>
                <a:spcPts val="0"/>
              </a:spcBef>
              <a:spcAft>
                <a:spcPts val="0"/>
              </a:spcAft>
              <a:buNone/>
            </a:pPr>
            <a:r>
              <a:rPr lang="en-US" sz="1800">
                <a:solidFill>
                  <a:schemeClr val="dk1"/>
                </a:solidFill>
              </a:rPr>
              <a:t>	What is the best way to do this</a:t>
            </a:r>
            <a:endParaRPr sz="18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710947e9cf_1_100"/>
          <p:cNvSpPr txBox="1"/>
          <p:nvPr>
            <p:ph type="title"/>
          </p:nvPr>
        </p:nvSpPr>
        <p:spPr>
          <a:xfrm>
            <a:off x="2342573" y="1903867"/>
            <a:ext cx="7494300" cy="2852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400"/>
              <a:buNone/>
            </a:pPr>
            <a:r>
              <a:rPr lang="en-US"/>
              <a:t>Evaluation/Packaging</a:t>
            </a:r>
            <a:endParaRPr/>
          </a:p>
        </p:txBody>
      </p:sp>
      <p:sp>
        <p:nvSpPr>
          <p:cNvPr id="169" name="Google Shape;169;g3710947e9cf_1_100"/>
          <p:cNvSpPr txBox="1"/>
          <p:nvPr>
            <p:ph idx="1" type="body"/>
          </p:nvPr>
        </p:nvSpPr>
        <p:spPr>
          <a:xfrm>
            <a:off x="7860271" y="6621065"/>
            <a:ext cx="3324900" cy="150300"/>
          </a:xfrm>
          <a:prstGeom prst="rect">
            <a:avLst/>
          </a:prstGeom>
        </p:spPr>
        <p:txBody>
          <a:bodyPr anchorCtr="0" anchor="t" bIns="45700" lIns="91425" spcFirstLastPara="1" rIns="91425" wrap="square" tIns="45700">
            <a:noAutofit/>
          </a:bodyPr>
          <a:lstStyle/>
          <a:p>
            <a:pPr indent="0" lvl="0" marL="0" rtl="0" algn="r">
              <a:spcBef>
                <a:spcPts val="100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710947e9cf_0_62"/>
          <p:cNvSpPr txBox="1"/>
          <p:nvPr>
            <p:ph type="title"/>
          </p:nvPr>
        </p:nvSpPr>
        <p:spPr>
          <a:xfrm>
            <a:off x="838200" y="468491"/>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Evaluation Workflow</a:t>
            </a:r>
            <a:endParaRPr/>
          </a:p>
        </p:txBody>
      </p:sp>
      <p:pic>
        <p:nvPicPr>
          <p:cNvPr id="176" name="Google Shape;176;g3710947e9cf_0_62"/>
          <p:cNvPicPr preferRelativeResize="0"/>
          <p:nvPr/>
        </p:nvPicPr>
        <p:blipFill rotWithShape="1">
          <a:blip r:embed="rId3">
            <a:alphaModFix/>
          </a:blip>
          <a:srcRect b="0" l="0" r="0" t="0"/>
          <a:stretch/>
        </p:blipFill>
        <p:spPr>
          <a:xfrm>
            <a:off x="228600" y="1939450"/>
            <a:ext cx="11665102" cy="3892524"/>
          </a:xfrm>
          <a:prstGeom prst="rect">
            <a:avLst/>
          </a:prstGeom>
          <a:noFill/>
          <a:ln>
            <a:noFill/>
          </a:ln>
        </p:spPr>
      </p:pic>
      <p:sp>
        <p:nvSpPr>
          <p:cNvPr id="177" name="Google Shape;177;g3710947e9cf_0_62"/>
          <p:cNvSpPr txBox="1"/>
          <p:nvPr>
            <p:ph idx="1" type="body"/>
          </p:nvPr>
        </p:nvSpPr>
        <p:spPr>
          <a:xfrm>
            <a:off x="838200" y="1335416"/>
            <a:ext cx="10515600" cy="50223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178" name="Google Shape;178;g3710947e9cf_0_62"/>
          <p:cNvSpPr txBox="1"/>
          <p:nvPr>
            <p:ph idx="2" type="body"/>
          </p:nvPr>
        </p:nvSpPr>
        <p:spPr>
          <a:xfrm>
            <a:off x="7860271" y="6621065"/>
            <a:ext cx="3324900" cy="150300"/>
          </a:xfrm>
          <a:prstGeom prst="rect">
            <a:avLst/>
          </a:prstGeom>
        </p:spPr>
        <p:txBody>
          <a:bodyPr anchorCtr="0" anchor="t" bIns="45700" lIns="91425" spcFirstLastPara="1" rIns="91425" wrap="square" tIns="45700">
            <a:noAutofit/>
          </a:bodyPr>
          <a:lstStyle/>
          <a:p>
            <a:pPr indent="0" lvl="0" marL="0" rtl="0" algn="r">
              <a:spcBef>
                <a:spcPts val="100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3713263bbdd_1_0"/>
          <p:cNvSpPr txBox="1"/>
          <p:nvPr>
            <p:ph type="title"/>
          </p:nvPr>
        </p:nvSpPr>
        <p:spPr>
          <a:xfrm>
            <a:off x="838200" y="468491"/>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Orbit Association</a:t>
            </a:r>
            <a:endParaRPr/>
          </a:p>
        </p:txBody>
      </p:sp>
      <p:sp>
        <p:nvSpPr>
          <p:cNvPr id="185" name="Google Shape;185;g3713263bbdd_1_0"/>
          <p:cNvSpPr txBox="1"/>
          <p:nvPr>
            <p:ph idx="1" type="body"/>
          </p:nvPr>
        </p:nvSpPr>
        <p:spPr>
          <a:xfrm>
            <a:off x="838200" y="1335416"/>
            <a:ext cx="10515600" cy="50223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1000"/>
              </a:spcBef>
              <a:spcAft>
                <a:spcPts val="0"/>
              </a:spcAft>
              <a:buSzPts val="2000"/>
              <a:buChar char="•"/>
            </a:pPr>
            <a:r>
              <a:rPr lang="en-US"/>
              <a:t>Assume the UCTP does not check objects vs catalog</a:t>
            </a:r>
            <a:endParaRPr/>
          </a:p>
          <a:p>
            <a:pPr indent="-355600" lvl="0" marL="457200" rtl="0" algn="l">
              <a:lnSpc>
                <a:spcPct val="100000"/>
              </a:lnSpc>
              <a:spcBef>
                <a:spcPts val="0"/>
              </a:spcBef>
              <a:spcAft>
                <a:spcPts val="0"/>
              </a:spcAft>
              <a:buSzPts val="2000"/>
              <a:buChar char="•"/>
            </a:pPr>
            <a:r>
              <a:rPr lang="en-US"/>
              <a:t>Need to “match” candidate results to references</a:t>
            </a:r>
            <a:endParaRPr/>
          </a:p>
          <a:p>
            <a:pPr indent="-355600" lvl="0" marL="457200" rtl="0" algn="l">
              <a:lnSpc>
                <a:spcPct val="100000"/>
              </a:lnSpc>
              <a:spcBef>
                <a:spcPts val="0"/>
              </a:spcBef>
              <a:spcAft>
                <a:spcPts val="0"/>
              </a:spcAft>
              <a:buSzPts val="2000"/>
              <a:buChar char="•"/>
            </a:pPr>
            <a:r>
              <a:rPr lang="en-US"/>
              <a:t>Use Hungarian Algorithm (scipy.optimize.linear_sum_assignment)</a:t>
            </a:r>
            <a:endParaRPr/>
          </a:p>
          <a:p>
            <a:pPr indent="-355600" lvl="0" marL="457200" rtl="0" algn="l">
              <a:lnSpc>
                <a:spcPct val="100000"/>
              </a:lnSpc>
              <a:spcBef>
                <a:spcPts val="0"/>
              </a:spcBef>
              <a:spcAft>
                <a:spcPts val="0"/>
              </a:spcAft>
              <a:buSzPts val="2000"/>
              <a:buChar char="•"/>
            </a:pPr>
            <a:r>
              <a:rPr lang="en-US"/>
              <a:t>Minimize norm of error vector</a:t>
            </a:r>
            <a:endParaRPr/>
          </a:p>
        </p:txBody>
      </p:sp>
      <p:pic>
        <p:nvPicPr>
          <p:cNvPr id="186" name="Google Shape;186;g3713263bbdd_1_0"/>
          <p:cNvPicPr preferRelativeResize="0"/>
          <p:nvPr/>
        </p:nvPicPr>
        <p:blipFill rotWithShape="1">
          <a:blip r:embed="rId3">
            <a:alphaModFix/>
          </a:blip>
          <a:srcRect b="0" l="0" r="0" t="0"/>
          <a:stretch/>
        </p:blipFill>
        <p:spPr>
          <a:xfrm>
            <a:off x="3248025" y="2740963"/>
            <a:ext cx="5695950" cy="3228975"/>
          </a:xfrm>
          <a:prstGeom prst="rect">
            <a:avLst/>
          </a:prstGeom>
          <a:noFill/>
          <a:ln>
            <a:noFill/>
          </a:ln>
        </p:spPr>
      </p:pic>
      <p:sp>
        <p:nvSpPr>
          <p:cNvPr id="187" name="Google Shape;187;g3713263bbdd_1_0"/>
          <p:cNvSpPr txBox="1"/>
          <p:nvPr/>
        </p:nvSpPr>
        <p:spPr>
          <a:xfrm>
            <a:off x="4228800" y="5969950"/>
            <a:ext cx="37344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Created using drawio.com</a:t>
            </a:r>
            <a:endParaRPr b="0" i="0" sz="1200" u="none" cap="none" strike="noStrike">
              <a:solidFill>
                <a:srgbClr val="000000"/>
              </a:solidFill>
              <a:latin typeface="Arial"/>
              <a:ea typeface="Arial"/>
              <a:cs typeface="Arial"/>
              <a:sym typeface="Arial"/>
            </a:endParaRPr>
          </a:p>
        </p:txBody>
      </p:sp>
      <p:sp>
        <p:nvSpPr>
          <p:cNvPr id="188" name="Google Shape;188;g3713263bbdd_1_0"/>
          <p:cNvSpPr txBox="1"/>
          <p:nvPr>
            <p:ph idx="2" type="body"/>
          </p:nvPr>
        </p:nvSpPr>
        <p:spPr>
          <a:xfrm>
            <a:off x="7860271" y="6621065"/>
            <a:ext cx="3324900" cy="150300"/>
          </a:xfrm>
          <a:prstGeom prst="rect">
            <a:avLst/>
          </a:prstGeom>
        </p:spPr>
        <p:txBody>
          <a:bodyPr anchorCtr="0" anchor="t" bIns="45700" lIns="91425" spcFirstLastPara="1" rIns="91425" wrap="square" tIns="45700">
            <a:noAutofit/>
          </a:bodyPr>
          <a:lstStyle/>
          <a:p>
            <a:pPr indent="0" lvl="0" marL="0" rtl="0" algn="r">
              <a:spcBef>
                <a:spcPts val="100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37181be29d6_0_0"/>
          <p:cNvSpPr txBox="1"/>
          <p:nvPr>
            <p:ph type="title"/>
          </p:nvPr>
        </p:nvSpPr>
        <p:spPr>
          <a:xfrm>
            <a:off x="838200" y="468491"/>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State Metrics</a:t>
            </a:r>
            <a:endParaRPr/>
          </a:p>
        </p:txBody>
      </p:sp>
      <p:sp>
        <p:nvSpPr>
          <p:cNvPr id="195" name="Google Shape;195;g37181be29d6_0_0"/>
          <p:cNvSpPr txBox="1"/>
          <p:nvPr>
            <p:ph idx="1" type="body"/>
          </p:nvPr>
        </p:nvSpPr>
        <p:spPr>
          <a:xfrm>
            <a:off x="838200" y="1335416"/>
            <a:ext cx="10515600" cy="5022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SzPts val="2000"/>
              <a:buNone/>
            </a:pPr>
            <a:r>
              <a:rPr lang="en-US"/>
              <a:t>Propagate each reference to candidate and compare state vectors</a:t>
            </a:r>
            <a:endParaRPr/>
          </a:p>
          <a:p>
            <a:pPr indent="0" lvl="0" marL="0" rtl="0" algn="l">
              <a:lnSpc>
                <a:spcPct val="100000"/>
              </a:lnSpc>
              <a:spcBef>
                <a:spcPts val="1000"/>
              </a:spcBef>
              <a:spcAft>
                <a:spcPts val="0"/>
              </a:spcAft>
              <a:buSzPts val="2000"/>
              <a:buNone/>
            </a:pPr>
            <a:r>
              <a:rPr b="1" lang="en-US"/>
              <a:t>Error Norm: </a:t>
            </a:r>
            <a:r>
              <a:rPr lang="en-US"/>
              <a:t>How physically close are the vectors?</a:t>
            </a:r>
            <a:endParaRPr/>
          </a:p>
          <a:p>
            <a:pPr indent="0" lvl="0" marL="0" rtl="0" algn="l">
              <a:lnSpc>
                <a:spcPct val="100000"/>
              </a:lnSpc>
              <a:spcBef>
                <a:spcPts val="1000"/>
              </a:spcBef>
              <a:spcAft>
                <a:spcPts val="0"/>
              </a:spcAft>
              <a:buSzPts val="2000"/>
              <a:buNone/>
            </a:pPr>
            <a:r>
              <a:rPr b="1" lang="en-US"/>
              <a:t>Bias: </a:t>
            </a:r>
            <a:r>
              <a:rPr lang="en-US"/>
              <a:t>Is the UCTP candidate off in a consistent manner?</a:t>
            </a:r>
            <a:endParaRPr/>
          </a:p>
          <a:p>
            <a:pPr indent="0" lvl="0" marL="0" rtl="0" algn="l">
              <a:lnSpc>
                <a:spcPct val="100000"/>
              </a:lnSpc>
              <a:spcBef>
                <a:spcPts val="1000"/>
              </a:spcBef>
              <a:spcAft>
                <a:spcPts val="0"/>
              </a:spcAft>
              <a:buSzPts val="2000"/>
              <a:buNone/>
            </a:pPr>
            <a:r>
              <a:rPr b="1" lang="en-US"/>
              <a:t>Mahalanobis P-score:</a:t>
            </a:r>
            <a:r>
              <a:rPr lang="en-US"/>
              <a:t> How likely is it that the vectors correspond to the same orbit?</a:t>
            </a:r>
            <a:endParaRPr/>
          </a:p>
          <a:p>
            <a:pPr indent="0" lvl="0" marL="0" rtl="0" algn="l">
              <a:lnSpc>
                <a:spcPct val="100000"/>
              </a:lnSpc>
              <a:spcBef>
                <a:spcPts val="1000"/>
              </a:spcBef>
              <a:spcAft>
                <a:spcPts val="0"/>
              </a:spcAft>
              <a:buSzPts val="2000"/>
              <a:buNone/>
            </a:pPr>
            <a:r>
              <a:rPr b="1" lang="en-US"/>
              <a:t>Normalized Estimation Error Squared:</a:t>
            </a:r>
            <a:r>
              <a:rPr lang="en-US"/>
              <a:t> How confident is the processor in its results?</a:t>
            </a:r>
            <a:endParaRPr/>
          </a:p>
          <a:p>
            <a:pPr indent="0" lvl="0" marL="0" rtl="0" algn="l">
              <a:lnSpc>
                <a:spcPct val="100000"/>
              </a:lnSpc>
              <a:spcBef>
                <a:spcPts val="1000"/>
              </a:spcBef>
              <a:spcAft>
                <a:spcPts val="0"/>
              </a:spcAft>
              <a:buSzPts val="2000"/>
              <a:buNone/>
            </a:pPr>
            <a:r>
              <a:rPr b="1" lang="en-US"/>
              <a:t> </a:t>
            </a:r>
            <a:endParaRPr b="1"/>
          </a:p>
        </p:txBody>
      </p:sp>
      <p:pic>
        <p:nvPicPr>
          <p:cNvPr id="196" name="Google Shape;196;g37181be29d6_0_0"/>
          <p:cNvPicPr preferRelativeResize="0"/>
          <p:nvPr/>
        </p:nvPicPr>
        <p:blipFill rotWithShape="1">
          <a:blip r:embed="rId3">
            <a:alphaModFix/>
          </a:blip>
          <a:srcRect b="33155" l="2726" r="25148" t="0"/>
          <a:stretch/>
        </p:blipFill>
        <p:spPr>
          <a:xfrm>
            <a:off x="3332675" y="3429000"/>
            <a:ext cx="5526651" cy="2715125"/>
          </a:xfrm>
          <a:prstGeom prst="rect">
            <a:avLst/>
          </a:prstGeom>
          <a:noFill/>
          <a:ln>
            <a:noFill/>
          </a:ln>
        </p:spPr>
      </p:pic>
      <p:sp>
        <p:nvSpPr>
          <p:cNvPr id="197" name="Google Shape;197;g37181be29d6_0_0"/>
          <p:cNvSpPr txBox="1"/>
          <p:nvPr/>
        </p:nvSpPr>
        <p:spPr>
          <a:xfrm>
            <a:off x="4228800" y="5969950"/>
            <a:ext cx="37344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Created using drawio.com</a:t>
            </a:r>
            <a:endParaRPr b="0" i="0" sz="1200" u="none" cap="none" strike="noStrike">
              <a:solidFill>
                <a:srgbClr val="000000"/>
              </a:solidFill>
              <a:latin typeface="Arial"/>
              <a:ea typeface="Arial"/>
              <a:cs typeface="Arial"/>
              <a:sym typeface="Arial"/>
            </a:endParaRPr>
          </a:p>
        </p:txBody>
      </p:sp>
      <p:sp>
        <p:nvSpPr>
          <p:cNvPr id="198" name="Google Shape;198;g37181be29d6_0_0"/>
          <p:cNvSpPr txBox="1"/>
          <p:nvPr>
            <p:ph idx="2" type="body"/>
          </p:nvPr>
        </p:nvSpPr>
        <p:spPr>
          <a:xfrm>
            <a:off x="7860271" y="6621065"/>
            <a:ext cx="3324900" cy="150300"/>
          </a:xfrm>
          <a:prstGeom prst="rect">
            <a:avLst/>
          </a:prstGeom>
        </p:spPr>
        <p:txBody>
          <a:bodyPr anchorCtr="0" anchor="t" bIns="45700" lIns="91425" spcFirstLastPara="1" rIns="91425" wrap="square" tIns="45700">
            <a:noAutofit/>
          </a:bodyPr>
          <a:lstStyle/>
          <a:p>
            <a:pPr indent="0" lvl="0" marL="0" rtl="0" algn="r">
              <a:spcBef>
                <a:spcPts val="100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713263bbdd_1_14"/>
          <p:cNvSpPr txBox="1"/>
          <p:nvPr>
            <p:ph type="title"/>
          </p:nvPr>
        </p:nvSpPr>
        <p:spPr>
          <a:xfrm>
            <a:off x="838200" y="468491"/>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Residual Metrics</a:t>
            </a:r>
            <a:endParaRPr/>
          </a:p>
        </p:txBody>
      </p:sp>
      <p:sp>
        <p:nvSpPr>
          <p:cNvPr id="205" name="Google Shape;205;g3713263bbdd_1_14"/>
          <p:cNvSpPr txBox="1"/>
          <p:nvPr>
            <p:ph idx="1" type="body"/>
          </p:nvPr>
        </p:nvSpPr>
        <p:spPr>
          <a:xfrm>
            <a:off x="838200" y="1335416"/>
            <a:ext cx="10515600" cy="5022300"/>
          </a:xfrm>
          <a:prstGeom prst="rect">
            <a:avLst/>
          </a:prstGeom>
          <a:noFill/>
          <a:ln>
            <a:noFill/>
          </a:ln>
        </p:spPr>
        <p:txBody>
          <a:bodyPr anchorCtr="0" anchor="t" bIns="45700" lIns="91425" spcFirstLastPara="1" rIns="91425" wrap="square" tIns="45700">
            <a:normAutofit/>
          </a:bodyPr>
          <a:lstStyle/>
          <a:p>
            <a:pPr indent="-355600" lvl="0" marL="457200" rtl="0" algn="l">
              <a:lnSpc>
                <a:spcPct val="100000"/>
              </a:lnSpc>
              <a:spcBef>
                <a:spcPts val="1000"/>
              </a:spcBef>
              <a:spcAft>
                <a:spcPts val="0"/>
              </a:spcAft>
              <a:buSzPts val="2000"/>
              <a:buChar char="•"/>
            </a:pPr>
            <a:r>
              <a:rPr lang="en-US"/>
              <a:t>Computes the unit circle great arc residual between two sets of angular observations</a:t>
            </a:r>
            <a:endParaRPr/>
          </a:p>
          <a:p>
            <a:pPr indent="0" lvl="0" marL="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lang="en-US"/>
              <a:t>Gives a measure for the accuracy and precision of the UCTP</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b="1" lang="en-US"/>
              <a:t>Accuracy:</a:t>
            </a:r>
            <a:r>
              <a:rPr lang="en-US"/>
              <a:t> compares the reference orbit observations / trackTLEs with the UCTP candidate orbital estimation</a:t>
            </a:r>
            <a:endParaRPr/>
          </a:p>
          <a:p>
            <a:pPr indent="0" lvl="0" marL="457200" rtl="0" algn="l">
              <a:lnSpc>
                <a:spcPct val="100000"/>
              </a:lnSpc>
              <a:spcBef>
                <a:spcPts val="1000"/>
              </a:spcBef>
              <a:spcAft>
                <a:spcPts val="0"/>
              </a:spcAft>
              <a:buSzPts val="2000"/>
              <a:buNone/>
            </a:pPr>
            <a:r>
              <a:t/>
            </a:r>
            <a:endParaRPr/>
          </a:p>
          <a:p>
            <a:pPr indent="-355600" lvl="0" marL="457200" rtl="0" algn="l">
              <a:lnSpc>
                <a:spcPct val="100000"/>
              </a:lnSpc>
              <a:spcBef>
                <a:spcPts val="1000"/>
              </a:spcBef>
              <a:spcAft>
                <a:spcPts val="0"/>
              </a:spcAft>
              <a:buSzPts val="2000"/>
              <a:buChar char="•"/>
            </a:pPr>
            <a:r>
              <a:rPr b="1" lang="en-US"/>
              <a:t>Precision:</a:t>
            </a:r>
            <a:r>
              <a:rPr lang="en-US"/>
              <a:t> compares the UCTP candidate orbit observations / trackTLEs with the UCTP candidate orbital estimation</a:t>
            </a:r>
            <a:endParaRPr/>
          </a:p>
        </p:txBody>
      </p:sp>
      <p:pic>
        <p:nvPicPr>
          <p:cNvPr id="206" name="Google Shape;206;g3713263bbdd_1_14"/>
          <p:cNvPicPr preferRelativeResize="0"/>
          <p:nvPr/>
        </p:nvPicPr>
        <p:blipFill rotWithShape="1">
          <a:blip r:embed="rId3">
            <a:alphaModFix/>
          </a:blip>
          <a:srcRect b="0" l="0" r="0" t="0"/>
          <a:stretch/>
        </p:blipFill>
        <p:spPr>
          <a:xfrm>
            <a:off x="6205600" y="1762270"/>
            <a:ext cx="5791202" cy="3755917"/>
          </a:xfrm>
          <a:prstGeom prst="rect">
            <a:avLst/>
          </a:prstGeom>
          <a:noFill/>
          <a:ln>
            <a:noFill/>
          </a:ln>
        </p:spPr>
      </p:pic>
      <p:sp>
        <p:nvSpPr>
          <p:cNvPr id="207" name="Google Shape;207;g3713263bbdd_1_14"/>
          <p:cNvSpPr txBox="1"/>
          <p:nvPr>
            <p:ph idx="2" type="body"/>
          </p:nvPr>
        </p:nvSpPr>
        <p:spPr>
          <a:xfrm>
            <a:off x="7860271" y="6621065"/>
            <a:ext cx="3324900" cy="150300"/>
          </a:xfrm>
          <a:prstGeom prst="rect">
            <a:avLst/>
          </a:prstGeom>
        </p:spPr>
        <p:txBody>
          <a:bodyPr anchorCtr="0" anchor="t" bIns="45700" lIns="91425" spcFirstLastPara="1" rIns="91425" wrap="square" tIns="45700">
            <a:noAutofit/>
          </a:bodyPr>
          <a:lstStyle/>
          <a:p>
            <a:pPr indent="0" lvl="0" marL="0" rtl="0" algn="r">
              <a:spcBef>
                <a:spcPts val="100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713263bbdd_1_21"/>
          <p:cNvSpPr txBox="1"/>
          <p:nvPr>
            <p:ph type="title"/>
          </p:nvPr>
        </p:nvSpPr>
        <p:spPr>
          <a:xfrm>
            <a:off x="838200" y="468491"/>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Binary Metrics</a:t>
            </a:r>
            <a:endParaRPr/>
          </a:p>
        </p:txBody>
      </p:sp>
      <p:sp>
        <p:nvSpPr>
          <p:cNvPr id="214" name="Google Shape;214;g3713263bbdd_1_21"/>
          <p:cNvSpPr txBox="1"/>
          <p:nvPr>
            <p:ph idx="1" type="body"/>
          </p:nvPr>
        </p:nvSpPr>
        <p:spPr>
          <a:xfrm>
            <a:off x="838200" y="1335416"/>
            <a:ext cx="10515600" cy="5022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Clr>
                <a:schemeClr val="dk1"/>
              </a:buClr>
              <a:buSzPts val="1100"/>
              <a:buFont typeface="Arial"/>
              <a:buNone/>
            </a:pPr>
            <a:r>
              <a:rPr b="1" lang="en-US"/>
              <a:t>True Positive (TP)</a:t>
            </a:r>
            <a:r>
              <a:rPr lang="en-US"/>
              <a:t>: Observation or TrackTLE belongs to both the Candidate Orbit and the Reference Orbit to which it has been associated </a:t>
            </a:r>
            <a:endParaRPr/>
          </a:p>
          <a:p>
            <a:pPr indent="0" lvl="0" marL="0" rtl="0" algn="l">
              <a:lnSpc>
                <a:spcPct val="100000"/>
              </a:lnSpc>
              <a:spcBef>
                <a:spcPts val="1000"/>
              </a:spcBef>
              <a:spcAft>
                <a:spcPts val="0"/>
              </a:spcAft>
              <a:buClr>
                <a:schemeClr val="dk1"/>
              </a:buClr>
              <a:buSzPts val="1100"/>
              <a:buFont typeface="Arial"/>
              <a:buNone/>
            </a:pPr>
            <a:r>
              <a:rPr b="1" lang="en-US"/>
              <a:t>True Negative (TN)</a:t>
            </a:r>
            <a:r>
              <a:rPr lang="en-US"/>
              <a:t>: Observation or TrackTLE does not belong to any Candidate Orbit or Reference Orbit</a:t>
            </a:r>
            <a:endParaRPr/>
          </a:p>
          <a:p>
            <a:pPr indent="0" lvl="0" marL="0" rtl="0" algn="l">
              <a:lnSpc>
                <a:spcPct val="100000"/>
              </a:lnSpc>
              <a:spcBef>
                <a:spcPts val="1000"/>
              </a:spcBef>
              <a:spcAft>
                <a:spcPts val="0"/>
              </a:spcAft>
              <a:buSzPts val="2000"/>
              <a:buNone/>
            </a:pPr>
            <a:r>
              <a:rPr b="1" lang="en-US"/>
              <a:t>False Positive (FP)</a:t>
            </a:r>
            <a:r>
              <a:rPr lang="en-US"/>
              <a:t>: Observation or TrackTLE belongs to a Candidate Orbit but not the Reference Orbit </a:t>
            </a:r>
            <a:endParaRPr/>
          </a:p>
          <a:p>
            <a:pPr indent="0" lvl="0" marL="0" rtl="0" algn="l">
              <a:lnSpc>
                <a:spcPct val="100000"/>
              </a:lnSpc>
              <a:spcBef>
                <a:spcPts val="1000"/>
              </a:spcBef>
              <a:spcAft>
                <a:spcPts val="0"/>
              </a:spcAft>
              <a:buSzPts val="2000"/>
              <a:buNone/>
            </a:pPr>
            <a:r>
              <a:rPr b="1" lang="en-US"/>
              <a:t>False Negative (FN)</a:t>
            </a:r>
            <a:r>
              <a:rPr lang="en-US"/>
              <a:t>: Observation or TrackTLE does not belong to a Candidate Orbit but does belong to the Reference Orbit </a:t>
            </a:r>
            <a:endParaRPr/>
          </a:p>
        </p:txBody>
      </p:sp>
      <p:pic>
        <p:nvPicPr>
          <p:cNvPr id="215" name="Google Shape;215;g3713263bbdd_1_21" title="binary.jpg"/>
          <p:cNvPicPr preferRelativeResize="0"/>
          <p:nvPr/>
        </p:nvPicPr>
        <p:blipFill rotWithShape="1">
          <a:blip r:embed="rId3">
            <a:alphaModFix/>
          </a:blip>
          <a:srcRect b="0" l="0" r="0" t="0"/>
          <a:stretch/>
        </p:blipFill>
        <p:spPr>
          <a:xfrm>
            <a:off x="6023125" y="1082400"/>
            <a:ext cx="5330673" cy="5083301"/>
          </a:xfrm>
          <a:prstGeom prst="rect">
            <a:avLst/>
          </a:prstGeom>
          <a:noFill/>
          <a:ln>
            <a:noFill/>
          </a:ln>
        </p:spPr>
      </p:pic>
      <p:sp>
        <p:nvSpPr>
          <p:cNvPr id="216" name="Google Shape;216;g3713263bbdd_1_21"/>
          <p:cNvSpPr txBox="1"/>
          <p:nvPr/>
        </p:nvSpPr>
        <p:spPr>
          <a:xfrm>
            <a:off x="1978750" y="6165700"/>
            <a:ext cx="94413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Retrieved from: https://medium.com/data-science/the-explanation-you-need-on-binary-classification-metrics-321d280b590f  (July 2025)</a:t>
            </a:r>
            <a:endParaRPr b="0" i="0" sz="1200" u="none" cap="none" strike="noStrike">
              <a:solidFill>
                <a:srgbClr val="000000"/>
              </a:solidFill>
              <a:latin typeface="Arial"/>
              <a:ea typeface="Arial"/>
              <a:cs typeface="Arial"/>
              <a:sym typeface="Arial"/>
            </a:endParaRPr>
          </a:p>
        </p:txBody>
      </p:sp>
      <p:sp>
        <p:nvSpPr>
          <p:cNvPr id="217" name="Google Shape;217;g3713263bbdd_1_21"/>
          <p:cNvSpPr txBox="1"/>
          <p:nvPr>
            <p:ph idx="2" type="body"/>
          </p:nvPr>
        </p:nvSpPr>
        <p:spPr>
          <a:xfrm>
            <a:off x="7860271" y="6621065"/>
            <a:ext cx="3324900" cy="150300"/>
          </a:xfrm>
          <a:prstGeom prst="rect">
            <a:avLst/>
          </a:prstGeom>
        </p:spPr>
        <p:txBody>
          <a:bodyPr anchorCtr="0" anchor="t" bIns="45700" lIns="91425" spcFirstLastPara="1" rIns="91425" wrap="square" tIns="45700">
            <a:noAutofit/>
          </a:bodyPr>
          <a:lstStyle/>
          <a:p>
            <a:pPr indent="0" lvl="0" marL="0" rtl="0" algn="r">
              <a:spcBef>
                <a:spcPts val="100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89f1ec6837_0_0"/>
          <p:cNvSpPr txBox="1"/>
          <p:nvPr>
            <p:ph type="title"/>
          </p:nvPr>
        </p:nvSpPr>
        <p:spPr>
          <a:xfrm>
            <a:off x="838200" y="468491"/>
            <a:ext cx="10515600" cy="6375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Overall Score Metric</a:t>
            </a:r>
            <a:endParaRPr/>
          </a:p>
        </p:txBody>
      </p:sp>
      <p:sp>
        <p:nvSpPr>
          <p:cNvPr id="224" name="Google Shape;224;g389f1ec6837_0_0"/>
          <p:cNvSpPr txBox="1"/>
          <p:nvPr>
            <p:ph idx="1" type="body"/>
          </p:nvPr>
        </p:nvSpPr>
        <p:spPr>
          <a:xfrm>
            <a:off x="838200" y="1335416"/>
            <a:ext cx="10515600" cy="50223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lang="en-US"/>
              <a:t>For </a:t>
            </a:r>
            <a:r>
              <a:rPr lang="en-US" u="sng">
                <a:solidFill>
                  <a:schemeClr val="hlink"/>
                </a:solidFill>
                <a:hlinkClick r:id="rId3"/>
              </a:rPr>
              <a:t>evaluator.py</a:t>
            </a:r>
            <a:r>
              <a:rPr lang="en-US"/>
              <a:t>: function </a:t>
            </a:r>
            <a:r>
              <a:rPr lang="en-US"/>
              <a:t>evaluate</a:t>
            </a:r>
            <a:r>
              <a:rPr lang="en-US"/>
              <a:t>(program_path):</a:t>
            </a:r>
            <a:endParaRPr/>
          </a:p>
          <a:p>
            <a:pPr indent="0" lvl="0" marL="0" rtl="0" algn="l">
              <a:spcBef>
                <a:spcPts val="1000"/>
              </a:spcBef>
              <a:spcAft>
                <a:spcPts val="0"/>
              </a:spcAft>
              <a:buNone/>
            </a:pPr>
            <a:r>
              <a:rPr lang="en-US"/>
              <a:t>	returns dict {“binary”: val, “residual”: val, “state”: val, [other </a:t>
            </a:r>
            <a:r>
              <a:rPr lang="en-US"/>
              <a:t>relevant</a:t>
            </a:r>
            <a:r>
              <a:rPr lang="en-US"/>
              <a:t> metrics]: [values],</a:t>
            </a:r>
            <a:endParaRPr/>
          </a:p>
          <a:p>
            <a:pPr indent="0" lvl="0" marL="0" rtl="0" algn="l">
              <a:spcBef>
                <a:spcPts val="1000"/>
              </a:spcBef>
              <a:spcAft>
                <a:spcPts val="0"/>
              </a:spcAft>
              <a:buNone/>
            </a:pPr>
            <a:r>
              <a:rPr lang="en-US"/>
              <a:t>					“overall score”: [some combination of individual metrics]</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Identify any other </a:t>
            </a:r>
            <a:r>
              <a:rPr lang="en-US"/>
              <a:t>relevant</a:t>
            </a:r>
            <a:r>
              <a:rPr lang="en-US"/>
              <a:t> metrics (e.g. run time, reproducibility, scalability, etc)</a:t>
            </a:r>
            <a:endParaRPr/>
          </a:p>
          <a:p>
            <a:pPr indent="0" lvl="0" marL="0" rtl="0" algn="l">
              <a:spcBef>
                <a:spcPts val="1000"/>
              </a:spcBef>
              <a:spcAft>
                <a:spcPts val="0"/>
              </a:spcAft>
              <a:buNone/>
            </a:pPr>
            <a:r>
              <a:rPr lang="en-US"/>
              <a:t>	(low priority)</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Find best way to combine metrics to give comprehensive evaluation score</a:t>
            </a:r>
            <a:endParaRPr/>
          </a:p>
          <a:p>
            <a:pPr indent="0" lvl="0" marL="0" rtl="0" algn="l">
              <a:spcBef>
                <a:spcPts val="1000"/>
              </a:spcBef>
              <a:spcAft>
                <a:spcPts val="0"/>
              </a:spcAft>
              <a:buNone/>
            </a:pPr>
            <a:r>
              <a:rPr lang="en-US"/>
              <a:t>	(high priority)</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Return artifacts from evaluator to LLM sampler</a:t>
            </a:r>
            <a:endParaRPr/>
          </a:p>
          <a:p>
            <a:pPr indent="0" lvl="0" marL="0" rtl="0" algn="l">
              <a:spcBef>
                <a:spcPts val="1000"/>
              </a:spcBef>
              <a:spcAft>
                <a:spcPts val="0"/>
              </a:spcAft>
              <a:buNone/>
            </a:pPr>
            <a:r>
              <a:rPr lang="en-US"/>
              <a:t>	(med priority)</a:t>
            </a:r>
            <a:endParaRPr/>
          </a:p>
        </p:txBody>
      </p:sp>
      <p:sp>
        <p:nvSpPr>
          <p:cNvPr id="225" name="Google Shape;225;g389f1ec6837_0_0"/>
          <p:cNvSpPr txBox="1"/>
          <p:nvPr>
            <p:ph idx="2" type="body"/>
          </p:nvPr>
        </p:nvSpPr>
        <p:spPr>
          <a:xfrm>
            <a:off x="7860271" y="6621065"/>
            <a:ext cx="3324900" cy="150300"/>
          </a:xfrm>
          <a:prstGeom prst="rect">
            <a:avLst/>
          </a:prstGeom>
        </p:spPr>
        <p:txBody>
          <a:bodyPr anchorCtr="0" anchor="t" bIns="45700" lIns="91425" spcFirstLastPara="1" rIns="91425" wrap="square" tIns="45700">
            <a:noAutofit/>
          </a:bodyPr>
          <a:lstStyle/>
          <a:p>
            <a:pPr indent="0" lvl="0" marL="0" rtl="0" algn="r">
              <a:spcBef>
                <a:spcPts val="100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3710947e9cf_0_47"/>
          <p:cNvSpPr txBox="1"/>
          <p:nvPr>
            <p:ph type="title"/>
          </p:nvPr>
        </p:nvSpPr>
        <p:spPr>
          <a:xfrm>
            <a:off x="2342573" y="1903867"/>
            <a:ext cx="7494300" cy="2852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400"/>
              <a:buNone/>
            </a:pPr>
            <a:r>
              <a:rPr lang="en-US"/>
              <a:t>Side Project:</a:t>
            </a:r>
            <a:endParaRPr/>
          </a:p>
          <a:p>
            <a:pPr indent="0" lvl="0" marL="0" rtl="0" algn="ctr">
              <a:lnSpc>
                <a:spcPct val="90000"/>
              </a:lnSpc>
              <a:spcBef>
                <a:spcPts val="0"/>
              </a:spcBef>
              <a:spcAft>
                <a:spcPts val="0"/>
              </a:spcAft>
              <a:buSzPts val="4400"/>
              <a:buNone/>
            </a:pPr>
            <a:r>
              <a:rPr lang="en-US"/>
              <a:t>Orbital Events Labelling</a:t>
            </a:r>
            <a:endParaRPr/>
          </a:p>
        </p:txBody>
      </p:sp>
      <p:sp>
        <p:nvSpPr>
          <p:cNvPr id="232" name="Google Shape;232;g3710947e9cf_0_47"/>
          <p:cNvSpPr txBox="1"/>
          <p:nvPr>
            <p:ph idx="1" type="body"/>
          </p:nvPr>
        </p:nvSpPr>
        <p:spPr>
          <a:xfrm>
            <a:off x="7860271" y="6621065"/>
            <a:ext cx="3324900" cy="150300"/>
          </a:xfrm>
          <a:prstGeom prst="rect">
            <a:avLst/>
          </a:prstGeom>
        </p:spPr>
        <p:txBody>
          <a:bodyPr anchorCtr="0" anchor="t" bIns="45700" lIns="91425" spcFirstLastPara="1" rIns="91425" wrap="square" tIns="45700">
            <a:noAutofit/>
          </a:bodyPr>
          <a:lstStyle/>
          <a:p>
            <a:pPr indent="0" lvl="0" marL="0" rtl="0" algn="r">
              <a:spcBef>
                <a:spcPts val="100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73e5a908b0_1_0"/>
          <p:cNvSpPr txBox="1"/>
          <p:nvPr>
            <p:ph type="title"/>
          </p:nvPr>
        </p:nvSpPr>
        <p:spPr>
          <a:xfrm>
            <a:off x="838200" y="468491"/>
            <a:ext cx="10515600" cy="637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3000"/>
              <a:buNone/>
            </a:pPr>
            <a:r>
              <a:rPr lang="en-US"/>
              <a:t> Space Event Data Labeling (not yet implemented)</a:t>
            </a:r>
            <a:endParaRPr/>
          </a:p>
        </p:txBody>
      </p:sp>
      <p:sp>
        <p:nvSpPr>
          <p:cNvPr id="239" name="Google Shape;239;g373e5a908b0_1_0"/>
          <p:cNvSpPr txBox="1"/>
          <p:nvPr>
            <p:ph idx="1" type="body"/>
          </p:nvPr>
        </p:nvSpPr>
        <p:spPr>
          <a:xfrm>
            <a:off x="838200" y="1335416"/>
            <a:ext cx="10515600" cy="5022300"/>
          </a:xfrm>
          <a:prstGeom prst="rect">
            <a:avLst/>
          </a:prstGeom>
          <a:noFill/>
          <a:ln>
            <a:noFill/>
          </a:ln>
        </p:spPr>
        <p:txBody>
          <a:bodyPr anchorCtr="0" anchor="t" bIns="45700" lIns="91425" spcFirstLastPara="1" rIns="91425" wrap="square" tIns="45700">
            <a:normAutofit/>
          </a:bodyPr>
          <a:lstStyle/>
          <a:p>
            <a:pPr indent="-355600" lvl="0" marL="457200" rtl="0" algn="l">
              <a:lnSpc>
                <a:spcPct val="150000"/>
              </a:lnSpc>
              <a:spcBef>
                <a:spcPts val="1000"/>
              </a:spcBef>
              <a:spcAft>
                <a:spcPts val="0"/>
              </a:spcAft>
              <a:buSzPts val="2000"/>
              <a:buChar char="•"/>
            </a:pPr>
            <a:r>
              <a:rPr b="1" lang="en-US"/>
              <a:t>Ground truth is essential</a:t>
            </a:r>
            <a:r>
              <a:rPr lang="en-US"/>
              <a:t> for reliable algorithms and machine learning operations that look to characterize space events</a:t>
            </a:r>
            <a:endParaRPr/>
          </a:p>
          <a:p>
            <a:pPr indent="-355600" lvl="0" marL="457200" rtl="0" algn="l">
              <a:lnSpc>
                <a:spcPct val="150000"/>
              </a:lnSpc>
              <a:spcBef>
                <a:spcPts val="0"/>
              </a:spcBef>
              <a:spcAft>
                <a:spcPts val="0"/>
              </a:spcAft>
              <a:buSzPts val="2000"/>
              <a:buChar char="•"/>
            </a:pPr>
            <a:r>
              <a:rPr b="1" lang="en-US"/>
              <a:t>NOTSO notifications</a:t>
            </a:r>
            <a:r>
              <a:rPr lang="en-US"/>
              <a:t> (Notice to Space Operators) assist us building standardized datasets to assist in this endeavor</a:t>
            </a:r>
            <a:endParaRPr/>
          </a:p>
          <a:p>
            <a:pPr indent="-355600" lvl="0" marL="457200" rtl="0" algn="l">
              <a:lnSpc>
                <a:spcPct val="150000"/>
              </a:lnSpc>
              <a:spcBef>
                <a:spcPts val="0"/>
              </a:spcBef>
              <a:spcAft>
                <a:spcPts val="0"/>
              </a:spcAft>
              <a:buSzPts val="2000"/>
              <a:buChar char="•"/>
            </a:pPr>
            <a:r>
              <a:rPr b="1" lang="en-US"/>
              <a:t>Our pipeline</a:t>
            </a:r>
            <a:r>
              <a:rPr lang="en-US"/>
              <a:t> to takes these text-heavy, human-entered events and provides a space event label and builds time event window to gather observation data that is associated with the event</a:t>
            </a:r>
            <a:endParaRPr/>
          </a:p>
          <a:p>
            <a:pPr indent="-355600" lvl="0" marL="457200" rtl="0" algn="l">
              <a:lnSpc>
                <a:spcPct val="150000"/>
              </a:lnSpc>
              <a:spcBef>
                <a:spcPts val="0"/>
              </a:spcBef>
              <a:spcAft>
                <a:spcPts val="0"/>
              </a:spcAft>
              <a:buSzPts val="2000"/>
              <a:buChar char="•"/>
            </a:pPr>
            <a:r>
              <a:rPr b="1" lang="en-US"/>
              <a:t>Future engineers</a:t>
            </a:r>
            <a:r>
              <a:rPr lang="en-US"/>
              <a:t> will use this packaged data to train algorithms to classify, detect,  and characterize events in space </a:t>
            </a:r>
            <a:endParaRPr/>
          </a:p>
        </p:txBody>
      </p:sp>
      <p:sp>
        <p:nvSpPr>
          <p:cNvPr id="240" name="Google Shape;240;g373e5a908b0_1_0"/>
          <p:cNvSpPr txBox="1"/>
          <p:nvPr>
            <p:ph idx="2" type="body"/>
          </p:nvPr>
        </p:nvSpPr>
        <p:spPr>
          <a:xfrm>
            <a:off x="7860271" y="6621065"/>
            <a:ext cx="3324900" cy="150300"/>
          </a:xfrm>
          <a:prstGeom prst="rect">
            <a:avLst/>
          </a:prstGeom>
        </p:spPr>
        <p:txBody>
          <a:bodyPr anchorCtr="0" anchor="t" bIns="45700" lIns="91425" spcFirstLastPara="1" rIns="91425" wrap="square" tIns="45700">
            <a:noAutofit/>
          </a:bodyPr>
          <a:lstStyle/>
          <a:p>
            <a:pPr indent="0" lvl="0" marL="0" rtl="0" algn="r">
              <a:spcBef>
                <a:spcPts val="100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389f1ec6837_0_14"/>
          <p:cNvSpPr txBox="1"/>
          <p:nvPr>
            <p:ph type="title"/>
          </p:nvPr>
        </p:nvSpPr>
        <p:spPr>
          <a:xfrm>
            <a:off x="838200" y="468491"/>
            <a:ext cx="10515600" cy="6375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Curve Fitting Example</a:t>
            </a:r>
            <a:endParaRPr/>
          </a:p>
        </p:txBody>
      </p:sp>
      <p:sp>
        <p:nvSpPr>
          <p:cNvPr id="247" name="Google Shape;247;g389f1ec6837_0_14"/>
          <p:cNvSpPr txBox="1"/>
          <p:nvPr>
            <p:ph idx="1" type="body"/>
          </p:nvPr>
        </p:nvSpPr>
        <p:spPr>
          <a:xfrm>
            <a:off x="838200" y="1335416"/>
            <a:ext cx="10515600" cy="5022300"/>
          </a:xfrm>
          <a:prstGeom prst="rect">
            <a:avLst/>
          </a:prstGeom>
        </p:spPr>
        <p:txBody>
          <a:bodyPr anchorCtr="0" anchor="t" bIns="45700" lIns="91425" spcFirstLastPara="1" rIns="91425" wrap="square" tIns="45700">
            <a:normAutofit lnSpcReduction="20000"/>
          </a:bodyPr>
          <a:lstStyle/>
          <a:p>
            <a:pPr indent="0" lvl="0" marL="0" rtl="0" algn="l">
              <a:spcBef>
                <a:spcPts val="1000"/>
              </a:spcBef>
              <a:spcAft>
                <a:spcPts val="0"/>
              </a:spcAft>
              <a:buNone/>
            </a:pPr>
            <a:r>
              <a:rPr lang="en-US"/>
              <a:t>Exact Analytic solution</a:t>
            </a:r>
            <a:endParaRPr/>
          </a:p>
          <a:p>
            <a:pPr indent="0" lvl="0" marL="0" rtl="0" algn="l">
              <a:spcBef>
                <a:spcPts val="1000"/>
              </a:spcBef>
              <a:spcAft>
                <a:spcPts val="0"/>
              </a:spcAft>
              <a:buNone/>
            </a:pPr>
            <a:r>
              <a:rPr lang="en-US"/>
              <a:t>	Linear Least Squares</a:t>
            </a:r>
            <a:endParaRPr/>
          </a:p>
          <a:p>
            <a:pPr indent="0" lvl="0" marL="0" rtl="0" algn="l">
              <a:spcBef>
                <a:spcPts val="1000"/>
              </a:spcBef>
              <a:spcAft>
                <a:spcPts val="0"/>
              </a:spcAft>
              <a:buNone/>
            </a:pPr>
            <a:r>
              <a:rPr lang="en-US"/>
              <a:t>Modern state-of-the-art</a:t>
            </a:r>
            <a:endParaRPr/>
          </a:p>
          <a:p>
            <a:pPr indent="0" lvl="0" marL="0" rtl="0" algn="l">
              <a:spcBef>
                <a:spcPts val="1000"/>
              </a:spcBef>
              <a:spcAft>
                <a:spcPts val="0"/>
              </a:spcAft>
              <a:buNone/>
            </a:pPr>
            <a:r>
              <a:rPr lang="en-US"/>
              <a:t>	Scipy.optmize</a:t>
            </a:r>
            <a:endParaRPr/>
          </a:p>
          <a:p>
            <a:pPr indent="0" lvl="0" marL="0" rtl="0" algn="l">
              <a:spcBef>
                <a:spcPts val="1000"/>
              </a:spcBef>
              <a:spcAft>
                <a:spcPts val="0"/>
              </a:spcAft>
              <a:buNone/>
            </a:pPr>
            <a:r>
              <a:rPr lang="en-US"/>
              <a:t>Can OpenEvolve </a:t>
            </a:r>
            <a:r>
              <a:rPr lang="en-US"/>
              <a:t>achieve state-of-the-art?</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Process:</a:t>
            </a:r>
            <a:endParaRPr/>
          </a:p>
          <a:p>
            <a:pPr indent="0" lvl="0" marL="0" rtl="0" algn="l">
              <a:spcBef>
                <a:spcPts val="1000"/>
              </a:spcBef>
              <a:spcAft>
                <a:spcPts val="0"/>
              </a:spcAft>
              <a:buNone/>
            </a:pPr>
            <a:r>
              <a:rPr lang="en-US"/>
              <a:t>	Develop metrics: how to evaluate quality of fit (RMSE), others? (runtime/reproducibility,etc)</a:t>
            </a:r>
            <a:endParaRPr/>
          </a:p>
          <a:p>
            <a:pPr indent="0" lvl="0" marL="0" rtl="0" algn="l">
              <a:spcBef>
                <a:spcPts val="1000"/>
              </a:spcBef>
              <a:spcAft>
                <a:spcPts val="0"/>
              </a:spcAft>
              <a:buNone/>
            </a:pPr>
            <a:r>
              <a:rPr lang="en-US"/>
              <a:t>	Initial program: try different things, see what works</a:t>
            </a:r>
            <a:endParaRPr/>
          </a:p>
          <a:p>
            <a:pPr indent="0" lvl="0" marL="0" rtl="0" algn="l">
              <a:spcBef>
                <a:spcPts val="1000"/>
              </a:spcBef>
              <a:spcAft>
                <a:spcPts val="0"/>
              </a:spcAft>
              <a:buNone/>
            </a:pPr>
            <a:r>
              <a:rPr lang="en-US"/>
              <a:t>	</a:t>
            </a:r>
            <a:r>
              <a:rPr lang="en-US" u="sng">
                <a:solidFill>
                  <a:schemeClr val="hlink"/>
                </a:solidFill>
                <a:hlinkClick r:id="rId3"/>
              </a:rPr>
              <a:t>Evalutor.py</a:t>
            </a:r>
            <a:r>
              <a:rPr lang="en-US"/>
              <a:t>: what are the critical features</a:t>
            </a:r>
            <a:endParaRPr/>
          </a:p>
          <a:p>
            <a:pPr indent="0" lvl="0" marL="0" rtl="0" algn="l">
              <a:spcBef>
                <a:spcPts val="1000"/>
              </a:spcBef>
              <a:spcAft>
                <a:spcPts val="0"/>
              </a:spcAft>
              <a:buNone/>
            </a:pPr>
            <a:r>
              <a:rPr lang="en-US"/>
              <a:t>	Config.yaml: try different things, see what works</a:t>
            </a:r>
            <a:endParaRPr/>
          </a:p>
          <a:p>
            <a:pPr indent="0" lvl="0" marL="0" rtl="0" algn="l">
              <a:spcBef>
                <a:spcPts val="1000"/>
              </a:spcBef>
              <a:spcAft>
                <a:spcPts val="0"/>
              </a:spcAft>
              <a:buNone/>
            </a:pPr>
            <a:r>
              <a:rPr lang="en-US"/>
              <a:t>	Output(s): Best program, performance over evolution, others?</a:t>
            </a:r>
            <a:endParaRPr/>
          </a:p>
        </p:txBody>
      </p:sp>
      <p:sp>
        <p:nvSpPr>
          <p:cNvPr id="248" name="Google Shape;248;g389f1ec6837_0_14"/>
          <p:cNvSpPr txBox="1"/>
          <p:nvPr>
            <p:ph idx="2" type="body"/>
          </p:nvPr>
        </p:nvSpPr>
        <p:spPr>
          <a:xfrm>
            <a:off x="7860271" y="6621065"/>
            <a:ext cx="3324900" cy="150300"/>
          </a:xfrm>
          <a:prstGeom prst="rect">
            <a:avLst/>
          </a:prstGeom>
        </p:spPr>
        <p:txBody>
          <a:bodyPr anchorCtr="0" anchor="t" bIns="45700" lIns="91425" spcFirstLastPara="1" rIns="91425" wrap="square" tIns="45700">
            <a:noAutofit/>
          </a:bodyPr>
          <a:lstStyle/>
          <a:p>
            <a:pPr indent="0" lvl="0" marL="0" rtl="0" algn="r">
              <a:spcBef>
                <a:spcPts val="1000"/>
              </a:spcBef>
              <a:spcAft>
                <a:spcPts val="0"/>
              </a:spcAft>
              <a:buNone/>
            </a:pPr>
            <a:r>
              <a:t/>
            </a:r>
            <a:endParaRPr/>
          </a:p>
        </p:txBody>
      </p:sp>
      <p:pic>
        <p:nvPicPr>
          <p:cNvPr id="249" name="Google Shape;249;g389f1ec6837_0_14"/>
          <p:cNvPicPr preferRelativeResize="0"/>
          <p:nvPr/>
        </p:nvPicPr>
        <p:blipFill>
          <a:blip r:embed="rId4">
            <a:alphaModFix/>
          </a:blip>
          <a:stretch>
            <a:fillRect/>
          </a:stretch>
        </p:blipFill>
        <p:spPr>
          <a:xfrm>
            <a:off x="7234200" y="4"/>
            <a:ext cx="4906800" cy="3917925"/>
          </a:xfrm>
          <a:prstGeom prst="rect">
            <a:avLst/>
          </a:prstGeom>
          <a:noFill/>
          <a:ln>
            <a:noFill/>
          </a:ln>
        </p:spPr>
      </p:pic>
      <p:sp>
        <p:nvSpPr>
          <p:cNvPr id="250" name="Google Shape;250;g389f1ec6837_0_14"/>
          <p:cNvSpPr txBox="1"/>
          <p:nvPr/>
        </p:nvSpPr>
        <p:spPr>
          <a:xfrm>
            <a:off x="8774400" y="3888000"/>
            <a:ext cx="3283200" cy="41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700">
                <a:solidFill>
                  <a:schemeClr val="dk2"/>
                </a:solidFill>
              </a:rPr>
              <a:t>Retrieved from: https://www.originlab.com/index.aspx?go=Products/Origin/DataAnalysis/CurveFitting</a:t>
            </a:r>
            <a:endParaRPr sz="3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2017-10-16T15:07:30Z</dcterms:created>
  <dc:creator>Microsoft Office User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0x010100239CC02B59828E4093440207BFE40CE1</vt:lpwstr>
  </property>
  <property fmtid="{D5CDD505-2E9C-101B-9397-08002B2CF9AE}" pid="3" name="_dlc_DocIdItemGuid">
    <vt:lpwstr>c0f58408-ee27-4ef0-9855-52d4db6e990f</vt:lpwstr>
  </property>
  <property fmtid="{D5CDD505-2E9C-101B-9397-08002B2CF9AE}" pid="4" name="MediaServiceImageTags">
    <vt:lpwstr/>
  </property>
  <property fmtid="{D5CDD505-2E9C-101B-9397-08002B2CF9AE}" pid="5" name="Order">
    <vt:r8>1000.0</vt:r8>
  </property>
  <property fmtid="{D5CDD505-2E9C-101B-9397-08002B2CF9AE}" pid="6" name="xd_Signature">
    <vt:bool>false</vt:bool>
  </property>
  <property fmtid="{D5CDD505-2E9C-101B-9397-08002B2CF9AE}" pid="7" name="xd_ProgID">
    <vt:lpwstr/>
  </property>
  <property fmtid="{D5CDD505-2E9C-101B-9397-08002B2CF9AE}" pid="8" name="_ExtendedDescription">
    <vt:lpwstr/>
  </property>
  <property fmtid="{D5CDD505-2E9C-101B-9397-08002B2CF9AE}" pid="9" name="TriggerFlowInfo">
    <vt:lpwstr/>
  </property>
  <property fmtid="{D5CDD505-2E9C-101B-9397-08002B2CF9AE}" pid="10" name="ComplianceAssetId">
    <vt:lpwstr/>
  </property>
  <property fmtid="{D5CDD505-2E9C-101B-9397-08002B2CF9AE}" pid="11" name="TemplateUrl">
    <vt:lpwstr/>
  </property>
  <property fmtid="{D5CDD505-2E9C-101B-9397-08002B2CF9AE}" pid="12" name="_SharedFileIndex">
    <vt:lpwstr/>
  </property>
  <property fmtid="{D5CDD505-2E9C-101B-9397-08002B2CF9AE}" pid="13" name="_SourceUrl">
    <vt:lpwstr/>
  </property>
</Properties>
</file>