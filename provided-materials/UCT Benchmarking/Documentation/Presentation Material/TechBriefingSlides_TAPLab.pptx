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46" roundtripDataSignature="AMtx7mjVz+xu0dxYMCs4N8qUFs9GNk1F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0F5B88E-626F-43D1-9268-4B9707F65251}">
  <a:tblStyle styleId="{10F5B88E-626F-43D1-9268-4B9707F65251}"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46" Type="http://customschemas.google.com/relationships/presentationmetadata" Target="metadata"/><Relationship Id="rId23" Type="http://schemas.openxmlformats.org/officeDocument/2006/relationships/slide" Target="slides/slide17.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710947e9cf_1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g3710947e9cf_1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g3710947e9cf_1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Measurement devices such as telescopes, radar, passive RF, etc. scan the sky for RSOs. Object will appear as a track, seen in the image When an object if found, its location is cross-referenced against a catalogue of known objects. Sometimes, the tracks do not correlate to any known objects. These are referred to as Uncorrelated Tracks, or UCTs. UCTs present an issue for SDA because it represents an object in space that we don’t know what it is. It might pose a threat to our space infrastructure. </a:t>
            </a:r>
            <a:endParaRPr/>
          </a:p>
        </p:txBody>
      </p:sp>
      <p:sp>
        <p:nvSpPr>
          <p:cNvPr id="133" name="Google Shape;13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Ground Traces shown is only 4 satellites, and already there are many observations that lie on top of eachother. It's obvious to see how this is a difficult problem to solve, but there is a separate, more nuanced issue associated with UCT processing. When someone presents a UCT solution, how do we know how accurate it is? By definition, there is no known solution to compare to.</a:t>
            </a:r>
            <a:endParaRPr/>
          </a:p>
        </p:txBody>
      </p:sp>
      <p:sp>
        <p:nvSpPr>
          <p:cNvPr id="143" name="Google Shape;14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710947e9c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g3710947e9cf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Common task framework is a structured method for evaluating and comparing different solutions to the same problem. CTF commonly used in data science, machine learning/AI, image recognition, etc. to accelerate advancements in state-of-the-art. As defined by Donoho in landmark paper </a:t>
            </a:r>
            <a:r>
              <a:rPr i="1" lang="en-US"/>
              <a:t>50 years of data science</a:t>
            </a:r>
            <a:r>
              <a:rPr lang="en-US"/>
              <a:t>, CTF has …. We want to bring elements of the CTF to SDA, by providing an objective way to evaluate performance of different predictive algorithms, and highlight where these algorithms are deficient/identify where they need to improve. </a:t>
            </a:r>
            <a:r>
              <a:rPr lang="en-US"/>
              <a:t>Our specific task for this summer was to benchmark and evaluate UCT processing algorithms, with the idea being to create the framework to be generalized to other areas of SDA.</a:t>
            </a:r>
            <a:endParaRPr/>
          </a:p>
        </p:txBody>
      </p:sp>
      <p:sp>
        <p:nvSpPr>
          <p:cNvPr id="152" name="Google Shape;152;g3710947e9cf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710947e9cf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g3710947e9cf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710947e9cf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710947e9cf_1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g3710947e9cf_1_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2100" lvl="0" marL="457200" rtl="0" algn="l">
              <a:lnSpc>
                <a:spcPct val="100000"/>
              </a:lnSpc>
              <a:spcBef>
                <a:spcPts val="1000"/>
              </a:spcBef>
              <a:spcAft>
                <a:spcPts val="0"/>
              </a:spcAft>
              <a:buClr>
                <a:schemeClr val="dk1"/>
              </a:buClr>
              <a:buSzPts val="1000"/>
              <a:buChar char="•"/>
            </a:pPr>
            <a:r>
              <a:rPr lang="en-US" sz="1000">
                <a:latin typeface="Arial"/>
                <a:ea typeface="Arial"/>
                <a:cs typeface="Arial"/>
                <a:sym typeface="Arial"/>
              </a:rPr>
              <a:t>UCTP are often Proprietary</a:t>
            </a:r>
            <a:endParaRPr sz="1000">
              <a:latin typeface="Arial"/>
              <a:ea typeface="Arial"/>
              <a:cs typeface="Arial"/>
              <a:sym typeface="Arial"/>
            </a:endParaRPr>
          </a:p>
          <a:p>
            <a:pPr indent="-292100" lvl="0" marL="457200" rtl="0" algn="l">
              <a:lnSpc>
                <a:spcPct val="100000"/>
              </a:lnSpc>
              <a:spcBef>
                <a:spcPts val="0"/>
              </a:spcBef>
              <a:spcAft>
                <a:spcPts val="0"/>
              </a:spcAft>
              <a:buClr>
                <a:schemeClr val="dk1"/>
              </a:buClr>
              <a:buSzPts val="1000"/>
              <a:buChar char="•"/>
            </a:pPr>
            <a:r>
              <a:rPr lang="en-US" sz="1000">
                <a:latin typeface="Arial"/>
                <a:ea typeface="Arial"/>
                <a:cs typeface="Arial"/>
                <a:sym typeface="Arial"/>
              </a:rPr>
              <a:t>UCTP inputs can take two main forms</a:t>
            </a:r>
            <a:endParaRPr sz="1000">
              <a:latin typeface="Arial"/>
              <a:ea typeface="Arial"/>
              <a:cs typeface="Arial"/>
              <a:sym typeface="Arial"/>
            </a:endParaRPr>
          </a:p>
          <a:p>
            <a:pPr indent="-292100" lvl="1" marL="914400" rtl="0" algn="l">
              <a:lnSpc>
                <a:spcPct val="100000"/>
              </a:lnSpc>
              <a:spcBef>
                <a:spcPts val="0"/>
              </a:spcBef>
              <a:spcAft>
                <a:spcPts val="0"/>
              </a:spcAft>
              <a:buClr>
                <a:schemeClr val="dk1"/>
              </a:buClr>
              <a:buSzPts val="1000"/>
              <a:buChar char="•"/>
            </a:pPr>
            <a:r>
              <a:rPr lang="en-US" sz="1000">
                <a:latin typeface="Arial"/>
                <a:ea typeface="Arial"/>
                <a:cs typeface="Arial"/>
                <a:sym typeface="Arial"/>
              </a:rPr>
              <a:t>Raw Observations (Optical, Radar Tracks, RF) </a:t>
            </a:r>
            <a:endParaRPr sz="1000">
              <a:latin typeface="Arial"/>
              <a:ea typeface="Arial"/>
              <a:cs typeface="Arial"/>
              <a:sym typeface="Arial"/>
            </a:endParaRPr>
          </a:p>
          <a:p>
            <a:pPr indent="-292100" lvl="1" marL="914400" rtl="0" algn="l">
              <a:lnSpc>
                <a:spcPct val="100000"/>
              </a:lnSpc>
              <a:spcBef>
                <a:spcPts val="0"/>
              </a:spcBef>
              <a:spcAft>
                <a:spcPts val="0"/>
              </a:spcAft>
              <a:buClr>
                <a:schemeClr val="dk1"/>
              </a:buClr>
              <a:buSzPts val="1000"/>
              <a:buChar char="•"/>
            </a:pPr>
            <a:r>
              <a:rPr lang="en-US" sz="1000">
                <a:latin typeface="Arial"/>
                <a:ea typeface="Arial"/>
                <a:cs typeface="Arial"/>
                <a:sym typeface="Arial"/>
              </a:rPr>
              <a:t>Uncorrelated Two Line Elements (Track TLEs)</a:t>
            </a:r>
            <a:br>
              <a:rPr lang="en-US" sz="1000">
                <a:latin typeface="Arial"/>
                <a:ea typeface="Arial"/>
                <a:cs typeface="Arial"/>
                <a:sym typeface="Arial"/>
              </a:rPr>
            </a:br>
            <a:endParaRPr sz="1000">
              <a:latin typeface="Arial"/>
              <a:ea typeface="Arial"/>
              <a:cs typeface="Arial"/>
              <a:sym typeface="Arial"/>
            </a:endParaRPr>
          </a:p>
          <a:p>
            <a:pPr indent="-292100" lvl="0" marL="457200" rtl="0" algn="l">
              <a:lnSpc>
                <a:spcPct val="100000"/>
              </a:lnSpc>
              <a:spcBef>
                <a:spcPts val="0"/>
              </a:spcBef>
              <a:spcAft>
                <a:spcPts val="0"/>
              </a:spcAft>
              <a:buClr>
                <a:schemeClr val="dk1"/>
              </a:buClr>
              <a:buSzPts val="1000"/>
              <a:buChar char="•"/>
            </a:pPr>
            <a:r>
              <a:rPr lang="en-US" sz="1000">
                <a:latin typeface="Arial"/>
                <a:ea typeface="Arial"/>
                <a:cs typeface="Arial"/>
                <a:sym typeface="Arial"/>
              </a:rPr>
              <a:t>UCTP outputs can take 3 main forms</a:t>
            </a:r>
            <a:endParaRPr sz="1000">
              <a:latin typeface="Arial"/>
              <a:ea typeface="Arial"/>
              <a:cs typeface="Arial"/>
              <a:sym typeface="Arial"/>
            </a:endParaRPr>
          </a:p>
          <a:p>
            <a:pPr indent="-292100" lvl="1" marL="914400" rtl="0" algn="l">
              <a:lnSpc>
                <a:spcPct val="100000"/>
              </a:lnSpc>
              <a:spcBef>
                <a:spcPts val="0"/>
              </a:spcBef>
              <a:spcAft>
                <a:spcPts val="0"/>
              </a:spcAft>
              <a:buClr>
                <a:schemeClr val="dk1"/>
              </a:buClr>
              <a:buSzPts val="1000"/>
              <a:buChar char="•"/>
            </a:pPr>
            <a:r>
              <a:rPr lang="en-US" sz="1000">
                <a:latin typeface="Arial"/>
                <a:ea typeface="Arial"/>
                <a:cs typeface="Arial"/>
                <a:sym typeface="Arial"/>
              </a:rPr>
              <a:t>Correlated Observations</a:t>
            </a:r>
            <a:endParaRPr sz="1000">
              <a:latin typeface="Arial"/>
              <a:ea typeface="Arial"/>
              <a:cs typeface="Arial"/>
              <a:sym typeface="Arial"/>
            </a:endParaRPr>
          </a:p>
          <a:p>
            <a:pPr indent="-292100" lvl="1" marL="914400" rtl="0" algn="l">
              <a:lnSpc>
                <a:spcPct val="100000"/>
              </a:lnSpc>
              <a:spcBef>
                <a:spcPts val="0"/>
              </a:spcBef>
              <a:spcAft>
                <a:spcPts val="0"/>
              </a:spcAft>
              <a:buClr>
                <a:schemeClr val="dk1"/>
              </a:buClr>
              <a:buSzPts val="1000"/>
              <a:buChar char="•"/>
            </a:pPr>
            <a:r>
              <a:rPr lang="en-US" sz="1000">
                <a:latin typeface="Arial"/>
                <a:ea typeface="Arial"/>
                <a:cs typeface="Arial"/>
                <a:sym typeface="Arial"/>
              </a:rPr>
              <a:t>Correlated State Vector</a:t>
            </a:r>
            <a:endParaRPr sz="1000">
              <a:latin typeface="Arial"/>
              <a:ea typeface="Arial"/>
              <a:cs typeface="Arial"/>
              <a:sym typeface="Arial"/>
            </a:endParaRPr>
          </a:p>
          <a:p>
            <a:pPr indent="-292100" lvl="1" marL="914400" rtl="0" algn="l">
              <a:lnSpc>
                <a:spcPct val="100000"/>
              </a:lnSpc>
              <a:spcBef>
                <a:spcPts val="0"/>
              </a:spcBef>
              <a:spcAft>
                <a:spcPts val="0"/>
              </a:spcAft>
              <a:buClr>
                <a:schemeClr val="dk1"/>
              </a:buClr>
              <a:buSzPts val="1000"/>
              <a:buChar char="•"/>
            </a:pPr>
            <a:r>
              <a:rPr lang="en-US" sz="1000">
                <a:latin typeface="Arial"/>
                <a:ea typeface="Arial"/>
                <a:cs typeface="Arial"/>
                <a:sym typeface="Arial"/>
              </a:rPr>
              <a:t>Correlated TLE</a:t>
            </a:r>
            <a:endParaRPr sz="1000">
              <a:latin typeface="Arial"/>
              <a:ea typeface="Arial"/>
              <a:cs typeface="Arial"/>
              <a:sym typeface="Arial"/>
            </a:endParaRPr>
          </a:p>
        </p:txBody>
      </p:sp>
      <p:sp>
        <p:nvSpPr>
          <p:cNvPr id="169" name="Google Shape;169;g3710947e9cf_1_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710947e9cf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g3710947e9cf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9" name="Google Shape;179;g3710947e9cf_0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713fd8d166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g3713fd8d166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713fd8d166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710947e9cf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g3710947e9cf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Basic dataset generation workflow, we first allow the user, whether it is the developer of UCTP or a 3rd party evaluator, to select the desired characteristic of the dataset used to test. There are different options, such as object type, orbital regime, and data quality. We then go find the data that best matches the user-defined specifications, which becomes our reference objects and reference orbits, and perform any data manipulation necessary. If there is too much data and the user desires a sparser dataset, we will selectively downsample the data. If there is too little data, we will simulate observations to achieve the desired result. We will also convert the raw observations to trackTLEs. All of that information is then saved as the benchmark dataset, which is saved in a database. Any one of these datasets is then what is fed into the UCTP.</a:t>
            </a:r>
            <a:endParaRPr/>
          </a:p>
        </p:txBody>
      </p:sp>
      <p:sp>
        <p:nvSpPr>
          <p:cNvPr id="196" name="Google Shape;196;g3710947e9cf_0_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710947e9cf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g3710947e9cf_0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Dataset code is a unique 16 character string encoding the user selected data parameters. </a:t>
            </a:r>
            <a:endParaRPr/>
          </a:p>
        </p:txBody>
      </p:sp>
      <p:sp>
        <p:nvSpPr>
          <p:cNvPr id="204" name="Google Shape;204;g3710947e9cf_0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710947e9cf_1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g3710947e9cf_1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g3710947e9cf_1_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710947e9cf_1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g3710947e9cf_1_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2100" lvl="0" marL="457200" rtl="0" algn="l">
              <a:lnSpc>
                <a:spcPct val="100000"/>
              </a:lnSpc>
              <a:spcBef>
                <a:spcPts val="1000"/>
              </a:spcBef>
              <a:spcAft>
                <a:spcPts val="0"/>
              </a:spcAft>
              <a:buClr>
                <a:schemeClr val="dk1"/>
              </a:buClr>
              <a:buSzPts val="1000"/>
              <a:buChar char="•"/>
            </a:pPr>
            <a:r>
              <a:rPr lang="en-US" sz="1000">
                <a:latin typeface="Arial"/>
                <a:ea typeface="Arial"/>
                <a:cs typeface="Arial"/>
                <a:sym typeface="Arial"/>
              </a:rPr>
              <a:t>Orekit has built-in unit conversion that makes dealing with the different standards seen in the UDL easier</a:t>
            </a:r>
            <a:endParaRPr sz="1000">
              <a:latin typeface="Arial"/>
              <a:ea typeface="Arial"/>
              <a:cs typeface="Arial"/>
              <a:sym typeface="Arial"/>
            </a:endParaRPr>
          </a:p>
        </p:txBody>
      </p:sp>
      <p:sp>
        <p:nvSpPr>
          <p:cNvPr id="222" name="Google Shape;222;g3710947e9cf_1_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710947e9cf_1_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g3710947e9cf_1_1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79400" lvl="1" marL="914400" rtl="0" algn="l">
              <a:lnSpc>
                <a:spcPct val="100000"/>
              </a:lnSpc>
              <a:spcBef>
                <a:spcPts val="500"/>
              </a:spcBef>
              <a:spcAft>
                <a:spcPts val="0"/>
              </a:spcAft>
              <a:buClr>
                <a:schemeClr val="dk1"/>
              </a:buClr>
              <a:buSzPts val="800"/>
              <a:buChar char="•"/>
            </a:pPr>
            <a:r>
              <a:rPr lang="en-US" sz="800">
                <a:latin typeface="Arial"/>
                <a:ea typeface="Arial"/>
                <a:cs typeface="Arial"/>
                <a:sym typeface="Arial"/>
              </a:rPr>
              <a:t>(TEME, GCRF, ITRF, ECEF, TDR, J2000)</a:t>
            </a:r>
            <a:endParaRPr sz="800">
              <a:latin typeface="Arial"/>
              <a:ea typeface="Arial"/>
              <a:cs typeface="Arial"/>
              <a:sym typeface="Arial"/>
            </a:endParaRPr>
          </a:p>
          <a:p>
            <a:pPr indent="-279400" lvl="1" marL="914400" rtl="0" algn="l">
              <a:lnSpc>
                <a:spcPct val="100000"/>
              </a:lnSpc>
              <a:spcBef>
                <a:spcPts val="0"/>
              </a:spcBef>
              <a:spcAft>
                <a:spcPts val="0"/>
              </a:spcAft>
              <a:buClr>
                <a:schemeClr val="dk1"/>
              </a:buClr>
              <a:buSzPts val="800"/>
              <a:buChar char="•"/>
            </a:pPr>
            <a:r>
              <a:rPr lang="en-US" sz="800">
                <a:latin typeface="Arial"/>
                <a:ea typeface="Arial"/>
                <a:cs typeface="Arial"/>
                <a:sym typeface="Arial"/>
              </a:rPr>
              <a:t>(UTC, JD, MJD)</a:t>
            </a:r>
            <a:br>
              <a:rPr lang="en-US" sz="800">
                <a:latin typeface="Arial"/>
                <a:ea typeface="Arial"/>
                <a:cs typeface="Arial"/>
                <a:sym typeface="Arial"/>
              </a:rPr>
            </a:br>
            <a:br>
              <a:rPr lang="en-US" sz="800">
                <a:latin typeface="Arial"/>
                <a:ea typeface="Arial"/>
                <a:cs typeface="Arial"/>
                <a:sym typeface="Arial"/>
              </a:rPr>
            </a:br>
            <a:br>
              <a:rPr lang="en-US" sz="800">
                <a:latin typeface="Arial"/>
                <a:ea typeface="Arial"/>
                <a:cs typeface="Arial"/>
                <a:sym typeface="Arial"/>
              </a:rPr>
            </a:br>
            <a:r>
              <a:rPr lang="en-US" sz="800">
                <a:latin typeface="Arial"/>
                <a:ea typeface="Arial"/>
                <a:cs typeface="Arial"/>
                <a:sym typeface="Arial"/>
              </a:rPr>
              <a:t>All observation data from the UDL are assumed to be in J2000 and UTC time as no other standard has been seen in the UDL </a:t>
            </a:r>
            <a:endParaRPr sz="800"/>
          </a:p>
        </p:txBody>
      </p:sp>
      <p:sp>
        <p:nvSpPr>
          <p:cNvPr id="232" name="Google Shape;232;g3710947e9cf_1_1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710947e9cf_1_1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g3710947e9cf_1_1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g3710947e9cf_1_1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713263bbdd_2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g3713263bbdd_2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Tier conditions: Observation Count, Track Gap, Orbit Coverage</a:t>
            </a:r>
            <a:endParaRPr/>
          </a:p>
        </p:txBody>
      </p:sp>
      <p:sp>
        <p:nvSpPr>
          <p:cNvPr id="250" name="Google Shape;250;g3713263bbdd_2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713263bbdd_2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g3713263bbdd_2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g3713263bbdd_2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710947e9cf_1_1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g3710947e9cf_1_1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8" name="Google Shape;268;g3710947e9cf_1_1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713263bbdd_1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g3713263bbdd_1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8" name="Google Shape;278;g3713263bbdd_1_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713263bbdd_1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g3713263bbdd_1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Similar but opposite to downsampling is simulation. The same way that we downsample data to fit the desired orbital coverage, track gap, and observation count, simulation may also be necessary to fit these specifications. We will take the state vector of the reference orbit and propagate to the observation epoch. Gaussian noise is then added to all three position components, and the inertial position is converted into a RA/dec. We then chose an observatory from a list of observatories that are most common on the UDL to simulate the observation from, and convert the RA/dec to az/el, thus emulating the angles only measurement one could expect from an optical telescope.</a:t>
            </a:r>
            <a:endParaRPr/>
          </a:p>
        </p:txBody>
      </p:sp>
      <p:sp>
        <p:nvSpPr>
          <p:cNvPr id="288" name="Google Shape;288;g3713263bbdd_1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710947e9cf_1_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g3710947e9cf_1_1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2100" lvl="0" marL="457200" rtl="0" algn="l">
              <a:lnSpc>
                <a:spcPct val="100000"/>
              </a:lnSpc>
              <a:spcBef>
                <a:spcPts val="1000"/>
              </a:spcBef>
              <a:spcAft>
                <a:spcPts val="0"/>
              </a:spcAft>
              <a:buClr>
                <a:schemeClr val="dk1"/>
              </a:buClr>
              <a:buSzPts val="1000"/>
              <a:buChar char="•"/>
            </a:pPr>
            <a:r>
              <a:rPr lang="en-US" sz="1000">
                <a:latin typeface="Arial"/>
                <a:ea typeface="Arial"/>
                <a:cs typeface="Arial"/>
                <a:sym typeface="Arial"/>
              </a:rPr>
              <a:t>uncorrelated TLEs made from uncorrelated Tracks from one observatory</a:t>
            </a:r>
            <a:endParaRPr sz="1000">
              <a:latin typeface="Arial"/>
              <a:ea typeface="Arial"/>
              <a:cs typeface="Arial"/>
              <a:sym typeface="Arial"/>
            </a:endParaRPr>
          </a:p>
          <a:p>
            <a:pPr indent="-292100" lvl="0" marL="457200" rtl="0" algn="l">
              <a:lnSpc>
                <a:spcPct val="100000"/>
              </a:lnSpc>
              <a:spcBef>
                <a:spcPts val="0"/>
              </a:spcBef>
              <a:spcAft>
                <a:spcPts val="0"/>
              </a:spcAft>
              <a:buClr>
                <a:schemeClr val="dk1"/>
              </a:buClr>
              <a:buSzPts val="1000"/>
              <a:buFont typeface="Arial"/>
              <a:buChar char="•"/>
            </a:pPr>
            <a:r>
              <a:rPr lang="en-US" sz="1000">
                <a:latin typeface="Arial"/>
                <a:ea typeface="Arial"/>
                <a:cs typeface="Arial"/>
                <a:sym typeface="Arial"/>
              </a:rPr>
              <a:t>High accuracy from multiple Observers</a:t>
            </a:r>
            <a:endParaRPr sz="1000">
              <a:latin typeface="Arial"/>
              <a:ea typeface="Arial"/>
              <a:cs typeface="Arial"/>
              <a:sym typeface="Arial"/>
            </a:endParaRPr>
          </a:p>
          <a:p>
            <a:pPr indent="-292100" lvl="0" marL="457200" rtl="0" algn="l">
              <a:lnSpc>
                <a:spcPct val="100000"/>
              </a:lnSpc>
              <a:spcBef>
                <a:spcPts val="0"/>
              </a:spcBef>
              <a:spcAft>
                <a:spcPts val="0"/>
              </a:spcAft>
              <a:buClr>
                <a:schemeClr val="dk1"/>
              </a:buClr>
              <a:buSzPts val="1000"/>
              <a:buFont typeface="Arial"/>
              <a:buChar char="•"/>
            </a:pPr>
            <a:r>
              <a:t/>
            </a:r>
            <a:endParaRPr sz="1000">
              <a:latin typeface="Arial"/>
              <a:ea typeface="Arial"/>
              <a:cs typeface="Arial"/>
              <a:sym typeface="Arial"/>
            </a:endParaRPr>
          </a:p>
        </p:txBody>
      </p:sp>
      <p:sp>
        <p:nvSpPr>
          <p:cNvPr id="299" name="Google Shape;299;g3710947e9cf_1_1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713263bbdd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g3713263bbdd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9" name="Google Shape;309;g3713263bbdd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710947e9cf_1_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g3710947e9cf_1_1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457200" rtl="0" algn="l">
              <a:lnSpc>
                <a:spcPct val="100000"/>
              </a:lnSpc>
              <a:spcBef>
                <a:spcPts val="1000"/>
              </a:spcBef>
              <a:spcAft>
                <a:spcPts val="0"/>
              </a:spcAft>
              <a:buSzPts val="1400"/>
              <a:buNone/>
            </a:pPr>
            <a:r>
              <a:rPr lang="en-US" sz="1000">
                <a:latin typeface="Arial"/>
                <a:ea typeface="Arial"/>
                <a:cs typeface="Arial"/>
                <a:sym typeface="Arial"/>
              </a:rPr>
              <a:t>Utilizing Pandas Dataframes</a:t>
            </a:r>
            <a:endParaRPr sz="1000">
              <a:latin typeface="Arial"/>
              <a:ea typeface="Arial"/>
              <a:cs typeface="Arial"/>
              <a:sym typeface="Arial"/>
            </a:endParaRPr>
          </a:p>
          <a:p>
            <a:pPr indent="0" lvl="0" marL="457200" rtl="0" algn="l">
              <a:lnSpc>
                <a:spcPct val="100000"/>
              </a:lnSpc>
              <a:spcBef>
                <a:spcPts val="1000"/>
              </a:spcBef>
              <a:spcAft>
                <a:spcPts val="0"/>
              </a:spcAft>
              <a:buSzPts val="1400"/>
              <a:buNone/>
            </a:pPr>
            <a:r>
              <a:t/>
            </a:r>
            <a:endParaRPr sz="1000">
              <a:latin typeface="Arial"/>
              <a:ea typeface="Arial"/>
              <a:cs typeface="Arial"/>
              <a:sym typeface="Arial"/>
            </a:endParaRPr>
          </a:p>
        </p:txBody>
      </p:sp>
      <p:sp>
        <p:nvSpPr>
          <p:cNvPr id="319" name="Google Shape;319;g3710947e9cf_1_1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710947e9cf_1_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g3710947e9cf_1_1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g3710947e9cf_1_1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710947e9cf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g3710947e9cf_0_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segue into force model</a:t>
            </a:r>
            <a:endParaRPr/>
          </a:p>
        </p:txBody>
      </p:sp>
      <p:sp>
        <p:nvSpPr>
          <p:cNvPr id="338" name="Google Shape;338;g3710947e9cf_0_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710947e9cf_1_1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g3710947e9cf_1_1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g3710947e9cf_1_1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713263bbdd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g3713263bbdd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g3713263bbdd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7181be29d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 name="Google Shape;365;g37181be29d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MILES STARTS</a:t>
            </a:r>
            <a:endParaRPr/>
          </a:p>
        </p:txBody>
      </p:sp>
      <p:sp>
        <p:nvSpPr>
          <p:cNvPr id="366" name="Google Shape;366;g37181be29d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713263bbdd_1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g3713263bbdd_1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g3713263bbdd_1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713263bbdd_1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g3713263bbdd_1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400"/>
              <a:buNone/>
            </a:pPr>
            <a:r>
              <a:rPr lang="en-US" sz="1100">
                <a:latin typeface="Arial"/>
                <a:ea typeface="Arial"/>
                <a:cs typeface="Arial"/>
                <a:sym typeface="Arial"/>
              </a:rPr>
              <a:t>Observations can be classified in one of four categories, depending on if they were associated correctly or incorrectly. A True positive is when an observation is correctly associated with the appropriate reference object. A true negative is when an observation is correctly not associated with any reference object. A False positive is when an observation is incorrectly associated with a reference object, and a false negative is when an observation is incorrectly not associated with any reference object.</a:t>
            </a:r>
            <a:endParaRPr sz="1100">
              <a:latin typeface="Arial"/>
              <a:ea typeface="Arial"/>
              <a:cs typeface="Arial"/>
              <a:sym typeface="Arial"/>
            </a:endParaRPr>
          </a:p>
          <a:p>
            <a:pPr indent="0" lvl="0" marL="0" rtl="0" algn="l">
              <a:lnSpc>
                <a:spcPct val="115000"/>
              </a:lnSpc>
              <a:spcBef>
                <a:spcPts val="1200"/>
              </a:spcBef>
              <a:spcAft>
                <a:spcPts val="0"/>
              </a:spcAft>
              <a:buSzPts val="1400"/>
              <a:buNone/>
            </a:pPr>
            <a:r>
              <a:t/>
            </a:r>
            <a:endParaRPr b="1" sz="1100">
              <a:latin typeface="Arial"/>
              <a:ea typeface="Arial"/>
              <a:cs typeface="Arial"/>
              <a:sym typeface="Arial"/>
            </a:endParaRPr>
          </a:p>
          <a:p>
            <a:pPr indent="-298450" lvl="0" marL="9144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True Positive (TP):</a:t>
            </a:r>
            <a:r>
              <a:rPr lang="en-US" sz="1100">
                <a:latin typeface="Arial"/>
                <a:ea typeface="Arial"/>
                <a:cs typeface="Arial"/>
                <a:sym typeface="Arial"/>
              </a:rPr>
              <a:t> Observation or TrackTLE belongs to both the Candidate Orbit and the Reference Orbit to which it has been associated </a:t>
            </a:r>
            <a:endParaRPr sz="1100">
              <a:latin typeface="Arial"/>
              <a:ea typeface="Arial"/>
              <a:cs typeface="Arial"/>
              <a:sym typeface="Arial"/>
            </a:endParaRPr>
          </a:p>
          <a:p>
            <a:pPr indent="-298450" lvl="0"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True Negative (TN):</a:t>
            </a:r>
            <a:r>
              <a:rPr lang="en-US" sz="1100">
                <a:latin typeface="Arial"/>
                <a:ea typeface="Arial"/>
                <a:cs typeface="Arial"/>
                <a:sym typeface="Arial"/>
              </a:rPr>
              <a:t> Observation or TrackTLE does not belong to any Candidate Orbit or Reference Orbit</a:t>
            </a:r>
            <a:endParaRPr sz="1100">
              <a:latin typeface="Arial"/>
              <a:ea typeface="Arial"/>
              <a:cs typeface="Arial"/>
              <a:sym typeface="Arial"/>
            </a:endParaRPr>
          </a:p>
          <a:p>
            <a:pPr indent="-298450" lvl="0"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False Positive (FP):</a:t>
            </a:r>
            <a:r>
              <a:rPr lang="en-US" sz="1100">
                <a:latin typeface="Arial"/>
                <a:ea typeface="Arial"/>
                <a:cs typeface="Arial"/>
                <a:sym typeface="Arial"/>
              </a:rPr>
              <a:t> Observation or TrackTLE belongs to a Candidate Orbit but not the Reference Orbit to which it has been associated</a:t>
            </a:r>
            <a:endParaRPr sz="1100">
              <a:latin typeface="Arial"/>
              <a:ea typeface="Arial"/>
              <a:cs typeface="Arial"/>
              <a:sym typeface="Arial"/>
            </a:endParaRPr>
          </a:p>
          <a:p>
            <a:pPr indent="-298450" lvl="0"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False Negative (FN):</a:t>
            </a:r>
            <a:r>
              <a:rPr lang="en-US" sz="1100">
                <a:latin typeface="Arial"/>
                <a:ea typeface="Arial"/>
                <a:cs typeface="Arial"/>
                <a:sym typeface="Arial"/>
              </a:rPr>
              <a:t> Observation or TrackTLE does not belong to a Candidate Orbit but does belong to the Reference Orbit to which it has been associated</a:t>
            </a:r>
            <a:endParaRPr sz="1100">
              <a:latin typeface="Arial"/>
              <a:ea typeface="Arial"/>
              <a:cs typeface="Arial"/>
              <a:sym typeface="Arial"/>
            </a:endParaRPr>
          </a:p>
          <a:p>
            <a:pPr indent="0" lvl="0" marL="0" rtl="0" algn="l">
              <a:lnSpc>
                <a:spcPct val="115000"/>
              </a:lnSpc>
              <a:spcBef>
                <a:spcPts val="1200"/>
              </a:spcBef>
              <a:spcAft>
                <a:spcPts val="0"/>
              </a:spcAft>
              <a:buSzPts val="1400"/>
              <a:buNone/>
            </a:pPr>
            <a:r>
              <a:rPr lang="en-US" sz="1100">
                <a:latin typeface="Arial"/>
                <a:ea typeface="Arial"/>
                <a:cs typeface="Arial"/>
                <a:sym typeface="Arial"/>
              </a:rPr>
              <a:t>Compare The Observations/TrackTLEs associated by the UCTP</a:t>
            </a:r>
            <a:endParaRPr sz="1100">
              <a:latin typeface="Arial"/>
              <a:ea typeface="Arial"/>
              <a:cs typeface="Arial"/>
              <a:sym typeface="Arial"/>
            </a:endParaRPr>
          </a:p>
          <a:p>
            <a:pPr indent="0" lvl="0" marL="0" rtl="0" algn="l">
              <a:lnSpc>
                <a:spcPct val="115000"/>
              </a:lnSpc>
              <a:spcBef>
                <a:spcPts val="1200"/>
              </a:spcBef>
              <a:spcAft>
                <a:spcPts val="0"/>
              </a:spcAft>
              <a:buSzPts val="1400"/>
              <a:buNone/>
            </a:pPr>
            <a:r>
              <a:rPr lang="en-US" sz="1100">
                <a:latin typeface="Arial"/>
                <a:ea typeface="Arial"/>
                <a:cs typeface="Arial"/>
                <a:sym typeface="Arial"/>
              </a:rPr>
              <a:t>Leads to many more secondary values used to classify the results:</a:t>
            </a:r>
            <a:endParaRPr sz="1100">
              <a:latin typeface="Arial"/>
              <a:ea typeface="Arial"/>
              <a:cs typeface="Arial"/>
              <a:sym typeface="Arial"/>
            </a:endParaRPr>
          </a:p>
          <a:p>
            <a:pPr indent="0" lvl="0" marL="0" rtl="0" algn="l">
              <a:lnSpc>
                <a:spcPct val="115000"/>
              </a:lnSpc>
              <a:spcBef>
                <a:spcPts val="1200"/>
              </a:spcBef>
              <a:spcAft>
                <a:spcPts val="0"/>
              </a:spcAft>
              <a:buSzPts val="1400"/>
              <a:buNone/>
            </a:pPr>
            <a:r>
              <a:rPr b="1" lang="en-US" sz="1100">
                <a:latin typeface="Arial"/>
                <a:ea typeface="Arial"/>
                <a:cs typeface="Arial"/>
                <a:sym typeface="Arial"/>
              </a:rPr>
              <a:t>F1 Score</a:t>
            </a:r>
            <a:endParaRPr sz="1100">
              <a:latin typeface="Arial"/>
              <a:ea typeface="Arial"/>
              <a:cs typeface="Arial"/>
              <a:sym typeface="Arial"/>
            </a:endParaRPr>
          </a:p>
          <a:p>
            <a:pPr indent="0" lvl="0" marL="0" rtl="0" algn="l">
              <a:lnSpc>
                <a:spcPct val="115000"/>
              </a:lnSpc>
              <a:spcBef>
                <a:spcPts val="1200"/>
              </a:spcBef>
              <a:spcAft>
                <a:spcPts val="0"/>
              </a:spcAft>
              <a:buSzPts val="1400"/>
              <a:buNone/>
            </a:pPr>
            <a:r>
              <a:rPr b="1" lang="en-US" sz="1100">
                <a:latin typeface="Arial"/>
                <a:ea typeface="Arial"/>
                <a:cs typeface="Arial"/>
                <a:sym typeface="Arial"/>
              </a:rPr>
              <a:t>Cohen’s Kappa Coefficient</a:t>
            </a:r>
            <a:endParaRPr b="1" sz="1100">
              <a:latin typeface="Arial"/>
              <a:ea typeface="Arial"/>
              <a:cs typeface="Arial"/>
              <a:sym typeface="Arial"/>
            </a:endParaRPr>
          </a:p>
          <a:p>
            <a:pPr indent="0" lvl="0" marL="0" rtl="0" algn="l">
              <a:lnSpc>
                <a:spcPct val="115000"/>
              </a:lnSpc>
              <a:spcBef>
                <a:spcPts val="1200"/>
              </a:spcBef>
              <a:spcAft>
                <a:spcPts val="0"/>
              </a:spcAft>
              <a:buSzPts val="1400"/>
              <a:buNone/>
            </a:pPr>
            <a:r>
              <a:rPr b="1" lang="en-US" sz="1100">
                <a:latin typeface="Arial"/>
                <a:ea typeface="Arial"/>
                <a:cs typeface="Arial"/>
                <a:sym typeface="Arial"/>
              </a:rPr>
              <a:t>Matthews Correlation Coefficient</a:t>
            </a:r>
            <a:endParaRPr sz="1100">
              <a:latin typeface="Arial"/>
              <a:ea typeface="Arial"/>
              <a:cs typeface="Arial"/>
              <a:sym typeface="Arial"/>
            </a:endParaRPr>
          </a:p>
          <a:p>
            <a:pPr indent="0" lvl="0" marL="0" rtl="0" algn="l">
              <a:lnSpc>
                <a:spcPct val="115000"/>
              </a:lnSpc>
              <a:spcBef>
                <a:spcPts val="1200"/>
              </a:spcBef>
              <a:spcAft>
                <a:spcPts val="1200"/>
              </a:spcAft>
              <a:buSzPts val="1400"/>
              <a:buNone/>
            </a:pPr>
            <a:r>
              <a:t/>
            </a:r>
            <a:endParaRPr sz="1100">
              <a:latin typeface="Arial"/>
              <a:ea typeface="Arial"/>
              <a:cs typeface="Arial"/>
              <a:sym typeface="Arial"/>
            </a:endParaRPr>
          </a:p>
        </p:txBody>
      </p:sp>
      <p:sp>
        <p:nvSpPr>
          <p:cNvPr id="385" name="Google Shape;385;g3713263bbdd_1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710947e9cf_1_2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g3710947e9cf_1_2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5" name="Google Shape;395;g3710947e9cf_1_2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6f91376560_1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g36f91376560_1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4" name="Google Shape;404;g36f91376560_1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710947e9cf_1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g3710947e9cf_1_1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4" name="Google Shape;414;g3710947e9cf_1_1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710947e9cf_1_2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0" name="Google Shape;420;g3710947e9cf_1_2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current trakcTLE generation algorithm is computationally expensive, could propaby be made more efficient</a:t>
            </a:r>
            <a:endParaRPr/>
          </a:p>
          <a:p>
            <a:pPr indent="0" lvl="0" marL="0" rtl="0" algn="l">
              <a:lnSpc>
                <a:spcPct val="100000"/>
              </a:lnSpc>
              <a:spcBef>
                <a:spcPts val="0"/>
              </a:spcBef>
              <a:spcAft>
                <a:spcPts val="0"/>
              </a:spcAft>
              <a:buSzPts val="1400"/>
              <a:buNone/>
            </a:pPr>
            <a:r>
              <a:rPr lang="en-US"/>
              <a:t>Add additional object types - close apparent position/ close apparent magnitude</a:t>
            </a:r>
            <a:endParaRPr/>
          </a:p>
          <a:p>
            <a:pPr indent="0" lvl="0" marL="0" rtl="0" algn="l">
              <a:lnSpc>
                <a:spcPct val="100000"/>
              </a:lnSpc>
              <a:spcBef>
                <a:spcPts val="0"/>
              </a:spcBef>
              <a:spcAft>
                <a:spcPts val="0"/>
              </a:spcAft>
              <a:buSzPts val="1400"/>
              <a:buNone/>
            </a:pPr>
            <a:r>
              <a:rPr lang="en-US"/>
              <a:t>More realistic noise conditions for simulation - USAFA cadet working with us did some great research into physically realistic sources of uncertainty of EO Obs, has not yet been integrated into our existing simulation architecture</a:t>
            </a:r>
            <a:endParaRPr/>
          </a:p>
          <a:p>
            <a:pPr indent="0" lvl="0" marL="0" rtl="0" algn="l">
              <a:lnSpc>
                <a:spcPct val="100000"/>
              </a:lnSpc>
              <a:spcBef>
                <a:spcPts val="0"/>
              </a:spcBef>
              <a:spcAft>
                <a:spcPts val="0"/>
              </a:spcAft>
              <a:buSzPts val="1400"/>
              <a:buNone/>
            </a:pPr>
            <a:r>
              <a:rPr lang="en-US"/>
              <a:t>Verification data from UCTPs</a:t>
            </a:r>
            <a:endParaRPr/>
          </a:p>
        </p:txBody>
      </p:sp>
      <p:sp>
        <p:nvSpPr>
          <p:cNvPr id="421" name="Google Shape;421;g3710947e9cf_1_2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6f91376560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g36f91376560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We are rigorously documenting or processes, research challenges, and future research plans in a transition document to pass off to whomever would like to improve on this process after our internship ends. A brief summary of what is left to be implemented includes: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 internship group sponsored by the DIU working alongside us has been working on curating a labeled database of events of interest to the space community, such as attitude changes, orbital maneuvers, proximity events, breakup events, and more. We need to integrate these two projects to allow for a framework to benchmark UCTPs that can accurately identify these types of events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Implement specific object types of interest that have proven difficult for UCTPs, such as objects with close apparent position or similar visual magnitude.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Currently all of our code is being run on local machines, we need to migrate our code base to run on remote servers or cloud commute resources so it can be more accessible.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LLNL has a front-end UI (need to get specifics of this)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Once the pipeline is fully automated and integrated with a UI, it needs to be advertised to academia and industry partners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431" name="Google Shape;431;g36f91376560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71d208b708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g371d208b708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Google Deep Mind has developed a new AI agent for optimizing coding applications through an iterative process of querying LLM models via API based on a user defined prompt to suggest improvements to a given function. The suggested improvements are then evaluated against some user-defined scoring metrics to determine whether improvements were actually made, and the best function at every iteration is saved to be the new target of improvement. After many iterations of manipulation and evaluation, an optimized ‘best program’ is output by the software. Google Deep Mind has already demonstrated success with AlphaEvolve, improving current state-of-the-art for certain classes of matrix multiplication algorithms.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There is an open-source version of AlphaEvolve, called OpenEvolve, which works in a very similar way. It is intended to use our benchmarking and evaluation pipeline in the evaluation function required by the OpenEvolve architecture and attempt to iterate on existing UCTP algorithms to identify areas of improvement for current state-of-the-art to enhance SDA capabilities.</a:t>
            </a:r>
            <a:endParaRPr/>
          </a:p>
        </p:txBody>
      </p:sp>
      <p:sp>
        <p:nvSpPr>
          <p:cNvPr id="439" name="Google Shape;439;g371d208b708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710947e9cf_0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g3710947e9cf_0_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8" name="Google Shape;448;g3710947e9cf_0_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710947e9cf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g3710947e9cf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g3710947e9cf_0_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73e5a908b0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g373e5a908b0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0"/>
              </a:spcBef>
              <a:spcAft>
                <a:spcPts val="0"/>
              </a:spcAft>
              <a:buSzPts val="1800"/>
              <a:buChar char="●"/>
            </a:pPr>
            <a:r>
              <a:rPr lang="en-US" sz="1600"/>
              <a:t>Finding ground truth in space is very hard to do for a multitude of reasons; noisy sensor data, fragmentation of observations and reporting, data silos and confidentiality, lack of standardization and continuity of defining space events. If we intend to tackle the characterization, detection, and classification of space events using machine learning, finding a way to derive some truth from the ground truth data we do have is essential.</a:t>
            </a:r>
            <a:endParaRPr sz="1600"/>
          </a:p>
          <a:p>
            <a:pPr indent="-342900" lvl="0" marL="457200" rtl="0" algn="l">
              <a:lnSpc>
                <a:spcPct val="100000"/>
              </a:lnSpc>
              <a:spcBef>
                <a:spcPts val="0"/>
              </a:spcBef>
              <a:spcAft>
                <a:spcPts val="0"/>
              </a:spcAft>
              <a:buSzPts val="1800"/>
              <a:buChar char="●"/>
            </a:pPr>
            <a:r>
              <a:rPr lang="en-US" sz="1600"/>
              <a:t>NOTSOs (Notice to Space Operators) are notifications from the Joint Commercial Operations that state when a known entity or entities has done something; made a maneuver, executed a rendezvous, created a breakup, launched from from a particular site. Right now this one of the most reliable sources reporting events that happen in space.</a:t>
            </a:r>
            <a:endParaRPr sz="1600"/>
          </a:p>
          <a:p>
            <a:pPr indent="-342900" lvl="0" marL="457200" rtl="0" algn="l">
              <a:lnSpc>
                <a:spcPct val="100000"/>
              </a:lnSpc>
              <a:spcBef>
                <a:spcPts val="0"/>
              </a:spcBef>
              <a:spcAft>
                <a:spcPts val="0"/>
              </a:spcAft>
              <a:buSzPts val="1800"/>
              <a:buChar char="●"/>
            </a:pPr>
            <a:r>
              <a:rPr lang="en-US" sz="1600"/>
              <a:t>The problem is that these notifications are text-heavy, human-entered, semantically-rich and have a large amount of variance in how each type of event is reported over time, and is most likely to change in the future.</a:t>
            </a:r>
            <a:endParaRPr sz="1600"/>
          </a:p>
          <a:p>
            <a:pPr indent="-342900" lvl="0" marL="457200" rtl="0" algn="l">
              <a:lnSpc>
                <a:spcPct val="100000"/>
              </a:lnSpc>
              <a:spcBef>
                <a:spcPts val="0"/>
              </a:spcBef>
              <a:spcAft>
                <a:spcPts val="0"/>
              </a:spcAft>
              <a:buSzPts val="1800"/>
              <a:buChar char="●"/>
            </a:pPr>
            <a:r>
              <a:rPr lang="en-US" sz="1600"/>
              <a:t>Our pipeline uses a combination of natural language processing (text classification) and software engineering to extract insights from the text-heavy event such as date/times, satellite numbers an provides the event with one of the 82 space event labels curated by subject matter experts the space domain.</a:t>
            </a:r>
            <a:endParaRPr sz="1600"/>
          </a:p>
          <a:p>
            <a:pPr indent="-342900" lvl="0" marL="457200" rtl="0" algn="l">
              <a:lnSpc>
                <a:spcPct val="100000"/>
              </a:lnSpc>
              <a:spcBef>
                <a:spcPts val="0"/>
              </a:spcBef>
              <a:spcAft>
                <a:spcPts val="0"/>
              </a:spcAft>
              <a:buSzPts val="1800"/>
              <a:buChar char="●"/>
            </a:pPr>
            <a:r>
              <a:rPr lang="en-US" sz="1600"/>
              <a:t>From there we are able to build a time window around that event which is used to gather observation data that will assist in contextualizing the event. All of this data is then packaged and formatted for space operators.</a:t>
            </a:r>
            <a:endParaRPr sz="1600"/>
          </a:p>
          <a:p>
            <a:pPr indent="-342900" lvl="0" marL="457200" rtl="0" algn="l">
              <a:lnSpc>
                <a:spcPct val="100000"/>
              </a:lnSpc>
              <a:spcBef>
                <a:spcPts val="0"/>
              </a:spcBef>
              <a:spcAft>
                <a:spcPts val="0"/>
              </a:spcAft>
              <a:buSzPts val="1800"/>
              <a:buChar char="●"/>
            </a:pPr>
            <a:r>
              <a:rPr lang="en-US" sz="1600"/>
              <a:t>The value of this is that future engineers now have labeled ground truth data which can be used train algorithms to characterize, classify, and detect events in space.</a:t>
            </a:r>
            <a:endParaRPr sz="1600"/>
          </a:p>
          <a:p>
            <a:pPr indent="-330200" lvl="0" marL="457200" rtl="0" algn="l">
              <a:lnSpc>
                <a:spcPct val="100000"/>
              </a:lnSpc>
              <a:spcBef>
                <a:spcPts val="0"/>
              </a:spcBef>
              <a:spcAft>
                <a:spcPts val="0"/>
              </a:spcAft>
              <a:buSzPts val="1600"/>
              <a:buChar char="●"/>
            </a:pPr>
            <a:r>
              <a:rPr lang="en-US" sz="1600"/>
              <a:t>My team will be giving a full length presentation on this topic August 6th if you are interested in learning more about the project</a:t>
            </a:r>
            <a:endParaRPr sz="1600"/>
          </a:p>
        </p:txBody>
      </p:sp>
      <p:sp>
        <p:nvSpPr>
          <p:cNvPr id="463" name="Google Shape;463;g373e5a908b0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image" Target="../media/image13.png"/><Relationship Id="rId5"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jpg"/><Relationship Id="rId3" Type="http://schemas.openxmlformats.org/officeDocument/2006/relationships/image" Target="../media/image14.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image" Target="../media/image8.png"/><Relationship Id="rId6"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12"/>
          <p:cNvSpPr txBox="1"/>
          <p:nvPr>
            <p:ph type="ctrTitle"/>
          </p:nvPr>
        </p:nvSpPr>
        <p:spPr>
          <a:xfrm>
            <a:off x="510396" y="2907101"/>
            <a:ext cx="11171208" cy="1570003"/>
          </a:xfrm>
          <a:prstGeom prst="rect">
            <a:avLst/>
          </a:prstGeom>
          <a:noFill/>
          <a:ln>
            <a:noFill/>
          </a:ln>
        </p:spPr>
        <p:txBody>
          <a:bodyPr anchorCtr="0" anchor="ctr" bIns="45700" lIns="0" spcFirstLastPara="1" rIns="0" wrap="square" tIns="45700">
            <a:normAutofit/>
          </a:bodyPr>
          <a:lstStyle>
            <a:lvl1pPr lvl="0" algn="ctr">
              <a:lnSpc>
                <a:spcPct val="90000"/>
              </a:lnSpc>
              <a:spcBef>
                <a:spcPts val="0"/>
              </a:spcBef>
              <a:spcAft>
                <a:spcPts val="0"/>
              </a:spcAft>
              <a:buClr>
                <a:srgbClr val="F8F8F8"/>
              </a:buClr>
              <a:buSzPts val="4400"/>
              <a:buFont typeface="Arial"/>
              <a:buNone/>
              <a:defRPr sz="4400">
                <a:solidFill>
                  <a:srgbClr val="F8F8F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 type="body"/>
          </p:nvPr>
        </p:nvSpPr>
        <p:spPr>
          <a:xfrm>
            <a:off x="871987" y="4792110"/>
            <a:ext cx="10448026" cy="714058"/>
          </a:xfrm>
          <a:prstGeom prst="rect">
            <a:avLst/>
          </a:prstGeom>
          <a:noFill/>
          <a:ln>
            <a:noFill/>
          </a:ln>
        </p:spPr>
        <p:txBody>
          <a:bodyPr anchorCtr="0" anchor="t" bIns="45700" lIns="91425" spcFirstLastPara="1" rIns="91425" wrap="square" tIns="45700">
            <a:normAutofit/>
          </a:bodyPr>
          <a:lstStyle>
            <a:lvl1pPr indent="-228600" lvl="0" marL="457200" algn="ctr">
              <a:lnSpc>
                <a:spcPct val="150000"/>
              </a:lnSpc>
              <a:spcBef>
                <a:spcPts val="1000"/>
              </a:spcBef>
              <a:spcAft>
                <a:spcPts val="0"/>
              </a:spcAft>
              <a:buClr>
                <a:schemeClr val="lt1"/>
              </a:buClr>
              <a:buSzPts val="1200"/>
              <a:buNone/>
              <a:defRPr b="0" sz="1200">
                <a:solidFill>
                  <a:schemeClr val="lt1"/>
                </a:solidFill>
                <a:latin typeface="Arial"/>
                <a:ea typeface="Arial"/>
                <a:cs typeface="Arial"/>
                <a:sym typeface="Arial"/>
              </a:defRPr>
            </a:lvl1pPr>
            <a:lvl2pPr indent="-228600" lvl="1" marL="914400" algn="ctr">
              <a:lnSpc>
                <a:spcPct val="90000"/>
              </a:lnSpc>
              <a:spcBef>
                <a:spcPts val="500"/>
              </a:spcBef>
              <a:spcAft>
                <a:spcPts val="0"/>
              </a:spcAft>
              <a:buClr>
                <a:schemeClr val="dk1"/>
              </a:buClr>
              <a:buSzPts val="1600"/>
              <a:buNone/>
              <a:defRPr/>
            </a:lvl2pPr>
            <a:lvl3pPr indent="-228600" lvl="2" marL="1371600" algn="ctr">
              <a:lnSpc>
                <a:spcPct val="90000"/>
              </a:lnSpc>
              <a:spcBef>
                <a:spcPts val="500"/>
              </a:spcBef>
              <a:spcAft>
                <a:spcPts val="0"/>
              </a:spcAft>
              <a:buClr>
                <a:schemeClr val="dk1"/>
              </a:buClr>
              <a:buSzPts val="1600"/>
              <a:buNone/>
              <a:defRPr/>
            </a:lvl3pPr>
            <a:lvl4pPr indent="-228600" lvl="3" marL="1828800" algn="ctr">
              <a:lnSpc>
                <a:spcPct val="90000"/>
              </a:lnSpc>
              <a:spcBef>
                <a:spcPts val="500"/>
              </a:spcBef>
              <a:spcAft>
                <a:spcPts val="0"/>
              </a:spcAft>
              <a:buClr>
                <a:schemeClr val="dk1"/>
              </a:buClr>
              <a:buSzPts val="1600"/>
              <a:buNone/>
              <a:defRPr/>
            </a:lvl4pPr>
            <a:lvl5pPr indent="-228600" lvl="4" marL="2286000" algn="ctr">
              <a:lnSpc>
                <a:spcPct val="90000"/>
              </a:lnSpc>
              <a:spcBef>
                <a:spcPts val="500"/>
              </a:spcBef>
              <a:spcAft>
                <a:spcPts val="0"/>
              </a:spcAft>
              <a:buClr>
                <a:schemeClr val="dk1"/>
              </a:buClr>
              <a:buSzPts val="16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8" name="Google Shape;18;p12"/>
          <p:cNvCxnSpPr/>
          <p:nvPr/>
        </p:nvCxnSpPr>
        <p:spPr>
          <a:xfrm>
            <a:off x="914400" y="6297039"/>
            <a:ext cx="10363200" cy="0"/>
          </a:xfrm>
          <a:prstGeom prst="straightConnector1">
            <a:avLst/>
          </a:prstGeom>
          <a:noFill/>
          <a:ln cap="flat" cmpd="sng" w="9525">
            <a:solidFill>
              <a:schemeClr val="lt1"/>
            </a:solidFill>
            <a:prstDash val="solid"/>
            <a:miter lim="800000"/>
            <a:headEnd len="sm" w="sm" type="none"/>
            <a:tailEnd len="sm" w="sm" type="none"/>
          </a:ln>
        </p:spPr>
      </p:cxnSp>
      <p:sp>
        <p:nvSpPr>
          <p:cNvPr id="19" name="Google Shape;19;p12"/>
          <p:cNvSpPr txBox="1"/>
          <p:nvPr>
            <p:ph idx="2" type="body"/>
          </p:nvPr>
        </p:nvSpPr>
        <p:spPr>
          <a:xfrm>
            <a:off x="7778423" y="6583680"/>
            <a:ext cx="3324969" cy="15044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lt1"/>
              </a:buClr>
              <a:buSzPts val="450"/>
              <a:buNone/>
              <a:defRPr sz="450">
                <a:solidFill>
                  <a:schemeClr val="lt1"/>
                </a:solidFill>
              </a:defRPr>
            </a:lvl1pPr>
            <a:lvl2pPr indent="-228600" lvl="1" marL="914400" algn="l">
              <a:lnSpc>
                <a:spcPct val="90000"/>
              </a:lnSpc>
              <a:spcBef>
                <a:spcPts val="500"/>
              </a:spcBef>
              <a:spcAft>
                <a:spcPts val="0"/>
              </a:spcAft>
              <a:buClr>
                <a:schemeClr val="dk1"/>
              </a:buClr>
              <a:buSzPts val="750"/>
              <a:buNone/>
              <a:defRPr sz="750"/>
            </a:lvl2pPr>
            <a:lvl3pPr indent="-228600" lvl="2" marL="1371600" algn="l">
              <a:lnSpc>
                <a:spcPct val="90000"/>
              </a:lnSpc>
              <a:spcBef>
                <a:spcPts val="500"/>
              </a:spcBef>
              <a:spcAft>
                <a:spcPts val="0"/>
              </a:spcAft>
              <a:buClr>
                <a:schemeClr val="dk1"/>
              </a:buClr>
              <a:buSzPts val="750"/>
              <a:buNone/>
              <a:defRPr sz="750"/>
            </a:lvl3pPr>
            <a:lvl4pPr indent="-228600" lvl="3" marL="1828800" algn="l">
              <a:lnSpc>
                <a:spcPct val="90000"/>
              </a:lnSpc>
              <a:spcBef>
                <a:spcPts val="500"/>
              </a:spcBef>
              <a:spcAft>
                <a:spcPts val="0"/>
              </a:spcAft>
              <a:buClr>
                <a:schemeClr val="dk1"/>
              </a:buClr>
              <a:buSzPts val="750"/>
              <a:buNone/>
              <a:defRPr sz="750"/>
            </a:lvl4pPr>
            <a:lvl5pPr indent="-228600" lvl="4" marL="2286000" algn="l">
              <a:lnSpc>
                <a:spcPct val="90000"/>
              </a:lnSpc>
              <a:spcBef>
                <a:spcPts val="500"/>
              </a:spcBef>
              <a:spcAft>
                <a:spcPts val="0"/>
              </a:spcAft>
              <a:buClr>
                <a:schemeClr val="dk1"/>
              </a:buClr>
              <a:buSzPts val="750"/>
              <a:buNone/>
              <a:defRPr sz="75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0" name="Google Shape;20;p12"/>
          <p:cNvPicPr preferRelativeResize="0"/>
          <p:nvPr/>
        </p:nvPicPr>
        <p:blipFill rotWithShape="1">
          <a:blip r:embed="rId3">
            <a:alphaModFix/>
          </a:blip>
          <a:srcRect b="0" l="7679" r="7679" t="0"/>
          <a:stretch/>
        </p:blipFill>
        <p:spPr>
          <a:xfrm>
            <a:off x="944014" y="479055"/>
            <a:ext cx="1258747" cy="1143000"/>
          </a:xfrm>
          <a:prstGeom prst="rect">
            <a:avLst/>
          </a:prstGeom>
          <a:noFill/>
          <a:ln>
            <a:noFill/>
          </a:ln>
        </p:spPr>
      </p:pic>
      <p:pic>
        <p:nvPicPr>
          <p:cNvPr id="21" name="Google Shape;21;p12"/>
          <p:cNvPicPr preferRelativeResize="0"/>
          <p:nvPr/>
        </p:nvPicPr>
        <p:blipFill rotWithShape="1">
          <a:blip r:embed="rId4">
            <a:alphaModFix/>
          </a:blip>
          <a:srcRect b="0" l="0" r="0" t="0"/>
          <a:stretch/>
        </p:blipFill>
        <p:spPr>
          <a:xfrm>
            <a:off x="10547188" y="638936"/>
            <a:ext cx="673394" cy="914400"/>
          </a:xfrm>
          <a:prstGeom prst="rect">
            <a:avLst/>
          </a:prstGeom>
          <a:noFill/>
          <a:ln>
            <a:noFill/>
          </a:ln>
        </p:spPr>
      </p:pic>
      <p:pic>
        <p:nvPicPr>
          <p:cNvPr id="22" name="Google Shape;22;p12"/>
          <p:cNvPicPr preferRelativeResize="0"/>
          <p:nvPr/>
        </p:nvPicPr>
        <p:blipFill rotWithShape="1">
          <a:blip r:embed="rId5">
            <a:alphaModFix/>
          </a:blip>
          <a:srcRect b="0" l="0" r="0" t="0"/>
          <a:stretch/>
        </p:blipFill>
        <p:spPr>
          <a:xfrm>
            <a:off x="4125812" y="1721473"/>
            <a:ext cx="3940376" cy="66737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3" name="Shape 23"/>
        <p:cNvGrpSpPr/>
        <p:nvPr/>
      </p:nvGrpSpPr>
      <p:grpSpPr>
        <a:xfrm>
          <a:off x="0" y="0"/>
          <a:ext cx="0" cy="0"/>
          <a:chOff x="0" y="0"/>
          <a:chExt cx="0" cy="0"/>
        </a:xfrm>
      </p:grpSpPr>
      <p:cxnSp>
        <p:nvCxnSpPr>
          <p:cNvPr id="24" name="Google Shape;24;p13"/>
          <p:cNvCxnSpPr/>
          <p:nvPr/>
        </p:nvCxnSpPr>
        <p:spPr>
          <a:xfrm>
            <a:off x="914400" y="500338"/>
            <a:ext cx="10363200" cy="0"/>
          </a:xfrm>
          <a:prstGeom prst="straightConnector1">
            <a:avLst/>
          </a:prstGeom>
          <a:noFill/>
          <a:ln cap="flat" cmpd="sng" w="9525">
            <a:solidFill>
              <a:srgbClr val="595A59"/>
            </a:solidFill>
            <a:prstDash val="solid"/>
            <a:miter lim="800000"/>
            <a:headEnd len="sm" w="sm" type="none"/>
            <a:tailEnd len="sm" w="sm" type="none"/>
          </a:ln>
        </p:spPr>
      </p:cxnSp>
      <p:cxnSp>
        <p:nvCxnSpPr>
          <p:cNvPr id="25" name="Google Shape;25;p13"/>
          <p:cNvCxnSpPr/>
          <p:nvPr/>
        </p:nvCxnSpPr>
        <p:spPr>
          <a:xfrm>
            <a:off x="3519055" y="6536988"/>
            <a:ext cx="7819327" cy="0"/>
          </a:xfrm>
          <a:prstGeom prst="straightConnector1">
            <a:avLst/>
          </a:prstGeom>
          <a:noFill/>
          <a:ln cap="flat" cmpd="sng" w="9525">
            <a:solidFill>
              <a:srgbClr val="595A59"/>
            </a:solidFill>
            <a:prstDash val="solid"/>
            <a:miter lim="800000"/>
            <a:headEnd len="sm" w="sm" type="none"/>
            <a:tailEnd len="sm" w="sm" type="none"/>
          </a:ln>
        </p:spPr>
      </p:cxnSp>
      <p:pic>
        <p:nvPicPr>
          <p:cNvPr id="26" name="Google Shape;26;p13"/>
          <p:cNvPicPr preferRelativeResize="0"/>
          <p:nvPr/>
        </p:nvPicPr>
        <p:blipFill rotWithShape="1">
          <a:blip r:embed="rId2">
            <a:alphaModFix/>
          </a:blip>
          <a:srcRect b="0" l="0" r="0" t="0"/>
          <a:stretch/>
        </p:blipFill>
        <p:spPr>
          <a:xfrm>
            <a:off x="864334" y="6513870"/>
            <a:ext cx="2560320" cy="53098"/>
          </a:xfrm>
          <a:prstGeom prst="rect">
            <a:avLst/>
          </a:prstGeom>
          <a:noFill/>
          <a:ln>
            <a:noFill/>
          </a:ln>
        </p:spPr>
      </p:pic>
      <p:sp>
        <p:nvSpPr>
          <p:cNvPr id="27" name="Google Shape;27;p13"/>
          <p:cNvSpPr txBox="1"/>
          <p:nvPr>
            <p:ph idx="1" type="body"/>
          </p:nvPr>
        </p:nvSpPr>
        <p:spPr>
          <a:xfrm>
            <a:off x="7860271" y="6621065"/>
            <a:ext cx="3324969" cy="15044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dk1"/>
              </a:buClr>
              <a:buSzPts val="450"/>
              <a:buNone/>
              <a:defRPr sz="450">
                <a:solidFill>
                  <a:schemeClr val="dk1"/>
                </a:solidFill>
              </a:defRPr>
            </a:lvl1pPr>
            <a:lvl2pPr indent="-228600" lvl="1" marL="914400" algn="l">
              <a:lnSpc>
                <a:spcPct val="90000"/>
              </a:lnSpc>
              <a:spcBef>
                <a:spcPts val="500"/>
              </a:spcBef>
              <a:spcAft>
                <a:spcPts val="0"/>
              </a:spcAft>
              <a:buClr>
                <a:schemeClr val="dk1"/>
              </a:buClr>
              <a:buSzPts val="750"/>
              <a:buNone/>
              <a:defRPr sz="750"/>
            </a:lvl2pPr>
            <a:lvl3pPr indent="-228600" lvl="2" marL="1371600" algn="l">
              <a:lnSpc>
                <a:spcPct val="90000"/>
              </a:lnSpc>
              <a:spcBef>
                <a:spcPts val="500"/>
              </a:spcBef>
              <a:spcAft>
                <a:spcPts val="0"/>
              </a:spcAft>
              <a:buClr>
                <a:schemeClr val="dk1"/>
              </a:buClr>
              <a:buSzPts val="750"/>
              <a:buNone/>
              <a:defRPr sz="750"/>
            </a:lvl3pPr>
            <a:lvl4pPr indent="-228600" lvl="3" marL="1828800" algn="l">
              <a:lnSpc>
                <a:spcPct val="90000"/>
              </a:lnSpc>
              <a:spcBef>
                <a:spcPts val="500"/>
              </a:spcBef>
              <a:spcAft>
                <a:spcPts val="0"/>
              </a:spcAft>
              <a:buClr>
                <a:schemeClr val="dk1"/>
              </a:buClr>
              <a:buSzPts val="750"/>
              <a:buNone/>
              <a:defRPr sz="750"/>
            </a:lvl4pPr>
            <a:lvl5pPr indent="-228600" lvl="4" marL="2286000" algn="l">
              <a:lnSpc>
                <a:spcPct val="90000"/>
              </a:lnSpc>
              <a:spcBef>
                <a:spcPts val="500"/>
              </a:spcBef>
              <a:spcAft>
                <a:spcPts val="0"/>
              </a:spcAft>
              <a:buClr>
                <a:schemeClr val="dk1"/>
              </a:buClr>
              <a:buSzPts val="750"/>
              <a:buNone/>
              <a:defRPr sz="75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13"/>
          <p:cNvSpPr txBox="1"/>
          <p:nvPr/>
        </p:nvSpPr>
        <p:spPr>
          <a:xfrm>
            <a:off x="11086011" y="6603491"/>
            <a:ext cx="349637" cy="1846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sp>
        <p:nvSpPr>
          <p:cNvPr id="29" name="Google Shape;29;p13"/>
          <p:cNvSpPr txBox="1"/>
          <p:nvPr>
            <p:ph type="title"/>
          </p:nvPr>
        </p:nvSpPr>
        <p:spPr>
          <a:xfrm>
            <a:off x="838200" y="612964"/>
            <a:ext cx="10515600" cy="60549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4B8D"/>
              </a:buClr>
              <a:buSzPts val="3000"/>
              <a:buFont typeface="Arial"/>
              <a:buNone/>
              <a:defRPr sz="3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30" name="Google Shape;30;p13"/>
          <p:cNvPicPr preferRelativeResize="0"/>
          <p:nvPr/>
        </p:nvPicPr>
        <p:blipFill rotWithShape="1">
          <a:blip r:embed="rId3">
            <a:alphaModFix/>
          </a:blip>
          <a:srcRect b="19869" l="15574" r="15790" t="0"/>
          <a:stretch/>
        </p:blipFill>
        <p:spPr>
          <a:xfrm>
            <a:off x="1486269" y="71255"/>
            <a:ext cx="283299" cy="384952"/>
          </a:xfrm>
          <a:prstGeom prst="rect">
            <a:avLst/>
          </a:prstGeom>
          <a:noFill/>
          <a:ln>
            <a:noFill/>
          </a:ln>
        </p:spPr>
      </p:pic>
      <p:pic>
        <p:nvPicPr>
          <p:cNvPr id="31" name="Google Shape;31;p13"/>
          <p:cNvPicPr preferRelativeResize="0"/>
          <p:nvPr/>
        </p:nvPicPr>
        <p:blipFill rotWithShape="1">
          <a:blip r:embed="rId4">
            <a:alphaModFix/>
          </a:blip>
          <a:srcRect b="12697" l="14497" r="15923" t="0"/>
          <a:stretch/>
        </p:blipFill>
        <p:spPr>
          <a:xfrm>
            <a:off x="881412" y="71254"/>
            <a:ext cx="409029" cy="371417"/>
          </a:xfrm>
          <a:prstGeom prst="rect">
            <a:avLst/>
          </a:prstGeom>
          <a:noFill/>
          <a:ln>
            <a:noFill/>
          </a:ln>
        </p:spPr>
      </p:pic>
      <p:pic>
        <p:nvPicPr>
          <p:cNvPr id="32" name="Google Shape;32;p13"/>
          <p:cNvPicPr preferRelativeResize="0"/>
          <p:nvPr/>
        </p:nvPicPr>
        <p:blipFill rotWithShape="1">
          <a:blip r:embed="rId5">
            <a:alphaModFix/>
          </a:blip>
          <a:srcRect b="0" l="0" r="0" t="0"/>
          <a:stretch/>
        </p:blipFill>
        <p:spPr>
          <a:xfrm>
            <a:off x="10552616" y="198076"/>
            <a:ext cx="724984" cy="12505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bg>
      <p:bgPr>
        <a:solidFill>
          <a:schemeClr val="lt1"/>
        </a:solidFill>
      </p:bgPr>
    </p:bg>
    <p:spTree>
      <p:nvGrpSpPr>
        <p:cNvPr id="33" name="Shape 33"/>
        <p:cNvGrpSpPr/>
        <p:nvPr/>
      </p:nvGrpSpPr>
      <p:grpSpPr>
        <a:xfrm>
          <a:off x="0" y="0"/>
          <a:ext cx="0" cy="0"/>
          <a:chOff x="0" y="0"/>
          <a:chExt cx="0" cy="0"/>
        </a:xfrm>
      </p:grpSpPr>
      <p:pic>
        <p:nvPicPr>
          <p:cNvPr id="34" name="Google Shape;34;p15"/>
          <p:cNvPicPr preferRelativeResize="0"/>
          <p:nvPr/>
        </p:nvPicPr>
        <p:blipFill rotWithShape="1">
          <a:blip r:embed="rId2">
            <a:alphaModFix/>
          </a:blip>
          <a:srcRect b="19869" l="15574" r="15790" t="0"/>
          <a:stretch/>
        </p:blipFill>
        <p:spPr>
          <a:xfrm>
            <a:off x="1486269" y="71255"/>
            <a:ext cx="283299" cy="384952"/>
          </a:xfrm>
          <a:prstGeom prst="rect">
            <a:avLst/>
          </a:prstGeom>
          <a:noFill/>
          <a:ln>
            <a:noFill/>
          </a:ln>
        </p:spPr>
      </p:pic>
      <p:sp>
        <p:nvSpPr>
          <p:cNvPr id="35" name="Google Shape;35;p15"/>
          <p:cNvSpPr txBox="1"/>
          <p:nvPr>
            <p:ph type="title"/>
          </p:nvPr>
        </p:nvSpPr>
        <p:spPr>
          <a:xfrm>
            <a:off x="838200" y="599120"/>
            <a:ext cx="10515600" cy="63751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4B8D"/>
              </a:buClr>
              <a:buSzPts val="3000"/>
              <a:buFont typeface="Arial"/>
              <a:buNone/>
              <a:defRPr sz="3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5"/>
          <p:cNvSpPr txBox="1"/>
          <p:nvPr>
            <p:ph idx="1" type="body"/>
          </p:nvPr>
        </p:nvSpPr>
        <p:spPr>
          <a:xfrm>
            <a:off x="838200" y="1335416"/>
            <a:ext cx="10515600" cy="5022243"/>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1"/>
              </a:buClr>
              <a:buSzPts val="2000"/>
              <a:buChar char="•"/>
              <a:defRPr sz="2000"/>
            </a:lvl1pPr>
            <a:lvl2pPr indent="-330200" lvl="1" marL="914400" algn="l">
              <a:lnSpc>
                <a:spcPct val="100000"/>
              </a:lnSpc>
              <a:spcBef>
                <a:spcPts val="500"/>
              </a:spcBef>
              <a:spcAft>
                <a:spcPts val="0"/>
              </a:spcAft>
              <a:buClr>
                <a:schemeClr val="dk1"/>
              </a:buClr>
              <a:buSzPts val="1600"/>
              <a:buChar char="•"/>
              <a:defRPr sz="1600"/>
            </a:lvl2pPr>
            <a:lvl3pPr indent="-330200" lvl="2" marL="1371600" algn="l">
              <a:lnSpc>
                <a:spcPct val="100000"/>
              </a:lnSpc>
              <a:spcBef>
                <a:spcPts val="500"/>
              </a:spcBef>
              <a:spcAft>
                <a:spcPts val="0"/>
              </a:spcAft>
              <a:buClr>
                <a:schemeClr val="dk1"/>
              </a:buClr>
              <a:buSzPts val="1600"/>
              <a:buChar char="•"/>
              <a:defRPr sz="1600"/>
            </a:lvl3pPr>
            <a:lvl4pPr indent="-330200" lvl="3" marL="1828800" algn="l">
              <a:lnSpc>
                <a:spcPct val="100000"/>
              </a:lnSpc>
              <a:spcBef>
                <a:spcPts val="5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7" name="Google Shape;37;p15"/>
          <p:cNvCxnSpPr/>
          <p:nvPr/>
        </p:nvCxnSpPr>
        <p:spPr>
          <a:xfrm>
            <a:off x="914400" y="500338"/>
            <a:ext cx="10363200" cy="0"/>
          </a:xfrm>
          <a:prstGeom prst="straightConnector1">
            <a:avLst/>
          </a:prstGeom>
          <a:noFill/>
          <a:ln cap="flat" cmpd="sng" w="9525">
            <a:solidFill>
              <a:srgbClr val="595A59"/>
            </a:solidFill>
            <a:prstDash val="solid"/>
            <a:miter lim="800000"/>
            <a:headEnd len="sm" w="sm" type="none"/>
            <a:tailEnd len="sm" w="sm" type="none"/>
          </a:ln>
        </p:spPr>
      </p:cxnSp>
      <p:cxnSp>
        <p:nvCxnSpPr>
          <p:cNvPr id="38" name="Google Shape;38;p15"/>
          <p:cNvCxnSpPr/>
          <p:nvPr/>
        </p:nvCxnSpPr>
        <p:spPr>
          <a:xfrm>
            <a:off x="3519055" y="6536988"/>
            <a:ext cx="7819327" cy="0"/>
          </a:xfrm>
          <a:prstGeom prst="straightConnector1">
            <a:avLst/>
          </a:prstGeom>
          <a:noFill/>
          <a:ln cap="flat" cmpd="sng" w="9525">
            <a:solidFill>
              <a:srgbClr val="595A59"/>
            </a:solidFill>
            <a:prstDash val="solid"/>
            <a:miter lim="800000"/>
            <a:headEnd len="sm" w="sm" type="none"/>
            <a:tailEnd len="sm" w="sm" type="none"/>
          </a:ln>
        </p:spPr>
      </p:cxnSp>
      <p:pic>
        <p:nvPicPr>
          <p:cNvPr id="39" name="Google Shape;39;p15"/>
          <p:cNvPicPr preferRelativeResize="0"/>
          <p:nvPr/>
        </p:nvPicPr>
        <p:blipFill rotWithShape="1">
          <a:blip r:embed="rId3">
            <a:alphaModFix/>
          </a:blip>
          <a:srcRect b="0" l="0" r="0" t="0"/>
          <a:stretch/>
        </p:blipFill>
        <p:spPr>
          <a:xfrm>
            <a:off x="864334" y="6513870"/>
            <a:ext cx="2560320" cy="53098"/>
          </a:xfrm>
          <a:prstGeom prst="rect">
            <a:avLst/>
          </a:prstGeom>
          <a:noFill/>
          <a:ln>
            <a:noFill/>
          </a:ln>
        </p:spPr>
      </p:pic>
      <p:sp>
        <p:nvSpPr>
          <p:cNvPr id="40" name="Google Shape;40;p15"/>
          <p:cNvSpPr txBox="1"/>
          <p:nvPr>
            <p:ph idx="2" type="body"/>
          </p:nvPr>
        </p:nvSpPr>
        <p:spPr>
          <a:xfrm>
            <a:off x="7860271" y="6621065"/>
            <a:ext cx="3324969" cy="15044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dk1"/>
              </a:buClr>
              <a:buSzPts val="450"/>
              <a:buNone/>
              <a:defRPr sz="450">
                <a:solidFill>
                  <a:schemeClr val="dk1"/>
                </a:solidFill>
              </a:defRPr>
            </a:lvl1pPr>
            <a:lvl2pPr indent="-228600" lvl="1" marL="914400" algn="l">
              <a:lnSpc>
                <a:spcPct val="90000"/>
              </a:lnSpc>
              <a:spcBef>
                <a:spcPts val="500"/>
              </a:spcBef>
              <a:spcAft>
                <a:spcPts val="0"/>
              </a:spcAft>
              <a:buClr>
                <a:schemeClr val="dk1"/>
              </a:buClr>
              <a:buSzPts val="750"/>
              <a:buNone/>
              <a:defRPr sz="750"/>
            </a:lvl2pPr>
            <a:lvl3pPr indent="-228600" lvl="2" marL="1371600" algn="l">
              <a:lnSpc>
                <a:spcPct val="90000"/>
              </a:lnSpc>
              <a:spcBef>
                <a:spcPts val="500"/>
              </a:spcBef>
              <a:spcAft>
                <a:spcPts val="0"/>
              </a:spcAft>
              <a:buClr>
                <a:schemeClr val="dk1"/>
              </a:buClr>
              <a:buSzPts val="750"/>
              <a:buNone/>
              <a:defRPr sz="750"/>
            </a:lvl3pPr>
            <a:lvl4pPr indent="-228600" lvl="3" marL="1828800" algn="l">
              <a:lnSpc>
                <a:spcPct val="90000"/>
              </a:lnSpc>
              <a:spcBef>
                <a:spcPts val="500"/>
              </a:spcBef>
              <a:spcAft>
                <a:spcPts val="0"/>
              </a:spcAft>
              <a:buClr>
                <a:schemeClr val="dk1"/>
              </a:buClr>
              <a:buSzPts val="750"/>
              <a:buNone/>
              <a:defRPr sz="750"/>
            </a:lvl4pPr>
            <a:lvl5pPr indent="-228600" lvl="4" marL="2286000" algn="l">
              <a:lnSpc>
                <a:spcPct val="90000"/>
              </a:lnSpc>
              <a:spcBef>
                <a:spcPts val="500"/>
              </a:spcBef>
              <a:spcAft>
                <a:spcPts val="0"/>
              </a:spcAft>
              <a:buClr>
                <a:schemeClr val="dk1"/>
              </a:buClr>
              <a:buSzPts val="750"/>
              <a:buNone/>
              <a:defRPr sz="75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5"/>
          <p:cNvSpPr txBox="1"/>
          <p:nvPr/>
        </p:nvSpPr>
        <p:spPr>
          <a:xfrm>
            <a:off x="11086011" y="6603491"/>
            <a:ext cx="349637" cy="1846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pic>
        <p:nvPicPr>
          <p:cNvPr id="42" name="Google Shape;42;p15"/>
          <p:cNvPicPr preferRelativeResize="0"/>
          <p:nvPr/>
        </p:nvPicPr>
        <p:blipFill rotWithShape="1">
          <a:blip r:embed="rId4">
            <a:alphaModFix/>
          </a:blip>
          <a:srcRect b="12697" l="14497" r="15923" t="0"/>
          <a:stretch/>
        </p:blipFill>
        <p:spPr>
          <a:xfrm>
            <a:off x="881412" y="71254"/>
            <a:ext cx="409029" cy="371417"/>
          </a:xfrm>
          <a:prstGeom prst="rect">
            <a:avLst/>
          </a:prstGeom>
          <a:noFill/>
          <a:ln>
            <a:noFill/>
          </a:ln>
        </p:spPr>
      </p:pic>
      <p:pic>
        <p:nvPicPr>
          <p:cNvPr id="43" name="Google Shape;43;p15"/>
          <p:cNvPicPr preferRelativeResize="0"/>
          <p:nvPr/>
        </p:nvPicPr>
        <p:blipFill rotWithShape="1">
          <a:blip r:embed="rId5">
            <a:alphaModFix/>
          </a:blip>
          <a:srcRect b="0" l="0" r="0" t="0"/>
          <a:stretch/>
        </p:blipFill>
        <p:spPr>
          <a:xfrm>
            <a:off x="10552616" y="198076"/>
            <a:ext cx="724984" cy="12505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bg>
      <p:bgPr>
        <a:blipFill>
          <a:blip r:embed="rId2">
            <a:alphaModFix/>
          </a:blip>
          <a:stretch>
            <a:fillRect/>
          </a:stretch>
        </a:blipFill>
      </p:bgPr>
    </p:bg>
    <p:spTree>
      <p:nvGrpSpPr>
        <p:cNvPr id="44" name="Shape 44"/>
        <p:cNvGrpSpPr/>
        <p:nvPr/>
      </p:nvGrpSpPr>
      <p:grpSpPr>
        <a:xfrm>
          <a:off x="0" y="0"/>
          <a:ext cx="0" cy="0"/>
          <a:chOff x="0" y="0"/>
          <a:chExt cx="0" cy="0"/>
        </a:xfrm>
      </p:grpSpPr>
      <p:sp>
        <p:nvSpPr>
          <p:cNvPr id="45" name="Google Shape;45;p17"/>
          <p:cNvSpPr txBox="1"/>
          <p:nvPr>
            <p:ph type="title"/>
          </p:nvPr>
        </p:nvSpPr>
        <p:spPr>
          <a:xfrm>
            <a:off x="2342573" y="1903867"/>
            <a:ext cx="7494154" cy="285273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4400"/>
              <a:buFont typeface="Arial"/>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46" name="Google Shape;46;p17"/>
          <p:cNvCxnSpPr/>
          <p:nvPr/>
        </p:nvCxnSpPr>
        <p:spPr>
          <a:xfrm>
            <a:off x="3519055" y="6536988"/>
            <a:ext cx="7819327" cy="0"/>
          </a:xfrm>
          <a:prstGeom prst="straightConnector1">
            <a:avLst/>
          </a:prstGeom>
          <a:noFill/>
          <a:ln cap="flat" cmpd="sng" w="9525">
            <a:solidFill>
              <a:srgbClr val="CBCCCB"/>
            </a:solidFill>
            <a:prstDash val="solid"/>
            <a:miter lim="800000"/>
            <a:headEnd len="sm" w="sm" type="none"/>
            <a:tailEnd len="sm" w="sm" type="none"/>
          </a:ln>
        </p:spPr>
      </p:cxnSp>
      <p:cxnSp>
        <p:nvCxnSpPr>
          <p:cNvPr id="47" name="Google Shape;47;p17"/>
          <p:cNvCxnSpPr/>
          <p:nvPr/>
        </p:nvCxnSpPr>
        <p:spPr>
          <a:xfrm>
            <a:off x="914400" y="500368"/>
            <a:ext cx="10363200" cy="0"/>
          </a:xfrm>
          <a:prstGeom prst="straightConnector1">
            <a:avLst/>
          </a:prstGeom>
          <a:noFill/>
          <a:ln cap="flat" cmpd="sng" w="9525">
            <a:solidFill>
              <a:srgbClr val="CBCCCB"/>
            </a:solidFill>
            <a:prstDash val="solid"/>
            <a:miter lim="800000"/>
            <a:headEnd len="sm" w="sm" type="none"/>
            <a:tailEnd len="sm" w="sm" type="none"/>
          </a:ln>
        </p:spPr>
      </p:cxnSp>
      <p:pic>
        <p:nvPicPr>
          <p:cNvPr id="48" name="Google Shape;48;p17"/>
          <p:cNvPicPr preferRelativeResize="0"/>
          <p:nvPr/>
        </p:nvPicPr>
        <p:blipFill rotWithShape="1">
          <a:blip r:embed="rId3">
            <a:alphaModFix/>
          </a:blip>
          <a:srcRect b="0" l="0" r="0" t="0"/>
          <a:stretch/>
        </p:blipFill>
        <p:spPr>
          <a:xfrm>
            <a:off x="864335" y="6513870"/>
            <a:ext cx="2560320" cy="53098"/>
          </a:xfrm>
          <a:prstGeom prst="rect">
            <a:avLst/>
          </a:prstGeom>
          <a:noFill/>
          <a:ln>
            <a:noFill/>
          </a:ln>
        </p:spPr>
      </p:pic>
      <p:sp>
        <p:nvSpPr>
          <p:cNvPr id="49" name="Google Shape;49;p17"/>
          <p:cNvSpPr txBox="1"/>
          <p:nvPr>
            <p:ph idx="1" type="body"/>
          </p:nvPr>
        </p:nvSpPr>
        <p:spPr>
          <a:xfrm>
            <a:off x="7860271" y="6621065"/>
            <a:ext cx="3324969" cy="15044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lt1"/>
              </a:buClr>
              <a:buSzPts val="450"/>
              <a:buNone/>
              <a:defRPr sz="450">
                <a:solidFill>
                  <a:schemeClr val="lt1"/>
                </a:solidFill>
              </a:defRPr>
            </a:lvl1pPr>
            <a:lvl2pPr indent="-228600" lvl="1" marL="914400" algn="l">
              <a:lnSpc>
                <a:spcPct val="90000"/>
              </a:lnSpc>
              <a:spcBef>
                <a:spcPts val="500"/>
              </a:spcBef>
              <a:spcAft>
                <a:spcPts val="0"/>
              </a:spcAft>
              <a:buClr>
                <a:schemeClr val="dk1"/>
              </a:buClr>
              <a:buSzPts val="750"/>
              <a:buNone/>
              <a:defRPr sz="750"/>
            </a:lvl2pPr>
            <a:lvl3pPr indent="-228600" lvl="2" marL="1371600" algn="l">
              <a:lnSpc>
                <a:spcPct val="90000"/>
              </a:lnSpc>
              <a:spcBef>
                <a:spcPts val="500"/>
              </a:spcBef>
              <a:spcAft>
                <a:spcPts val="0"/>
              </a:spcAft>
              <a:buClr>
                <a:schemeClr val="dk1"/>
              </a:buClr>
              <a:buSzPts val="750"/>
              <a:buNone/>
              <a:defRPr sz="750"/>
            </a:lvl3pPr>
            <a:lvl4pPr indent="-228600" lvl="3" marL="1828800" algn="l">
              <a:lnSpc>
                <a:spcPct val="90000"/>
              </a:lnSpc>
              <a:spcBef>
                <a:spcPts val="500"/>
              </a:spcBef>
              <a:spcAft>
                <a:spcPts val="0"/>
              </a:spcAft>
              <a:buClr>
                <a:schemeClr val="dk1"/>
              </a:buClr>
              <a:buSzPts val="750"/>
              <a:buNone/>
              <a:defRPr sz="750"/>
            </a:lvl4pPr>
            <a:lvl5pPr indent="-228600" lvl="4" marL="2286000" algn="l">
              <a:lnSpc>
                <a:spcPct val="90000"/>
              </a:lnSpc>
              <a:spcBef>
                <a:spcPts val="500"/>
              </a:spcBef>
              <a:spcAft>
                <a:spcPts val="0"/>
              </a:spcAft>
              <a:buClr>
                <a:schemeClr val="dk1"/>
              </a:buClr>
              <a:buSzPts val="750"/>
              <a:buNone/>
              <a:defRPr sz="75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7"/>
          <p:cNvSpPr txBox="1"/>
          <p:nvPr/>
        </p:nvSpPr>
        <p:spPr>
          <a:xfrm>
            <a:off x="11086011" y="6603491"/>
            <a:ext cx="349637" cy="1846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pic>
        <p:nvPicPr>
          <p:cNvPr id="51" name="Google Shape;51;p17"/>
          <p:cNvPicPr preferRelativeResize="0"/>
          <p:nvPr/>
        </p:nvPicPr>
        <p:blipFill rotWithShape="1">
          <a:blip r:embed="rId4">
            <a:alphaModFix/>
          </a:blip>
          <a:srcRect b="26090" l="19015" r="21169" t="1"/>
          <a:stretch/>
        </p:blipFill>
        <p:spPr>
          <a:xfrm>
            <a:off x="851775" y="13557"/>
            <a:ext cx="469733" cy="446110"/>
          </a:xfrm>
          <a:prstGeom prst="rect">
            <a:avLst/>
          </a:prstGeom>
          <a:noFill/>
          <a:ln>
            <a:noFill/>
          </a:ln>
        </p:spPr>
      </p:pic>
      <p:pic>
        <p:nvPicPr>
          <p:cNvPr id="52" name="Google Shape;52;p17"/>
          <p:cNvPicPr preferRelativeResize="0"/>
          <p:nvPr/>
        </p:nvPicPr>
        <p:blipFill rotWithShape="1">
          <a:blip r:embed="rId5">
            <a:alphaModFix/>
          </a:blip>
          <a:srcRect b="0" l="0" r="0" t="0"/>
          <a:stretch/>
        </p:blipFill>
        <p:spPr>
          <a:xfrm>
            <a:off x="10552616" y="199210"/>
            <a:ext cx="724984" cy="122790"/>
          </a:xfrm>
          <a:prstGeom prst="rect">
            <a:avLst/>
          </a:prstGeom>
          <a:noFill/>
          <a:ln>
            <a:noFill/>
          </a:ln>
        </p:spPr>
      </p:pic>
      <p:pic>
        <p:nvPicPr>
          <p:cNvPr id="53" name="Google Shape;53;p17"/>
          <p:cNvPicPr preferRelativeResize="0"/>
          <p:nvPr/>
        </p:nvPicPr>
        <p:blipFill rotWithShape="1">
          <a:blip r:embed="rId6">
            <a:alphaModFix/>
          </a:blip>
          <a:srcRect b="19788" l="0" r="0" t="0"/>
          <a:stretch/>
        </p:blipFill>
        <p:spPr>
          <a:xfrm>
            <a:off x="1448335" y="65003"/>
            <a:ext cx="359169" cy="391203"/>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p:cSld name="Content with Picture">
    <p:spTree>
      <p:nvGrpSpPr>
        <p:cNvPr id="54" name="Shape 54"/>
        <p:cNvGrpSpPr/>
        <p:nvPr/>
      </p:nvGrpSpPr>
      <p:grpSpPr>
        <a:xfrm>
          <a:off x="0" y="0"/>
          <a:ext cx="0" cy="0"/>
          <a:chOff x="0" y="0"/>
          <a:chExt cx="0" cy="0"/>
        </a:xfrm>
      </p:grpSpPr>
      <p:sp>
        <p:nvSpPr>
          <p:cNvPr id="55" name="Google Shape;55;p16"/>
          <p:cNvSpPr txBox="1"/>
          <p:nvPr>
            <p:ph type="title"/>
          </p:nvPr>
        </p:nvSpPr>
        <p:spPr>
          <a:xfrm>
            <a:off x="838200" y="612964"/>
            <a:ext cx="10515600" cy="60549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4B8D"/>
              </a:buClr>
              <a:buSzPts val="3000"/>
              <a:buFont typeface="Arial"/>
              <a:buNone/>
              <a:defRPr sz="3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6"/>
          <p:cNvSpPr txBox="1"/>
          <p:nvPr>
            <p:ph idx="1" type="body"/>
          </p:nvPr>
        </p:nvSpPr>
        <p:spPr>
          <a:xfrm>
            <a:off x="838200" y="1335418"/>
            <a:ext cx="5215467" cy="4566400"/>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1"/>
              </a:buClr>
              <a:buSzPts val="2000"/>
              <a:buChar char="•"/>
              <a:defRPr sz="2000"/>
            </a:lvl1pPr>
            <a:lvl2pPr indent="-330200" lvl="1" marL="914400" algn="l">
              <a:lnSpc>
                <a:spcPct val="100000"/>
              </a:lnSpc>
              <a:spcBef>
                <a:spcPts val="500"/>
              </a:spcBef>
              <a:spcAft>
                <a:spcPts val="0"/>
              </a:spcAft>
              <a:buClr>
                <a:schemeClr val="dk1"/>
              </a:buClr>
              <a:buSzPts val="1600"/>
              <a:buChar char="•"/>
              <a:defRPr/>
            </a:lvl2pPr>
            <a:lvl3pPr indent="-330200" lvl="2" marL="1371600" algn="l">
              <a:lnSpc>
                <a:spcPct val="100000"/>
              </a:lnSpc>
              <a:spcBef>
                <a:spcPts val="500"/>
              </a:spcBef>
              <a:spcAft>
                <a:spcPts val="0"/>
              </a:spcAft>
              <a:buClr>
                <a:schemeClr val="dk1"/>
              </a:buClr>
              <a:buSzPts val="1600"/>
              <a:buChar char="•"/>
              <a:defRPr/>
            </a:lvl3pPr>
            <a:lvl4pPr indent="-330200" lvl="3" marL="1828800" algn="l">
              <a:lnSpc>
                <a:spcPct val="100000"/>
              </a:lnSpc>
              <a:spcBef>
                <a:spcPts val="500"/>
              </a:spcBef>
              <a:spcAft>
                <a:spcPts val="0"/>
              </a:spcAft>
              <a:buClr>
                <a:schemeClr val="dk1"/>
              </a:buClr>
              <a:buSzPts val="1600"/>
              <a:buChar char="•"/>
              <a:defRPr/>
            </a:lvl4pPr>
            <a:lvl5pPr indent="-330200" lvl="4" marL="2286000" algn="l">
              <a:lnSpc>
                <a:spcPct val="100000"/>
              </a:lnSpc>
              <a:spcBef>
                <a:spcPts val="500"/>
              </a:spcBef>
              <a:spcAft>
                <a:spcPts val="0"/>
              </a:spcAft>
              <a:buClr>
                <a:schemeClr val="dk1"/>
              </a:buClr>
              <a:buSzPts val="16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16"/>
          <p:cNvSpPr/>
          <p:nvPr>
            <p:ph idx="2" type="pic"/>
          </p:nvPr>
        </p:nvSpPr>
        <p:spPr>
          <a:xfrm>
            <a:off x="6286501" y="1335418"/>
            <a:ext cx="5067300" cy="3684587"/>
          </a:xfrm>
          <a:prstGeom prst="rect">
            <a:avLst/>
          </a:prstGeom>
          <a:solidFill>
            <a:schemeClr val="lt2"/>
          </a:solidFill>
          <a:ln cap="flat" cmpd="sng" w="9525">
            <a:solidFill>
              <a:srgbClr val="595A59"/>
            </a:solidFill>
            <a:prstDash val="solid"/>
            <a:round/>
            <a:headEnd len="sm" w="sm" type="none"/>
            <a:tailEnd len="sm" w="sm" type="none"/>
          </a:ln>
        </p:spPr>
      </p:sp>
      <p:cxnSp>
        <p:nvCxnSpPr>
          <p:cNvPr id="58" name="Google Shape;58;p16"/>
          <p:cNvCxnSpPr/>
          <p:nvPr/>
        </p:nvCxnSpPr>
        <p:spPr>
          <a:xfrm>
            <a:off x="914400" y="500338"/>
            <a:ext cx="10363200" cy="0"/>
          </a:xfrm>
          <a:prstGeom prst="straightConnector1">
            <a:avLst/>
          </a:prstGeom>
          <a:noFill/>
          <a:ln cap="flat" cmpd="sng" w="9525">
            <a:solidFill>
              <a:srgbClr val="595A59"/>
            </a:solidFill>
            <a:prstDash val="solid"/>
            <a:miter lim="800000"/>
            <a:headEnd len="sm" w="sm" type="none"/>
            <a:tailEnd len="sm" w="sm" type="none"/>
          </a:ln>
        </p:spPr>
      </p:cxnSp>
      <p:cxnSp>
        <p:nvCxnSpPr>
          <p:cNvPr id="59" name="Google Shape;59;p16"/>
          <p:cNvCxnSpPr/>
          <p:nvPr/>
        </p:nvCxnSpPr>
        <p:spPr>
          <a:xfrm>
            <a:off x="3519055" y="6536988"/>
            <a:ext cx="7819327" cy="0"/>
          </a:xfrm>
          <a:prstGeom prst="straightConnector1">
            <a:avLst/>
          </a:prstGeom>
          <a:noFill/>
          <a:ln cap="flat" cmpd="sng" w="9525">
            <a:solidFill>
              <a:srgbClr val="595A59"/>
            </a:solidFill>
            <a:prstDash val="solid"/>
            <a:miter lim="800000"/>
            <a:headEnd len="sm" w="sm" type="none"/>
            <a:tailEnd len="sm" w="sm" type="none"/>
          </a:ln>
        </p:spPr>
      </p:cxnSp>
      <p:pic>
        <p:nvPicPr>
          <p:cNvPr id="60" name="Google Shape;60;p16"/>
          <p:cNvPicPr preferRelativeResize="0"/>
          <p:nvPr/>
        </p:nvPicPr>
        <p:blipFill rotWithShape="1">
          <a:blip r:embed="rId2">
            <a:alphaModFix/>
          </a:blip>
          <a:srcRect b="0" l="0" r="0" t="0"/>
          <a:stretch/>
        </p:blipFill>
        <p:spPr>
          <a:xfrm>
            <a:off x="864334" y="6513870"/>
            <a:ext cx="2560320" cy="53098"/>
          </a:xfrm>
          <a:prstGeom prst="rect">
            <a:avLst/>
          </a:prstGeom>
          <a:noFill/>
          <a:ln>
            <a:noFill/>
          </a:ln>
        </p:spPr>
      </p:pic>
      <p:sp>
        <p:nvSpPr>
          <p:cNvPr id="61" name="Google Shape;61;p16"/>
          <p:cNvSpPr txBox="1"/>
          <p:nvPr>
            <p:ph idx="3" type="body"/>
          </p:nvPr>
        </p:nvSpPr>
        <p:spPr>
          <a:xfrm>
            <a:off x="7860271" y="6621065"/>
            <a:ext cx="3324969" cy="15044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dk1"/>
              </a:buClr>
              <a:buSzPts val="450"/>
              <a:buNone/>
              <a:defRPr sz="450">
                <a:solidFill>
                  <a:schemeClr val="dk1"/>
                </a:solidFill>
              </a:defRPr>
            </a:lvl1pPr>
            <a:lvl2pPr indent="-228600" lvl="1" marL="914400" algn="l">
              <a:lnSpc>
                <a:spcPct val="90000"/>
              </a:lnSpc>
              <a:spcBef>
                <a:spcPts val="500"/>
              </a:spcBef>
              <a:spcAft>
                <a:spcPts val="0"/>
              </a:spcAft>
              <a:buClr>
                <a:schemeClr val="dk1"/>
              </a:buClr>
              <a:buSzPts val="750"/>
              <a:buNone/>
              <a:defRPr sz="750"/>
            </a:lvl2pPr>
            <a:lvl3pPr indent="-228600" lvl="2" marL="1371600" algn="l">
              <a:lnSpc>
                <a:spcPct val="90000"/>
              </a:lnSpc>
              <a:spcBef>
                <a:spcPts val="500"/>
              </a:spcBef>
              <a:spcAft>
                <a:spcPts val="0"/>
              </a:spcAft>
              <a:buClr>
                <a:schemeClr val="dk1"/>
              </a:buClr>
              <a:buSzPts val="750"/>
              <a:buNone/>
              <a:defRPr sz="750"/>
            </a:lvl3pPr>
            <a:lvl4pPr indent="-228600" lvl="3" marL="1828800" algn="l">
              <a:lnSpc>
                <a:spcPct val="90000"/>
              </a:lnSpc>
              <a:spcBef>
                <a:spcPts val="500"/>
              </a:spcBef>
              <a:spcAft>
                <a:spcPts val="0"/>
              </a:spcAft>
              <a:buClr>
                <a:schemeClr val="dk1"/>
              </a:buClr>
              <a:buSzPts val="750"/>
              <a:buNone/>
              <a:defRPr sz="750"/>
            </a:lvl4pPr>
            <a:lvl5pPr indent="-228600" lvl="4" marL="2286000" algn="l">
              <a:lnSpc>
                <a:spcPct val="90000"/>
              </a:lnSpc>
              <a:spcBef>
                <a:spcPts val="500"/>
              </a:spcBef>
              <a:spcAft>
                <a:spcPts val="0"/>
              </a:spcAft>
              <a:buClr>
                <a:schemeClr val="dk1"/>
              </a:buClr>
              <a:buSzPts val="750"/>
              <a:buNone/>
              <a:defRPr sz="75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16"/>
          <p:cNvSpPr txBox="1"/>
          <p:nvPr/>
        </p:nvSpPr>
        <p:spPr>
          <a:xfrm>
            <a:off x="11086011" y="6603491"/>
            <a:ext cx="349637" cy="1846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pic>
        <p:nvPicPr>
          <p:cNvPr id="63" name="Google Shape;63;p16"/>
          <p:cNvPicPr preferRelativeResize="0"/>
          <p:nvPr/>
        </p:nvPicPr>
        <p:blipFill rotWithShape="1">
          <a:blip r:embed="rId3">
            <a:alphaModFix/>
          </a:blip>
          <a:srcRect b="19869" l="15574" r="15790" t="0"/>
          <a:stretch/>
        </p:blipFill>
        <p:spPr>
          <a:xfrm>
            <a:off x="1486269" y="71255"/>
            <a:ext cx="283299" cy="384952"/>
          </a:xfrm>
          <a:prstGeom prst="rect">
            <a:avLst/>
          </a:prstGeom>
          <a:noFill/>
          <a:ln>
            <a:noFill/>
          </a:ln>
        </p:spPr>
      </p:pic>
      <p:pic>
        <p:nvPicPr>
          <p:cNvPr id="64" name="Google Shape;64;p16"/>
          <p:cNvPicPr preferRelativeResize="0"/>
          <p:nvPr/>
        </p:nvPicPr>
        <p:blipFill rotWithShape="1">
          <a:blip r:embed="rId4">
            <a:alphaModFix/>
          </a:blip>
          <a:srcRect b="12697" l="14497" r="15923" t="0"/>
          <a:stretch/>
        </p:blipFill>
        <p:spPr>
          <a:xfrm>
            <a:off x="881412" y="71254"/>
            <a:ext cx="409029" cy="371417"/>
          </a:xfrm>
          <a:prstGeom prst="rect">
            <a:avLst/>
          </a:prstGeom>
          <a:noFill/>
          <a:ln>
            <a:noFill/>
          </a:ln>
        </p:spPr>
      </p:pic>
      <p:pic>
        <p:nvPicPr>
          <p:cNvPr id="65" name="Google Shape;65;p16"/>
          <p:cNvPicPr preferRelativeResize="0"/>
          <p:nvPr/>
        </p:nvPicPr>
        <p:blipFill rotWithShape="1">
          <a:blip r:embed="rId5">
            <a:alphaModFix/>
          </a:blip>
          <a:srcRect b="0" l="0" r="0" t="0"/>
          <a:stretch/>
        </p:blipFill>
        <p:spPr>
          <a:xfrm>
            <a:off x="10552616" y="198076"/>
            <a:ext cx="724984" cy="125059"/>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66" name="Shape 66"/>
        <p:cNvGrpSpPr/>
        <p:nvPr/>
      </p:nvGrpSpPr>
      <p:grpSpPr>
        <a:xfrm>
          <a:off x="0" y="0"/>
          <a:ext cx="0" cy="0"/>
          <a:chOff x="0" y="0"/>
          <a:chExt cx="0" cy="0"/>
        </a:xfrm>
      </p:grpSpPr>
      <p:sp>
        <p:nvSpPr>
          <p:cNvPr id="67" name="Google Shape;67;p14"/>
          <p:cNvSpPr txBox="1"/>
          <p:nvPr>
            <p:ph idx="1" type="body"/>
          </p:nvPr>
        </p:nvSpPr>
        <p:spPr>
          <a:xfrm>
            <a:off x="838200" y="1335417"/>
            <a:ext cx="5181600" cy="5020936"/>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1"/>
              </a:buClr>
              <a:buSzPts val="2000"/>
              <a:buChar char="•"/>
              <a:defRPr sz="2000"/>
            </a:lvl1pPr>
            <a:lvl2pPr indent="-330200" lvl="1" marL="914400" algn="l">
              <a:lnSpc>
                <a:spcPct val="100000"/>
              </a:lnSpc>
              <a:spcBef>
                <a:spcPts val="500"/>
              </a:spcBef>
              <a:spcAft>
                <a:spcPts val="0"/>
              </a:spcAft>
              <a:buClr>
                <a:schemeClr val="dk1"/>
              </a:buClr>
              <a:buSzPts val="1600"/>
              <a:buChar char="•"/>
              <a:defRPr sz="1600"/>
            </a:lvl2pPr>
            <a:lvl3pPr indent="-330200" lvl="2" marL="1371600" algn="l">
              <a:lnSpc>
                <a:spcPct val="100000"/>
              </a:lnSpc>
              <a:spcBef>
                <a:spcPts val="500"/>
              </a:spcBef>
              <a:spcAft>
                <a:spcPts val="0"/>
              </a:spcAft>
              <a:buClr>
                <a:schemeClr val="dk1"/>
              </a:buClr>
              <a:buSzPts val="1600"/>
              <a:buChar char="•"/>
              <a:defRPr sz="1600"/>
            </a:lvl3pPr>
            <a:lvl4pPr indent="-330200" lvl="3" marL="1828800" algn="l">
              <a:lnSpc>
                <a:spcPct val="100000"/>
              </a:lnSpc>
              <a:spcBef>
                <a:spcPts val="5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14"/>
          <p:cNvSpPr txBox="1"/>
          <p:nvPr>
            <p:ph idx="2" type="body"/>
          </p:nvPr>
        </p:nvSpPr>
        <p:spPr>
          <a:xfrm>
            <a:off x="6172200" y="1335417"/>
            <a:ext cx="5181600" cy="5020936"/>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1"/>
              </a:buClr>
              <a:buSzPts val="2000"/>
              <a:buChar char="•"/>
              <a:defRPr sz="2000"/>
            </a:lvl1pPr>
            <a:lvl2pPr indent="-330200" lvl="1" marL="914400" algn="l">
              <a:lnSpc>
                <a:spcPct val="100000"/>
              </a:lnSpc>
              <a:spcBef>
                <a:spcPts val="500"/>
              </a:spcBef>
              <a:spcAft>
                <a:spcPts val="0"/>
              </a:spcAft>
              <a:buClr>
                <a:schemeClr val="dk1"/>
              </a:buClr>
              <a:buSzPts val="1600"/>
              <a:buChar char="•"/>
              <a:defRPr sz="1600"/>
            </a:lvl2pPr>
            <a:lvl3pPr indent="-330200" lvl="2" marL="1371600" algn="l">
              <a:lnSpc>
                <a:spcPct val="100000"/>
              </a:lnSpc>
              <a:spcBef>
                <a:spcPts val="500"/>
              </a:spcBef>
              <a:spcAft>
                <a:spcPts val="0"/>
              </a:spcAft>
              <a:buClr>
                <a:schemeClr val="dk1"/>
              </a:buClr>
              <a:buSzPts val="1600"/>
              <a:buChar char="•"/>
              <a:defRPr sz="1600"/>
            </a:lvl3pPr>
            <a:lvl4pPr indent="-330200" lvl="3" marL="1828800" algn="l">
              <a:lnSpc>
                <a:spcPct val="100000"/>
              </a:lnSpc>
              <a:spcBef>
                <a:spcPts val="5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14"/>
          <p:cNvSpPr txBox="1"/>
          <p:nvPr>
            <p:ph type="title"/>
          </p:nvPr>
        </p:nvSpPr>
        <p:spPr>
          <a:xfrm>
            <a:off x="838200" y="549387"/>
            <a:ext cx="10515600" cy="7326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4B8D"/>
              </a:buClr>
              <a:buSzPts val="3000"/>
              <a:buFont typeface="Arial"/>
              <a:buNone/>
              <a:defRPr sz="3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70" name="Google Shape;70;p14"/>
          <p:cNvCxnSpPr/>
          <p:nvPr/>
        </p:nvCxnSpPr>
        <p:spPr>
          <a:xfrm>
            <a:off x="914400" y="500338"/>
            <a:ext cx="10363200" cy="0"/>
          </a:xfrm>
          <a:prstGeom prst="straightConnector1">
            <a:avLst/>
          </a:prstGeom>
          <a:noFill/>
          <a:ln cap="flat" cmpd="sng" w="9525">
            <a:solidFill>
              <a:srgbClr val="595A59"/>
            </a:solidFill>
            <a:prstDash val="solid"/>
            <a:miter lim="800000"/>
            <a:headEnd len="sm" w="sm" type="none"/>
            <a:tailEnd len="sm" w="sm" type="none"/>
          </a:ln>
        </p:spPr>
      </p:cxnSp>
      <p:cxnSp>
        <p:nvCxnSpPr>
          <p:cNvPr id="71" name="Google Shape;71;p14"/>
          <p:cNvCxnSpPr/>
          <p:nvPr/>
        </p:nvCxnSpPr>
        <p:spPr>
          <a:xfrm>
            <a:off x="3519055" y="6536988"/>
            <a:ext cx="7819327" cy="0"/>
          </a:xfrm>
          <a:prstGeom prst="straightConnector1">
            <a:avLst/>
          </a:prstGeom>
          <a:noFill/>
          <a:ln cap="flat" cmpd="sng" w="9525">
            <a:solidFill>
              <a:srgbClr val="595A59"/>
            </a:solidFill>
            <a:prstDash val="solid"/>
            <a:miter lim="800000"/>
            <a:headEnd len="sm" w="sm" type="none"/>
            <a:tailEnd len="sm" w="sm" type="none"/>
          </a:ln>
        </p:spPr>
      </p:cxnSp>
      <p:pic>
        <p:nvPicPr>
          <p:cNvPr id="72" name="Google Shape;72;p14"/>
          <p:cNvPicPr preferRelativeResize="0"/>
          <p:nvPr/>
        </p:nvPicPr>
        <p:blipFill rotWithShape="1">
          <a:blip r:embed="rId2">
            <a:alphaModFix/>
          </a:blip>
          <a:srcRect b="0" l="0" r="0" t="0"/>
          <a:stretch/>
        </p:blipFill>
        <p:spPr>
          <a:xfrm>
            <a:off x="864334" y="6513870"/>
            <a:ext cx="2560320" cy="53098"/>
          </a:xfrm>
          <a:prstGeom prst="rect">
            <a:avLst/>
          </a:prstGeom>
          <a:noFill/>
          <a:ln>
            <a:noFill/>
          </a:ln>
        </p:spPr>
      </p:pic>
      <p:sp>
        <p:nvSpPr>
          <p:cNvPr id="73" name="Google Shape;73;p14"/>
          <p:cNvSpPr txBox="1"/>
          <p:nvPr>
            <p:ph idx="3" type="body"/>
          </p:nvPr>
        </p:nvSpPr>
        <p:spPr>
          <a:xfrm>
            <a:off x="7860271" y="6621065"/>
            <a:ext cx="3324969" cy="15044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dk1"/>
              </a:buClr>
              <a:buSzPts val="450"/>
              <a:buNone/>
              <a:defRPr sz="450">
                <a:solidFill>
                  <a:schemeClr val="dk1"/>
                </a:solidFill>
              </a:defRPr>
            </a:lvl1pPr>
            <a:lvl2pPr indent="-228600" lvl="1" marL="914400" algn="l">
              <a:lnSpc>
                <a:spcPct val="90000"/>
              </a:lnSpc>
              <a:spcBef>
                <a:spcPts val="500"/>
              </a:spcBef>
              <a:spcAft>
                <a:spcPts val="0"/>
              </a:spcAft>
              <a:buClr>
                <a:schemeClr val="dk1"/>
              </a:buClr>
              <a:buSzPts val="750"/>
              <a:buNone/>
              <a:defRPr sz="750"/>
            </a:lvl2pPr>
            <a:lvl3pPr indent="-228600" lvl="2" marL="1371600" algn="l">
              <a:lnSpc>
                <a:spcPct val="90000"/>
              </a:lnSpc>
              <a:spcBef>
                <a:spcPts val="500"/>
              </a:spcBef>
              <a:spcAft>
                <a:spcPts val="0"/>
              </a:spcAft>
              <a:buClr>
                <a:schemeClr val="dk1"/>
              </a:buClr>
              <a:buSzPts val="750"/>
              <a:buNone/>
              <a:defRPr sz="750"/>
            </a:lvl3pPr>
            <a:lvl4pPr indent="-228600" lvl="3" marL="1828800" algn="l">
              <a:lnSpc>
                <a:spcPct val="90000"/>
              </a:lnSpc>
              <a:spcBef>
                <a:spcPts val="500"/>
              </a:spcBef>
              <a:spcAft>
                <a:spcPts val="0"/>
              </a:spcAft>
              <a:buClr>
                <a:schemeClr val="dk1"/>
              </a:buClr>
              <a:buSzPts val="750"/>
              <a:buNone/>
              <a:defRPr sz="750"/>
            </a:lvl4pPr>
            <a:lvl5pPr indent="-228600" lvl="4" marL="2286000" algn="l">
              <a:lnSpc>
                <a:spcPct val="90000"/>
              </a:lnSpc>
              <a:spcBef>
                <a:spcPts val="500"/>
              </a:spcBef>
              <a:spcAft>
                <a:spcPts val="0"/>
              </a:spcAft>
              <a:buClr>
                <a:schemeClr val="dk1"/>
              </a:buClr>
              <a:buSzPts val="750"/>
              <a:buNone/>
              <a:defRPr sz="75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14"/>
          <p:cNvSpPr txBox="1"/>
          <p:nvPr/>
        </p:nvSpPr>
        <p:spPr>
          <a:xfrm>
            <a:off x="11086011" y="6603491"/>
            <a:ext cx="349637" cy="1846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pic>
        <p:nvPicPr>
          <p:cNvPr id="75" name="Google Shape;75;p14"/>
          <p:cNvPicPr preferRelativeResize="0"/>
          <p:nvPr/>
        </p:nvPicPr>
        <p:blipFill rotWithShape="1">
          <a:blip r:embed="rId3">
            <a:alphaModFix/>
          </a:blip>
          <a:srcRect b="19869" l="15574" r="15790" t="0"/>
          <a:stretch/>
        </p:blipFill>
        <p:spPr>
          <a:xfrm>
            <a:off x="1486269" y="71255"/>
            <a:ext cx="283299" cy="384952"/>
          </a:xfrm>
          <a:prstGeom prst="rect">
            <a:avLst/>
          </a:prstGeom>
          <a:noFill/>
          <a:ln>
            <a:noFill/>
          </a:ln>
        </p:spPr>
      </p:pic>
      <p:pic>
        <p:nvPicPr>
          <p:cNvPr id="76" name="Google Shape;76;p14"/>
          <p:cNvPicPr preferRelativeResize="0"/>
          <p:nvPr/>
        </p:nvPicPr>
        <p:blipFill rotWithShape="1">
          <a:blip r:embed="rId4">
            <a:alphaModFix/>
          </a:blip>
          <a:srcRect b="12697" l="14497" r="15923" t="0"/>
          <a:stretch/>
        </p:blipFill>
        <p:spPr>
          <a:xfrm>
            <a:off x="881412" y="71254"/>
            <a:ext cx="409029" cy="371417"/>
          </a:xfrm>
          <a:prstGeom prst="rect">
            <a:avLst/>
          </a:prstGeom>
          <a:noFill/>
          <a:ln>
            <a:noFill/>
          </a:ln>
        </p:spPr>
      </p:pic>
      <p:pic>
        <p:nvPicPr>
          <p:cNvPr id="77" name="Google Shape;77;p14"/>
          <p:cNvPicPr preferRelativeResize="0"/>
          <p:nvPr/>
        </p:nvPicPr>
        <p:blipFill rotWithShape="1">
          <a:blip r:embed="rId5">
            <a:alphaModFix/>
          </a:blip>
          <a:srcRect b="0" l="0" r="0" t="0"/>
          <a:stretch/>
        </p:blipFill>
        <p:spPr>
          <a:xfrm>
            <a:off x="10552616" y="198076"/>
            <a:ext cx="724984" cy="12505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blipFill>
          <a:blip r:embed="rId2">
            <a:alphaModFix/>
          </a:blip>
          <a:stretch>
            <a:fillRect/>
          </a:stretch>
        </a:blipFill>
      </p:bgPr>
    </p:bg>
    <p:spTree>
      <p:nvGrpSpPr>
        <p:cNvPr id="78" name="Shape 78"/>
        <p:cNvGrpSpPr/>
        <p:nvPr/>
      </p:nvGrpSpPr>
      <p:grpSpPr>
        <a:xfrm>
          <a:off x="0" y="0"/>
          <a:ext cx="0" cy="0"/>
          <a:chOff x="0" y="0"/>
          <a:chExt cx="0" cy="0"/>
        </a:xfrm>
      </p:grpSpPr>
      <p:pic>
        <p:nvPicPr>
          <p:cNvPr id="79" name="Google Shape;79;p18"/>
          <p:cNvPicPr preferRelativeResize="0"/>
          <p:nvPr/>
        </p:nvPicPr>
        <p:blipFill rotWithShape="1">
          <a:blip r:embed="rId3">
            <a:alphaModFix/>
          </a:blip>
          <a:srcRect b="26090" l="19015" r="21169" t="1"/>
          <a:stretch/>
        </p:blipFill>
        <p:spPr>
          <a:xfrm>
            <a:off x="851775" y="13557"/>
            <a:ext cx="469733" cy="446110"/>
          </a:xfrm>
          <a:prstGeom prst="rect">
            <a:avLst/>
          </a:prstGeom>
          <a:noFill/>
          <a:ln>
            <a:noFill/>
          </a:ln>
        </p:spPr>
      </p:pic>
      <p:pic>
        <p:nvPicPr>
          <p:cNvPr id="80" name="Google Shape;80;p18"/>
          <p:cNvPicPr preferRelativeResize="0"/>
          <p:nvPr/>
        </p:nvPicPr>
        <p:blipFill rotWithShape="1">
          <a:blip r:embed="rId4">
            <a:alphaModFix/>
          </a:blip>
          <a:srcRect b="0" l="0" r="0" t="0"/>
          <a:stretch/>
        </p:blipFill>
        <p:spPr>
          <a:xfrm>
            <a:off x="864335" y="6513870"/>
            <a:ext cx="2560320" cy="53098"/>
          </a:xfrm>
          <a:prstGeom prst="rect">
            <a:avLst/>
          </a:prstGeom>
          <a:noFill/>
          <a:ln>
            <a:noFill/>
          </a:ln>
        </p:spPr>
      </p:pic>
      <p:sp>
        <p:nvSpPr>
          <p:cNvPr id="81" name="Google Shape;81;p18"/>
          <p:cNvSpPr txBox="1"/>
          <p:nvPr>
            <p:ph type="title"/>
          </p:nvPr>
        </p:nvSpPr>
        <p:spPr>
          <a:xfrm>
            <a:off x="2342573" y="1903865"/>
            <a:ext cx="7494154" cy="289943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4400"/>
              <a:buFont typeface="Arial"/>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82" name="Google Shape;82;p18"/>
          <p:cNvCxnSpPr/>
          <p:nvPr/>
        </p:nvCxnSpPr>
        <p:spPr>
          <a:xfrm>
            <a:off x="3519055" y="6536988"/>
            <a:ext cx="7819327" cy="0"/>
          </a:xfrm>
          <a:prstGeom prst="straightConnector1">
            <a:avLst/>
          </a:prstGeom>
          <a:noFill/>
          <a:ln cap="flat" cmpd="sng" w="9525">
            <a:solidFill>
              <a:srgbClr val="CBCCCB"/>
            </a:solidFill>
            <a:prstDash val="solid"/>
            <a:miter lim="800000"/>
            <a:headEnd len="sm" w="sm" type="none"/>
            <a:tailEnd len="sm" w="sm" type="none"/>
          </a:ln>
        </p:spPr>
      </p:cxnSp>
      <p:cxnSp>
        <p:nvCxnSpPr>
          <p:cNvPr id="83" name="Google Shape;83;p18"/>
          <p:cNvCxnSpPr/>
          <p:nvPr/>
        </p:nvCxnSpPr>
        <p:spPr>
          <a:xfrm>
            <a:off x="914400" y="500368"/>
            <a:ext cx="10363200" cy="0"/>
          </a:xfrm>
          <a:prstGeom prst="straightConnector1">
            <a:avLst/>
          </a:prstGeom>
          <a:noFill/>
          <a:ln cap="flat" cmpd="sng" w="9525">
            <a:solidFill>
              <a:srgbClr val="CBCCCB"/>
            </a:solidFill>
            <a:prstDash val="solid"/>
            <a:miter lim="800000"/>
            <a:headEnd len="sm" w="sm" type="none"/>
            <a:tailEnd len="sm" w="sm" type="none"/>
          </a:ln>
        </p:spPr>
      </p:cxnSp>
      <p:sp>
        <p:nvSpPr>
          <p:cNvPr id="84" name="Google Shape;84;p18"/>
          <p:cNvSpPr txBox="1"/>
          <p:nvPr>
            <p:ph idx="1" type="body"/>
          </p:nvPr>
        </p:nvSpPr>
        <p:spPr>
          <a:xfrm>
            <a:off x="7860271" y="6621065"/>
            <a:ext cx="3324969" cy="15044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lt1"/>
              </a:buClr>
              <a:buSzPts val="450"/>
              <a:buNone/>
              <a:defRPr sz="450">
                <a:solidFill>
                  <a:schemeClr val="lt1"/>
                </a:solidFill>
              </a:defRPr>
            </a:lvl1pPr>
            <a:lvl2pPr indent="-228600" lvl="1" marL="914400" algn="l">
              <a:lnSpc>
                <a:spcPct val="90000"/>
              </a:lnSpc>
              <a:spcBef>
                <a:spcPts val="500"/>
              </a:spcBef>
              <a:spcAft>
                <a:spcPts val="0"/>
              </a:spcAft>
              <a:buClr>
                <a:schemeClr val="dk1"/>
              </a:buClr>
              <a:buSzPts val="750"/>
              <a:buNone/>
              <a:defRPr sz="750"/>
            </a:lvl2pPr>
            <a:lvl3pPr indent="-228600" lvl="2" marL="1371600" algn="l">
              <a:lnSpc>
                <a:spcPct val="90000"/>
              </a:lnSpc>
              <a:spcBef>
                <a:spcPts val="500"/>
              </a:spcBef>
              <a:spcAft>
                <a:spcPts val="0"/>
              </a:spcAft>
              <a:buClr>
                <a:schemeClr val="dk1"/>
              </a:buClr>
              <a:buSzPts val="750"/>
              <a:buNone/>
              <a:defRPr sz="750"/>
            </a:lvl3pPr>
            <a:lvl4pPr indent="-228600" lvl="3" marL="1828800" algn="l">
              <a:lnSpc>
                <a:spcPct val="90000"/>
              </a:lnSpc>
              <a:spcBef>
                <a:spcPts val="500"/>
              </a:spcBef>
              <a:spcAft>
                <a:spcPts val="0"/>
              </a:spcAft>
              <a:buClr>
                <a:schemeClr val="dk1"/>
              </a:buClr>
              <a:buSzPts val="750"/>
              <a:buNone/>
              <a:defRPr sz="750"/>
            </a:lvl4pPr>
            <a:lvl5pPr indent="-228600" lvl="4" marL="2286000" algn="l">
              <a:lnSpc>
                <a:spcPct val="90000"/>
              </a:lnSpc>
              <a:spcBef>
                <a:spcPts val="500"/>
              </a:spcBef>
              <a:spcAft>
                <a:spcPts val="0"/>
              </a:spcAft>
              <a:buClr>
                <a:schemeClr val="dk1"/>
              </a:buClr>
              <a:buSzPts val="750"/>
              <a:buNone/>
              <a:defRPr sz="75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18"/>
          <p:cNvSpPr txBox="1"/>
          <p:nvPr/>
        </p:nvSpPr>
        <p:spPr>
          <a:xfrm>
            <a:off x="11086011" y="6603491"/>
            <a:ext cx="349637" cy="1846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pic>
        <p:nvPicPr>
          <p:cNvPr id="86" name="Google Shape;86;p18"/>
          <p:cNvPicPr preferRelativeResize="0"/>
          <p:nvPr/>
        </p:nvPicPr>
        <p:blipFill rotWithShape="1">
          <a:blip r:embed="rId5">
            <a:alphaModFix/>
          </a:blip>
          <a:srcRect b="0" l="0" r="0" t="0"/>
          <a:stretch/>
        </p:blipFill>
        <p:spPr>
          <a:xfrm>
            <a:off x="10552616" y="199210"/>
            <a:ext cx="724984" cy="122790"/>
          </a:xfrm>
          <a:prstGeom prst="rect">
            <a:avLst/>
          </a:prstGeom>
          <a:noFill/>
          <a:ln>
            <a:noFill/>
          </a:ln>
        </p:spPr>
      </p:pic>
      <p:pic>
        <p:nvPicPr>
          <p:cNvPr id="87" name="Google Shape;87;p18"/>
          <p:cNvPicPr preferRelativeResize="0"/>
          <p:nvPr/>
        </p:nvPicPr>
        <p:blipFill rotWithShape="1">
          <a:blip r:embed="rId6">
            <a:alphaModFix/>
          </a:blip>
          <a:srcRect b="19788" l="0" r="0" t="0"/>
          <a:stretch/>
        </p:blipFill>
        <p:spPr>
          <a:xfrm>
            <a:off x="1448335" y="65003"/>
            <a:ext cx="359169" cy="391203"/>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88" name="Shape 88"/>
        <p:cNvGrpSpPr/>
        <p:nvPr/>
      </p:nvGrpSpPr>
      <p:grpSpPr>
        <a:xfrm>
          <a:off x="0" y="0"/>
          <a:ext cx="0" cy="0"/>
          <a:chOff x="0" y="0"/>
          <a:chExt cx="0" cy="0"/>
        </a:xfrm>
      </p:grpSpPr>
      <p:cxnSp>
        <p:nvCxnSpPr>
          <p:cNvPr id="89" name="Google Shape;89;p19"/>
          <p:cNvCxnSpPr/>
          <p:nvPr/>
        </p:nvCxnSpPr>
        <p:spPr>
          <a:xfrm>
            <a:off x="3519055" y="6536988"/>
            <a:ext cx="7819327" cy="0"/>
          </a:xfrm>
          <a:prstGeom prst="straightConnector1">
            <a:avLst/>
          </a:prstGeom>
          <a:noFill/>
          <a:ln cap="flat" cmpd="sng" w="9525">
            <a:solidFill>
              <a:srgbClr val="595A59"/>
            </a:solidFill>
            <a:prstDash val="solid"/>
            <a:miter lim="800000"/>
            <a:headEnd len="sm" w="sm" type="none"/>
            <a:tailEnd len="sm" w="sm" type="none"/>
          </a:ln>
        </p:spPr>
      </p:cxnSp>
      <p:cxnSp>
        <p:nvCxnSpPr>
          <p:cNvPr id="90" name="Google Shape;90;p19"/>
          <p:cNvCxnSpPr/>
          <p:nvPr/>
        </p:nvCxnSpPr>
        <p:spPr>
          <a:xfrm>
            <a:off x="914400" y="500338"/>
            <a:ext cx="10363200" cy="0"/>
          </a:xfrm>
          <a:prstGeom prst="straightConnector1">
            <a:avLst/>
          </a:prstGeom>
          <a:noFill/>
          <a:ln cap="flat" cmpd="sng" w="9525">
            <a:solidFill>
              <a:srgbClr val="595A59"/>
            </a:solidFill>
            <a:prstDash val="solid"/>
            <a:miter lim="800000"/>
            <a:headEnd len="sm" w="sm" type="none"/>
            <a:tailEnd len="sm" w="sm" type="none"/>
          </a:ln>
        </p:spPr>
      </p:cxnSp>
      <p:pic>
        <p:nvPicPr>
          <p:cNvPr id="91" name="Google Shape;91;p19"/>
          <p:cNvPicPr preferRelativeResize="0"/>
          <p:nvPr/>
        </p:nvPicPr>
        <p:blipFill rotWithShape="1">
          <a:blip r:embed="rId2">
            <a:alphaModFix/>
          </a:blip>
          <a:srcRect b="0" l="0" r="0" t="0"/>
          <a:stretch/>
        </p:blipFill>
        <p:spPr>
          <a:xfrm>
            <a:off x="864334" y="6513870"/>
            <a:ext cx="2560320" cy="53098"/>
          </a:xfrm>
          <a:prstGeom prst="rect">
            <a:avLst/>
          </a:prstGeom>
          <a:noFill/>
          <a:ln>
            <a:noFill/>
          </a:ln>
        </p:spPr>
      </p:pic>
      <p:sp>
        <p:nvSpPr>
          <p:cNvPr id="92" name="Google Shape;92;p19"/>
          <p:cNvSpPr txBox="1"/>
          <p:nvPr>
            <p:ph idx="1" type="body"/>
          </p:nvPr>
        </p:nvSpPr>
        <p:spPr>
          <a:xfrm>
            <a:off x="7860271" y="6621065"/>
            <a:ext cx="3324969" cy="15044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dk1"/>
              </a:buClr>
              <a:buSzPts val="450"/>
              <a:buNone/>
              <a:defRPr sz="450">
                <a:solidFill>
                  <a:schemeClr val="dk1"/>
                </a:solidFill>
              </a:defRPr>
            </a:lvl1pPr>
            <a:lvl2pPr indent="-228600" lvl="1" marL="914400" algn="l">
              <a:lnSpc>
                <a:spcPct val="90000"/>
              </a:lnSpc>
              <a:spcBef>
                <a:spcPts val="500"/>
              </a:spcBef>
              <a:spcAft>
                <a:spcPts val="0"/>
              </a:spcAft>
              <a:buClr>
                <a:schemeClr val="dk1"/>
              </a:buClr>
              <a:buSzPts val="750"/>
              <a:buNone/>
              <a:defRPr sz="750"/>
            </a:lvl2pPr>
            <a:lvl3pPr indent="-228600" lvl="2" marL="1371600" algn="l">
              <a:lnSpc>
                <a:spcPct val="90000"/>
              </a:lnSpc>
              <a:spcBef>
                <a:spcPts val="500"/>
              </a:spcBef>
              <a:spcAft>
                <a:spcPts val="0"/>
              </a:spcAft>
              <a:buClr>
                <a:schemeClr val="dk1"/>
              </a:buClr>
              <a:buSzPts val="750"/>
              <a:buNone/>
              <a:defRPr sz="750"/>
            </a:lvl3pPr>
            <a:lvl4pPr indent="-228600" lvl="3" marL="1828800" algn="l">
              <a:lnSpc>
                <a:spcPct val="90000"/>
              </a:lnSpc>
              <a:spcBef>
                <a:spcPts val="500"/>
              </a:spcBef>
              <a:spcAft>
                <a:spcPts val="0"/>
              </a:spcAft>
              <a:buClr>
                <a:schemeClr val="dk1"/>
              </a:buClr>
              <a:buSzPts val="750"/>
              <a:buNone/>
              <a:defRPr sz="750"/>
            </a:lvl4pPr>
            <a:lvl5pPr indent="-228600" lvl="4" marL="2286000" algn="l">
              <a:lnSpc>
                <a:spcPct val="90000"/>
              </a:lnSpc>
              <a:spcBef>
                <a:spcPts val="500"/>
              </a:spcBef>
              <a:spcAft>
                <a:spcPts val="0"/>
              </a:spcAft>
              <a:buClr>
                <a:schemeClr val="dk1"/>
              </a:buClr>
              <a:buSzPts val="750"/>
              <a:buNone/>
              <a:defRPr sz="75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19"/>
          <p:cNvSpPr txBox="1"/>
          <p:nvPr/>
        </p:nvSpPr>
        <p:spPr>
          <a:xfrm>
            <a:off x="11086011" y="6603491"/>
            <a:ext cx="349637" cy="1846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pic>
        <p:nvPicPr>
          <p:cNvPr id="94" name="Google Shape;94;p19"/>
          <p:cNvPicPr preferRelativeResize="0"/>
          <p:nvPr/>
        </p:nvPicPr>
        <p:blipFill rotWithShape="1">
          <a:blip r:embed="rId3">
            <a:alphaModFix/>
          </a:blip>
          <a:srcRect b="19869" l="15574" r="15790" t="0"/>
          <a:stretch/>
        </p:blipFill>
        <p:spPr>
          <a:xfrm>
            <a:off x="1486269" y="71255"/>
            <a:ext cx="283299" cy="384952"/>
          </a:xfrm>
          <a:prstGeom prst="rect">
            <a:avLst/>
          </a:prstGeom>
          <a:noFill/>
          <a:ln>
            <a:noFill/>
          </a:ln>
        </p:spPr>
      </p:pic>
      <p:pic>
        <p:nvPicPr>
          <p:cNvPr id="95" name="Google Shape;95;p19"/>
          <p:cNvPicPr preferRelativeResize="0"/>
          <p:nvPr/>
        </p:nvPicPr>
        <p:blipFill rotWithShape="1">
          <a:blip r:embed="rId4">
            <a:alphaModFix/>
          </a:blip>
          <a:srcRect b="12697" l="14497" r="15923" t="0"/>
          <a:stretch/>
        </p:blipFill>
        <p:spPr>
          <a:xfrm>
            <a:off x="881412" y="71254"/>
            <a:ext cx="409029" cy="371417"/>
          </a:xfrm>
          <a:prstGeom prst="rect">
            <a:avLst/>
          </a:prstGeom>
          <a:noFill/>
          <a:ln>
            <a:noFill/>
          </a:ln>
        </p:spPr>
      </p:pic>
      <p:pic>
        <p:nvPicPr>
          <p:cNvPr id="96" name="Google Shape;96;p19"/>
          <p:cNvPicPr preferRelativeResize="0"/>
          <p:nvPr/>
        </p:nvPicPr>
        <p:blipFill rotWithShape="1">
          <a:blip r:embed="rId5">
            <a:alphaModFix/>
          </a:blip>
          <a:srcRect b="0" l="0" r="0" t="0"/>
          <a:stretch/>
        </p:blipFill>
        <p:spPr>
          <a:xfrm>
            <a:off x="10552616" y="198076"/>
            <a:ext cx="724984" cy="125059"/>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bg>
      <p:bgPr>
        <a:solidFill>
          <a:schemeClr val="lt1"/>
        </a:solidFill>
      </p:bgPr>
    </p:bg>
    <p:spTree>
      <p:nvGrpSpPr>
        <p:cNvPr id="97" name="Shape 97"/>
        <p:cNvGrpSpPr/>
        <p:nvPr/>
      </p:nvGrpSpPr>
      <p:grpSpPr>
        <a:xfrm>
          <a:off x="0" y="0"/>
          <a:ext cx="0" cy="0"/>
          <a:chOff x="0" y="0"/>
          <a:chExt cx="0" cy="0"/>
        </a:xfrm>
      </p:grpSpPr>
      <p:sp>
        <p:nvSpPr>
          <p:cNvPr id="98" name="Google Shape;98;p20"/>
          <p:cNvSpPr txBox="1"/>
          <p:nvPr>
            <p:ph idx="1" type="body"/>
          </p:nvPr>
        </p:nvSpPr>
        <p:spPr>
          <a:xfrm>
            <a:off x="839789" y="1289302"/>
            <a:ext cx="5157787" cy="24040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rgbClr val="00BCE4"/>
              </a:buClr>
              <a:buSzPts val="1200"/>
              <a:buNone/>
              <a:defRPr b="1" sz="1200">
                <a:solidFill>
                  <a:srgbClr val="00BCE4"/>
                </a:solidFil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9" name="Google Shape;99;p20"/>
          <p:cNvSpPr txBox="1"/>
          <p:nvPr>
            <p:ph idx="2" type="body"/>
          </p:nvPr>
        </p:nvSpPr>
        <p:spPr>
          <a:xfrm>
            <a:off x="839789" y="1645105"/>
            <a:ext cx="5157787" cy="4674502"/>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1"/>
              </a:buClr>
              <a:buSzPts val="2000"/>
              <a:buChar char="•"/>
              <a:defRPr sz="2000"/>
            </a:lvl1pPr>
            <a:lvl2pPr indent="-330200" lvl="1" marL="914400" algn="l">
              <a:lnSpc>
                <a:spcPct val="100000"/>
              </a:lnSpc>
              <a:spcBef>
                <a:spcPts val="500"/>
              </a:spcBef>
              <a:spcAft>
                <a:spcPts val="0"/>
              </a:spcAft>
              <a:buClr>
                <a:schemeClr val="dk1"/>
              </a:buClr>
              <a:buSzPts val="1600"/>
              <a:buChar char="•"/>
              <a:defRPr sz="1600"/>
            </a:lvl2pPr>
            <a:lvl3pPr indent="-330200" lvl="2" marL="1371600" algn="l">
              <a:lnSpc>
                <a:spcPct val="100000"/>
              </a:lnSpc>
              <a:spcBef>
                <a:spcPts val="500"/>
              </a:spcBef>
              <a:spcAft>
                <a:spcPts val="0"/>
              </a:spcAft>
              <a:buClr>
                <a:schemeClr val="dk1"/>
              </a:buClr>
              <a:buSzPts val="1600"/>
              <a:buChar char="•"/>
              <a:defRPr sz="1600"/>
            </a:lvl3pPr>
            <a:lvl4pPr indent="-330200" lvl="3" marL="1828800" algn="l">
              <a:lnSpc>
                <a:spcPct val="100000"/>
              </a:lnSpc>
              <a:spcBef>
                <a:spcPts val="5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20"/>
          <p:cNvSpPr txBox="1"/>
          <p:nvPr>
            <p:ph idx="3" type="body"/>
          </p:nvPr>
        </p:nvSpPr>
        <p:spPr>
          <a:xfrm>
            <a:off x="6172201" y="1289301"/>
            <a:ext cx="5183188" cy="240406"/>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rgbClr val="00BCE4"/>
              </a:buClr>
              <a:buSzPts val="1200"/>
              <a:buNone/>
              <a:defRPr b="1" sz="1200">
                <a:solidFill>
                  <a:srgbClr val="00BCE4"/>
                </a:solidFil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01" name="Google Shape;101;p20"/>
          <p:cNvSpPr txBox="1"/>
          <p:nvPr>
            <p:ph idx="4" type="body"/>
          </p:nvPr>
        </p:nvSpPr>
        <p:spPr>
          <a:xfrm>
            <a:off x="6172201" y="1645105"/>
            <a:ext cx="5183188" cy="4674502"/>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1"/>
              </a:buClr>
              <a:buSzPts val="2000"/>
              <a:buChar char="•"/>
              <a:defRPr sz="2000"/>
            </a:lvl1pPr>
            <a:lvl2pPr indent="-330200" lvl="1" marL="914400" algn="l">
              <a:lnSpc>
                <a:spcPct val="100000"/>
              </a:lnSpc>
              <a:spcBef>
                <a:spcPts val="500"/>
              </a:spcBef>
              <a:spcAft>
                <a:spcPts val="0"/>
              </a:spcAft>
              <a:buClr>
                <a:schemeClr val="dk1"/>
              </a:buClr>
              <a:buSzPts val="1600"/>
              <a:buChar char="•"/>
              <a:defRPr sz="1600"/>
            </a:lvl2pPr>
            <a:lvl3pPr indent="-330200" lvl="2" marL="1371600" algn="l">
              <a:lnSpc>
                <a:spcPct val="100000"/>
              </a:lnSpc>
              <a:spcBef>
                <a:spcPts val="500"/>
              </a:spcBef>
              <a:spcAft>
                <a:spcPts val="0"/>
              </a:spcAft>
              <a:buClr>
                <a:schemeClr val="dk1"/>
              </a:buClr>
              <a:buSzPts val="1600"/>
              <a:buChar char="•"/>
              <a:defRPr sz="1600"/>
            </a:lvl3pPr>
            <a:lvl4pPr indent="-330200" lvl="3" marL="1828800" algn="l">
              <a:lnSpc>
                <a:spcPct val="100000"/>
              </a:lnSpc>
              <a:spcBef>
                <a:spcPts val="5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 name="Google Shape;102;p20"/>
          <p:cNvSpPr txBox="1"/>
          <p:nvPr>
            <p:ph type="title"/>
          </p:nvPr>
        </p:nvSpPr>
        <p:spPr>
          <a:xfrm>
            <a:off x="838200" y="549389"/>
            <a:ext cx="10515600" cy="7326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4B8D"/>
              </a:buClr>
              <a:buSzPts val="3000"/>
              <a:buFont typeface="Arial"/>
              <a:buNone/>
              <a:defRPr sz="3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103" name="Google Shape;103;p20"/>
          <p:cNvCxnSpPr/>
          <p:nvPr/>
        </p:nvCxnSpPr>
        <p:spPr>
          <a:xfrm>
            <a:off x="914400" y="500338"/>
            <a:ext cx="10363200" cy="0"/>
          </a:xfrm>
          <a:prstGeom prst="straightConnector1">
            <a:avLst/>
          </a:prstGeom>
          <a:noFill/>
          <a:ln cap="flat" cmpd="sng" w="9525">
            <a:solidFill>
              <a:srgbClr val="595A59"/>
            </a:solidFill>
            <a:prstDash val="solid"/>
            <a:miter lim="800000"/>
            <a:headEnd len="sm" w="sm" type="none"/>
            <a:tailEnd len="sm" w="sm" type="none"/>
          </a:ln>
        </p:spPr>
      </p:cxnSp>
      <p:cxnSp>
        <p:nvCxnSpPr>
          <p:cNvPr id="104" name="Google Shape;104;p20"/>
          <p:cNvCxnSpPr/>
          <p:nvPr/>
        </p:nvCxnSpPr>
        <p:spPr>
          <a:xfrm>
            <a:off x="3519055" y="6536988"/>
            <a:ext cx="7819327" cy="0"/>
          </a:xfrm>
          <a:prstGeom prst="straightConnector1">
            <a:avLst/>
          </a:prstGeom>
          <a:noFill/>
          <a:ln cap="flat" cmpd="sng" w="9525">
            <a:solidFill>
              <a:srgbClr val="595A59"/>
            </a:solidFill>
            <a:prstDash val="solid"/>
            <a:miter lim="800000"/>
            <a:headEnd len="sm" w="sm" type="none"/>
            <a:tailEnd len="sm" w="sm" type="none"/>
          </a:ln>
        </p:spPr>
      </p:cxnSp>
      <p:pic>
        <p:nvPicPr>
          <p:cNvPr id="105" name="Google Shape;105;p20"/>
          <p:cNvPicPr preferRelativeResize="0"/>
          <p:nvPr/>
        </p:nvPicPr>
        <p:blipFill rotWithShape="1">
          <a:blip r:embed="rId2">
            <a:alphaModFix/>
          </a:blip>
          <a:srcRect b="0" l="0" r="0" t="0"/>
          <a:stretch/>
        </p:blipFill>
        <p:spPr>
          <a:xfrm>
            <a:off x="864334" y="6513870"/>
            <a:ext cx="2560320" cy="53098"/>
          </a:xfrm>
          <a:prstGeom prst="rect">
            <a:avLst/>
          </a:prstGeom>
          <a:noFill/>
          <a:ln>
            <a:noFill/>
          </a:ln>
        </p:spPr>
      </p:pic>
      <p:sp>
        <p:nvSpPr>
          <p:cNvPr id="106" name="Google Shape;106;p20"/>
          <p:cNvSpPr txBox="1"/>
          <p:nvPr>
            <p:ph idx="5" type="body"/>
          </p:nvPr>
        </p:nvSpPr>
        <p:spPr>
          <a:xfrm>
            <a:off x="7860271" y="6621065"/>
            <a:ext cx="3324969" cy="15044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dk1"/>
              </a:buClr>
              <a:buSzPts val="450"/>
              <a:buNone/>
              <a:defRPr sz="450">
                <a:solidFill>
                  <a:schemeClr val="dk1"/>
                </a:solidFill>
              </a:defRPr>
            </a:lvl1pPr>
            <a:lvl2pPr indent="-228600" lvl="1" marL="914400" algn="l">
              <a:lnSpc>
                <a:spcPct val="90000"/>
              </a:lnSpc>
              <a:spcBef>
                <a:spcPts val="500"/>
              </a:spcBef>
              <a:spcAft>
                <a:spcPts val="0"/>
              </a:spcAft>
              <a:buClr>
                <a:schemeClr val="dk1"/>
              </a:buClr>
              <a:buSzPts val="750"/>
              <a:buNone/>
              <a:defRPr sz="750"/>
            </a:lvl2pPr>
            <a:lvl3pPr indent="-228600" lvl="2" marL="1371600" algn="l">
              <a:lnSpc>
                <a:spcPct val="90000"/>
              </a:lnSpc>
              <a:spcBef>
                <a:spcPts val="500"/>
              </a:spcBef>
              <a:spcAft>
                <a:spcPts val="0"/>
              </a:spcAft>
              <a:buClr>
                <a:schemeClr val="dk1"/>
              </a:buClr>
              <a:buSzPts val="750"/>
              <a:buNone/>
              <a:defRPr sz="750"/>
            </a:lvl3pPr>
            <a:lvl4pPr indent="-228600" lvl="3" marL="1828800" algn="l">
              <a:lnSpc>
                <a:spcPct val="90000"/>
              </a:lnSpc>
              <a:spcBef>
                <a:spcPts val="500"/>
              </a:spcBef>
              <a:spcAft>
                <a:spcPts val="0"/>
              </a:spcAft>
              <a:buClr>
                <a:schemeClr val="dk1"/>
              </a:buClr>
              <a:buSzPts val="750"/>
              <a:buNone/>
              <a:defRPr sz="750"/>
            </a:lvl4pPr>
            <a:lvl5pPr indent="-228600" lvl="4" marL="2286000" algn="l">
              <a:lnSpc>
                <a:spcPct val="90000"/>
              </a:lnSpc>
              <a:spcBef>
                <a:spcPts val="500"/>
              </a:spcBef>
              <a:spcAft>
                <a:spcPts val="0"/>
              </a:spcAft>
              <a:buClr>
                <a:schemeClr val="dk1"/>
              </a:buClr>
              <a:buSzPts val="750"/>
              <a:buNone/>
              <a:defRPr sz="75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20"/>
          <p:cNvSpPr txBox="1"/>
          <p:nvPr/>
        </p:nvSpPr>
        <p:spPr>
          <a:xfrm>
            <a:off x="11086011" y="6603491"/>
            <a:ext cx="349637" cy="1846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pic>
        <p:nvPicPr>
          <p:cNvPr id="108" name="Google Shape;108;p20"/>
          <p:cNvPicPr preferRelativeResize="0"/>
          <p:nvPr/>
        </p:nvPicPr>
        <p:blipFill rotWithShape="1">
          <a:blip r:embed="rId3">
            <a:alphaModFix/>
          </a:blip>
          <a:srcRect b="19869" l="15574" r="15790" t="0"/>
          <a:stretch/>
        </p:blipFill>
        <p:spPr>
          <a:xfrm>
            <a:off x="1486269" y="71255"/>
            <a:ext cx="283299" cy="384952"/>
          </a:xfrm>
          <a:prstGeom prst="rect">
            <a:avLst/>
          </a:prstGeom>
          <a:noFill/>
          <a:ln>
            <a:noFill/>
          </a:ln>
        </p:spPr>
      </p:pic>
      <p:pic>
        <p:nvPicPr>
          <p:cNvPr id="109" name="Google Shape;109;p20"/>
          <p:cNvPicPr preferRelativeResize="0"/>
          <p:nvPr/>
        </p:nvPicPr>
        <p:blipFill rotWithShape="1">
          <a:blip r:embed="rId4">
            <a:alphaModFix/>
          </a:blip>
          <a:srcRect b="12697" l="14497" r="15923" t="0"/>
          <a:stretch/>
        </p:blipFill>
        <p:spPr>
          <a:xfrm>
            <a:off x="881412" y="71254"/>
            <a:ext cx="409029" cy="371417"/>
          </a:xfrm>
          <a:prstGeom prst="rect">
            <a:avLst/>
          </a:prstGeom>
          <a:noFill/>
          <a:ln>
            <a:noFill/>
          </a:ln>
        </p:spPr>
      </p:pic>
      <p:pic>
        <p:nvPicPr>
          <p:cNvPr id="110" name="Google Shape;110;p20"/>
          <p:cNvPicPr preferRelativeResize="0"/>
          <p:nvPr/>
        </p:nvPicPr>
        <p:blipFill rotWithShape="1">
          <a:blip r:embed="rId5">
            <a:alphaModFix/>
          </a:blip>
          <a:srcRect b="0" l="0" r="0" t="0"/>
          <a:stretch/>
        </p:blipFill>
        <p:spPr>
          <a:xfrm>
            <a:off x="10552616" y="198076"/>
            <a:ext cx="724984" cy="1250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4B8D"/>
              </a:buClr>
              <a:buSzPts val="3000"/>
              <a:buFont typeface="Arial"/>
              <a:buNone/>
              <a:defRPr b="0" i="0" sz="3000" u="none" cap="none" strike="noStrike">
                <a:solidFill>
                  <a:srgbClr val="004B8D"/>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30200" lvl="0" marL="457200" marR="0" rtl="0" algn="l">
              <a:lnSpc>
                <a:spcPct val="90000"/>
              </a:lnSpc>
              <a:spcBef>
                <a:spcPts val="10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0.jpg"/><Relationship Id="rId4" Type="http://schemas.openxmlformats.org/officeDocument/2006/relationships/image" Target="../media/image20.jpg"/><Relationship Id="rId5" Type="http://schemas.openxmlformats.org/officeDocument/2006/relationships/image" Target="../media/image43.png"/><Relationship Id="rId6" Type="http://schemas.openxmlformats.org/officeDocument/2006/relationships/image" Target="../media/image3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2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5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4.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5.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3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8.png"/><Relationship Id="rId4" Type="http://schemas.openxmlformats.org/officeDocument/2006/relationships/image" Target="../media/image3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5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5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9.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4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4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5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5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
          <p:cNvSpPr txBox="1"/>
          <p:nvPr>
            <p:ph type="ctrTitle"/>
          </p:nvPr>
        </p:nvSpPr>
        <p:spPr>
          <a:xfrm>
            <a:off x="510396" y="2907101"/>
            <a:ext cx="11171208" cy="1570003"/>
          </a:xfrm>
          <a:prstGeom prst="rect">
            <a:avLst/>
          </a:prstGeom>
          <a:noFill/>
          <a:ln>
            <a:noFill/>
          </a:ln>
        </p:spPr>
        <p:txBody>
          <a:bodyPr anchorCtr="0" anchor="ctr" bIns="45700" lIns="0" spcFirstLastPara="1" rIns="0" wrap="square" tIns="45700">
            <a:normAutofit/>
          </a:bodyPr>
          <a:lstStyle/>
          <a:p>
            <a:pPr indent="0" lvl="0" marL="0" rtl="0" algn="ctr">
              <a:lnSpc>
                <a:spcPct val="90000"/>
              </a:lnSpc>
              <a:spcBef>
                <a:spcPts val="0"/>
              </a:spcBef>
              <a:spcAft>
                <a:spcPts val="0"/>
              </a:spcAft>
              <a:buClr>
                <a:srgbClr val="F8F8F8"/>
              </a:buClr>
              <a:buSzPts val="4400"/>
              <a:buFont typeface="Arial"/>
              <a:buNone/>
            </a:pPr>
            <a:r>
              <a:rPr lang="en-US">
                <a:latin typeface="Arial"/>
                <a:ea typeface="Arial"/>
                <a:cs typeface="Arial"/>
                <a:sym typeface="Arial"/>
              </a:rPr>
              <a:t>Benchmarking and Evaluating Uncorrelated Track Processing Algorithms</a:t>
            </a:r>
            <a:endParaRPr/>
          </a:p>
        </p:txBody>
      </p:sp>
      <p:sp>
        <p:nvSpPr>
          <p:cNvPr id="116" name="Google Shape;116;p1"/>
          <p:cNvSpPr txBox="1"/>
          <p:nvPr>
            <p:ph idx="2" type="body"/>
          </p:nvPr>
        </p:nvSpPr>
        <p:spPr>
          <a:xfrm>
            <a:off x="7474857" y="6583680"/>
            <a:ext cx="3628535" cy="15044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lt1"/>
              </a:buClr>
              <a:buSzPts val="400"/>
              <a:buNone/>
            </a:pPr>
            <a:r>
              <a:rPr lang="en-US"/>
              <a:t>“DISTRIBUTION C – Distribution authorized to U.S. Government Agencies and their contractors; Technical content. July 15, 2025.”</a:t>
            </a:r>
            <a:endParaRPr/>
          </a:p>
          <a:p>
            <a:pPr indent="0" lvl="0" marL="0" rtl="0" algn="r">
              <a:lnSpc>
                <a:spcPct val="90000"/>
              </a:lnSpc>
              <a:spcBef>
                <a:spcPts val="1000"/>
              </a:spcBef>
              <a:spcAft>
                <a:spcPts val="0"/>
              </a:spcAft>
              <a:buClr>
                <a:schemeClr val="lt1"/>
              </a:buClr>
              <a:buSzPts val="450"/>
              <a:buNone/>
            </a:pPr>
            <a:r>
              <a:t/>
            </a:r>
            <a:endParaRPr/>
          </a:p>
        </p:txBody>
      </p:sp>
      <p:sp>
        <p:nvSpPr>
          <p:cNvPr id="117" name="Google Shape;117;p1"/>
          <p:cNvSpPr txBox="1"/>
          <p:nvPr>
            <p:ph idx="1" type="body"/>
          </p:nvPr>
        </p:nvSpPr>
        <p:spPr>
          <a:xfrm>
            <a:off x="871987" y="4792110"/>
            <a:ext cx="10448026" cy="714058"/>
          </a:xfrm>
          <a:prstGeom prst="rect">
            <a:avLst/>
          </a:prstGeom>
          <a:noFill/>
          <a:ln>
            <a:noFill/>
          </a:ln>
        </p:spPr>
        <p:txBody>
          <a:bodyPr anchorCtr="0" anchor="t" bIns="45700" lIns="91425" spcFirstLastPara="1" rIns="91425" wrap="square" tIns="45700">
            <a:noAutofit/>
          </a:bodyPr>
          <a:lstStyle/>
          <a:p>
            <a:pPr indent="0" lvl="0" marL="0" rtl="0" algn="ctr">
              <a:lnSpc>
                <a:spcPct val="150000"/>
              </a:lnSpc>
              <a:spcBef>
                <a:spcPts val="0"/>
              </a:spcBef>
              <a:spcAft>
                <a:spcPts val="0"/>
              </a:spcAft>
              <a:buClr>
                <a:schemeClr val="lt1"/>
              </a:buClr>
              <a:buSzPts val="1200"/>
              <a:buNone/>
            </a:pPr>
            <a:r>
              <a:rPr lang="en-US">
                <a:latin typeface="Arial"/>
                <a:ea typeface="Arial"/>
                <a:cs typeface="Arial"/>
                <a:sym typeface="Arial"/>
              </a:rPr>
              <a:t>Louis Caves, Gabriel Lundin, Binyamin Stivi, Miles Puchner</a:t>
            </a:r>
            <a:endParaRPr/>
          </a:p>
          <a:p>
            <a:pPr indent="0" lvl="0" marL="0" rtl="0" algn="ctr">
              <a:lnSpc>
                <a:spcPct val="150000"/>
              </a:lnSpc>
              <a:spcBef>
                <a:spcPts val="1000"/>
              </a:spcBef>
              <a:spcAft>
                <a:spcPts val="0"/>
              </a:spcAft>
              <a:buClr>
                <a:schemeClr val="lt1"/>
              </a:buClr>
              <a:buSzPts val="1200"/>
              <a:buNone/>
            </a:pPr>
            <a:r>
              <a:rPr lang="en-US">
                <a:latin typeface="Arial"/>
                <a:ea typeface="Arial"/>
                <a:cs typeface="Arial"/>
                <a:sym typeface="Arial"/>
              </a:rPr>
              <a:t>, AFRL SCHOLARS PROGRAM INTERN</a:t>
            </a:r>
            <a:endParaRPr/>
          </a:p>
          <a:p>
            <a:pPr indent="0" lvl="0" marL="0" rtl="0" algn="ctr">
              <a:lnSpc>
                <a:spcPct val="150000"/>
              </a:lnSpc>
              <a:spcBef>
                <a:spcPts val="1000"/>
              </a:spcBef>
              <a:spcAft>
                <a:spcPts val="0"/>
              </a:spcAft>
              <a:buClr>
                <a:schemeClr val="lt1"/>
              </a:buClr>
              <a:buSzPts val="1200"/>
              <a:buNone/>
            </a:pPr>
            <a:r>
              <a:rPr lang="en-US">
                <a:latin typeface="Arial"/>
                <a:ea typeface="Arial"/>
                <a:cs typeface="Arial"/>
                <a:sym typeface="Arial"/>
              </a:rPr>
              <a:t>Graduate LEVEL</a:t>
            </a:r>
            <a:endParaRPr/>
          </a:p>
          <a:p>
            <a:pPr indent="0" lvl="0" marL="0" rtl="0" algn="ctr">
              <a:lnSpc>
                <a:spcPct val="150000"/>
              </a:lnSpc>
              <a:spcBef>
                <a:spcPts val="1000"/>
              </a:spcBef>
              <a:spcAft>
                <a:spcPts val="0"/>
              </a:spcAft>
              <a:buClr>
                <a:schemeClr val="lt1"/>
              </a:buClr>
              <a:buSzPts val="1200"/>
              <a:buNone/>
            </a:pPr>
            <a:r>
              <a:rPr lang="en-US">
                <a:latin typeface="Arial"/>
                <a:ea typeface="Arial"/>
                <a:cs typeface="Arial"/>
                <a:sym typeface="Arial"/>
              </a:rPr>
              <a:t>SDA TAP Lab, SUMMER 2025</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3710947e9cf_1_13"/>
          <p:cNvSpPr txBox="1"/>
          <p:nvPr>
            <p:ph idx="1" type="body"/>
          </p:nvPr>
        </p:nvSpPr>
        <p:spPr>
          <a:xfrm>
            <a:off x="7493000" y="6621080"/>
            <a:ext cx="3692100" cy="237000"/>
          </a:xfrm>
          <a:prstGeom prst="rect">
            <a:avLst/>
          </a:prstGeom>
          <a:solidFill>
            <a:schemeClr val="lt1"/>
          </a:solid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lt1"/>
              </a:buClr>
              <a:buSzPts val="4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sp>
        <p:nvSpPr>
          <p:cNvPr id="124" name="Google Shape;124;g3710947e9cf_1_13"/>
          <p:cNvSpPr txBox="1"/>
          <p:nvPr>
            <p:ph type="title"/>
          </p:nvPr>
        </p:nvSpPr>
        <p:spPr>
          <a:xfrm>
            <a:off x="838200" y="460564"/>
            <a:ext cx="10515600" cy="605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Introduction</a:t>
            </a:r>
            <a:endParaRPr/>
          </a:p>
        </p:txBody>
      </p:sp>
      <p:graphicFrame>
        <p:nvGraphicFramePr>
          <p:cNvPr id="125" name="Google Shape;125;g3710947e9cf_1_13"/>
          <p:cNvGraphicFramePr/>
          <p:nvPr/>
        </p:nvGraphicFramePr>
        <p:xfrm>
          <a:off x="952500" y="1065975"/>
          <a:ext cx="3000000" cy="3000000"/>
        </p:xfrm>
        <a:graphic>
          <a:graphicData uri="http://schemas.openxmlformats.org/drawingml/2006/table">
            <a:tbl>
              <a:tblPr>
                <a:noFill/>
                <a:tableStyleId>{10F5B88E-626F-43D1-9268-4B9707F65251}</a:tableStyleId>
              </a:tblPr>
              <a:tblGrid>
                <a:gridCol w="5143500"/>
                <a:gridCol w="5143500"/>
              </a:tblGrid>
              <a:tr h="27013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Louis Caves</a:t>
                      </a:r>
                      <a:endParaRPr b="1"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US" sz="1400" u="none" cap="none" strike="noStrike"/>
                        <a:t>University at Buffalo, New York</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US" sz="1400" u="none" cap="none" strike="noStrike"/>
                        <a:t>B.S/M.S. Experimental Physics</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US" sz="1400" u="none" cap="none" strike="noStrike"/>
                        <a:t>M.S. Aerospace Engineering</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US" sz="1400" u="none" cap="none" strike="noStrike"/>
                        <a:t>louiscaves@gmail.com</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Gabriel Lundin</a:t>
                      </a:r>
                      <a:endParaRPr b="1"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b="1" sz="1400" u="none" cap="none" strike="noStrike"/>
                    </a:p>
                    <a:p>
                      <a:pPr indent="0" lvl="0" marL="0" marR="0" rtl="0" algn="l">
                        <a:lnSpc>
                          <a:spcPct val="100000"/>
                        </a:lnSpc>
                        <a:spcBef>
                          <a:spcPts val="0"/>
                        </a:spcBef>
                        <a:spcAft>
                          <a:spcPts val="0"/>
                        </a:spcAft>
                        <a:buClr>
                          <a:schemeClr val="dk1"/>
                        </a:buClr>
                        <a:buSzPts val="1400"/>
                        <a:buFont typeface="Arial"/>
                        <a:buNone/>
                      </a:pPr>
                      <a:r>
                        <a:rPr lang="en-US" sz="1400" u="none" cap="none" strike="noStrike">
                          <a:solidFill>
                            <a:schemeClr val="dk1"/>
                          </a:solidFill>
                        </a:rPr>
                        <a:t>Texas A&amp;M University</a:t>
                      </a:r>
                      <a:endParaRPr sz="1400" u="none" cap="none" strike="noStrike">
                        <a:solidFill>
                          <a:schemeClr val="dk1"/>
                        </a:solidFill>
                      </a:endParaRPr>
                    </a:p>
                    <a:p>
                      <a:pPr indent="0" lvl="0" marL="0" marR="0" rtl="0" algn="l">
                        <a:lnSpc>
                          <a:spcPct val="100000"/>
                        </a:lnSpc>
                        <a:spcBef>
                          <a:spcPts val="0"/>
                        </a:spcBef>
                        <a:spcAft>
                          <a:spcPts val="0"/>
                        </a:spcAft>
                        <a:buClr>
                          <a:schemeClr val="dk1"/>
                        </a:buClr>
                        <a:buSzPts val="1400"/>
                        <a:buFont typeface="Arial"/>
                        <a:buNone/>
                      </a:pPr>
                      <a:r>
                        <a:t/>
                      </a:r>
                      <a:endParaRPr sz="1400" u="none" cap="none" strike="noStrike">
                        <a:solidFill>
                          <a:schemeClr val="dk1"/>
                        </a:solidFill>
                      </a:endParaRPr>
                    </a:p>
                    <a:p>
                      <a:pPr indent="0" lvl="0" marL="0" marR="0" rtl="0" algn="l">
                        <a:lnSpc>
                          <a:spcPct val="100000"/>
                        </a:lnSpc>
                        <a:spcBef>
                          <a:spcPts val="0"/>
                        </a:spcBef>
                        <a:spcAft>
                          <a:spcPts val="0"/>
                        </a:spcAft>
                        <a:buClr>
                          <a:schemeClr val="dk1"/>
                        </a:buClr>
                        <a:buSzPts val="1400"/>
                        <a:buFont typeface="Arial"/>
                        <a:buNone/>
                      </a:pPr>
                      <a:r>
                        <a:rPr lang="en-US" sz="1400" u="none" cap="none" strike="noStrike">
                          <a:solidFill>
                            <a:schemeClr val="dk1"/>
                          </a:solidFill>
                        </a:rPr>
                        <a:t>B.S. Aerospace Engineering</a:t>
                      </a:r>
                      <a:endParaRPr sz="1400" u="none" cap="none" strike="noStrike">
                        <a:solidFill>
                          <a:schemeClr val="dk1"/>
                        </a:solidFill>
                      </a:endParaRPr>
                    </a:p>
                    <a:p>
                      <a:pPr indent="0" lvl="0" marL="0" marR="0" rtl="0" algn="l">
                        <a:lnSpc>
                          <a:spcPct val="100000"/>
                        </a:lnSpc>
                        <a:spcBef>
                          <a:spcPts val="0"/>
                        </a:spcBef>
                        <a:spcAft>
                          <a:spcPts val="0"/>
                        </a:spcAft>
                        <a:buClr>
                          <a:schemeClr val="dk1"/>
                        </a:buClr>
                        <a:buSzPts val="1400"/>
                        <a:buFont typeface="Arial"/>
                        <a:buNone/>
                      </a:pPr>
                      <a:r>
                        <a:rPr lang="en-US" sz="1400" u="none" cap="none" strike="noStrike">
                          <a:solidFill>
                            <a:schemeClr val="dk1"/>
                          </a:solidFill>
                        </a:rPr>
                        <a:t>University of Minnesota</a:t>
                      </a:r>
                      <a:endParaRPr sz="1400" u="none" cap="none" strike="noStrike">
                        <a:solidFill>
                          <a:schemeClr val="dk1"/>
                        </a:solidFill>
                      </a:endParaRPr>
                    </a:p>
                    <a:p>
                      <a:pPr indent="0" lvl="0" marL="0" marR="0" rtl="0" algn="l">
                        <a:lnSpc>
                          <a:spcPct val="100000"/>
                        </a:lnSpc>
                        <a:spcBef>
                          <a:spcPts val="0"/>
                        </a:spcBef>
                        <a:spcAft>
                          <a:spcPts val="0"/>
                        </a:spcAft>
                        <a:buClr>
                          <a:schemeClr val="dk1"/>
                        </a:buClr>
                        <a:buSzPts val="1400"/>
                        <a:buFont typeface="Arial"/>
                        <a:buNone/>
                      </a:pPr>
                      <a:r>
                        <a:t/>
                      </a:r>
                      <a:endParaRPr sz="1400" u="none" cap="none" strike="noStrike">
                        <a:solidFill>
                          <a:schemeClr val="dk1"/>
                        </a:solidFill>
                      </a:endParaRPr>
                    </a:p>
                    <a:p>
                      <a:pPr indent="0" lvl="0" marL="0" marR="0" rtl="0" algn="l">
                        <a:lnSpc>
                          <a:spcPct val="100000"/>
                        </a:lnSpc>
                        <a:spcBef>
                          <a:spcPts val="0"/>
                        </a:spcBef>
                        <a:spcAft>
                          <a:spcPts val="0"/>
                        </a:spcAft>
                        <a:buClr>
                          <a:schemeClr val="dk1"/>
                        </a:buClr>
                        <a:buSzPts val="1400"/>
                        <a:buFont typeface="Arial"/>
                        <a:buNone/>
                      </a:pPr>
                      <a:r>
                        <a:rPr lang="en-US" sz="1400" u="none" cap="none" strike="noStrike">
                          <a:solidFill>
                            <a:schemeClr val="dk1"/>
                          </a:solidFill>
                        </a:rPr>
                        <a:t>Ph.D. Aerospace Engineering</a:t>
                      </a:r>
                      <a:endParaRPr sz="1400" u="none" cap="none" strike="noStrike">
                        <a:solidFill>
                          <a:schemeClr val="dk1"/>
                        </a:solidFill>
                      </a:endParaRPr>
                    </a:p>
                    <a:p>
                      <a:pPr indent="0" lvl="0" marL="0" marR="0" rtl="0" algn="l">
                        <a:lnSpc>
                          <a:spcPct val="100000"/>
                        </a:lnSpc>
                        <a:spcBef>
                          <a:spcPts val="0"/>
                        </a:spcBef>
                        <a:spcAft>
                          <a:spcPts val="0"/>
                        </a:spcAft>
                        <a:buClr>
                          <a:schemeClr val="dk1"/>
                        </a:buClr>
                        <a:buSzPts val="1400"/>
                        <a:buFont typeface="Arial"/>
                        <a:buNone/>
                      </a:pPr>
                      <a:r>
                        <a:rPr lang="en-US" sz="1400" u="none" cap="none" strike="noStrike">
                          <a:solidFill>
                            <a:schemeClr val="dk1"/>
                          </a:solidFill>
                        </a:rPr>
                        <a:t>(expected)</a:t>
                      </a:r>
                      <a:endParaRPr sz="1400" u="none" cap="none" strike="noStrike">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US" sz="1400" u="none" cap="none" strike="noStrike"/>
                        <a:t>glundin76@gmail.com</a:t>
                      </a:r>
                      <a:endParaRPr sz="1400" u="none" cap="none" strike="noStrike"/>
                    </a:p>
                  </a:txBody>
                  <a:tcPr marT="91425" marB="91425" marR="91425" marL="91425"/>
                </a:tc>
              </a:tr>
              <a:tr h="27013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Binyamin Stivi</a:t>
                      </a:r>
                      <a:endParaRPr b="1"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b="1" sz="1400" u="none" cap="none" strike="noStrike"/>
                    </a:p>
                    <a:p>
                      <a:pPr indent="0" lvl="0" marL="0" marR="0" rtl="0" algn="l">
                        <a:lnSpc>
                          <a:spcPct val="100000"/>
                        </a:lnSpc>
                        <a:spcBef>
                          <a:spcPts val="0"/>
                        </a:spcBef>
                        <a:spcAft>
                          <a:spcPts val="0"/>
                        </a:spcAft>
                        <a:buClr>
                          <a:srgbClr val="000000"/>
                        </a:buClr>
                        <a:buSzPts val="1400"/>
                        <a:buFont typeface="Arial"/>
                        <a:buNone/>
                      </a:pPr>
                      <a:r>
                        <a:rPr lang="en-US" sz="1400" u="none" cap="none" strike="noStrike"/>
                        <a:t>University of California, San Diego</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US" sz="1400" u="none" cap="none" strike="noStrike"/>
                        <a:t>B.S/M.S Aerospace Engineering</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US" sz="1400" u="none" cap="none" strike="noStrike"/>
                        <a:t>Masters student working on thesis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US" sz="1400" u="none" cap="none" strike="noStrike"/>
                        <a:t>binyamin.stivi@gmail.com</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Miles Puchner</a:t>
                      </a:r>
                      <a:endParaRPr b="1"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b="1" sz="1400" u="none" cap="none" strike="noStrike"/>
                    </a:p>
                    <a:p>
                      <a:pPr indent="0" lvl="0" marL="0" marR="0" rtl="0" algn="l">
                        <a:lnSpc>
                          <a:spcPct val="100000"/>
                        </a:lnSpc>
                        <a:spcBef>
                          <a:spcPts val="0"/>
                        </a:spcBef>
                        <a:spcAft>
                          <a:spcPts val="0"/>
                        </a:spcAft>
                        <a:buClr>
                          <a:srgbClr val="000000"/>
                        </a:buClr>
                        <a:buSzPts val="1400"/>
                        <a:buFont typeface="Arial"/>
                        <a:buNone/>
                      </a:pPr>
                      <a:r>
                        <a:rPr lang="en-US" sz="1400" u="none" cap="none" strike="noStrike"/>
                        <a:t>University of California, San Diego</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US" sz="1400" u="none" cap="none" strike="noStrike"/>
                        <a:t>B.S/M.S Aerospace Engineering</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US" sz="1400" u="none" cap="none" strike="noStrike"/>
                        <a:t>Incoming Masters student</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US" sz="1400" u="none" cap="none" strike="noStrike"/>
                        <a:t>milespuchner@gmail.com</a:t>
                      </a:r>
                      <a:endParaRPr sz="1400" u="none" cap="none" strike="noStrike"/>
                    </a:p>
                  </a:txBody>
                  <a:tcPr marT="91425" marB="91425" marR="91425" marL="91425"/>
                </a:tc>
              </a:tr>
            </a:tbl>
          </a:graphicData>
        </a:graphic>
      </p:graphicFrame>
      <p:pic>
        <p:nvPicPr>
          <p:cNvPr id="126" name="Google Shape;126;g3710947e9cf_1_13" title="IMG_7979.jpg"/>
          <p:cNvPicPr preferRelativeResize="0"/>
          <p:nvPr/>
        </p:nvPicPr>
        <p:blipFill rotWithShape="1">
          <a:blip r:embed="rId3">
            <a:alphaModFix/>
          </a:blip>
          <a:srcRect b="0" l="0" r="0" t="0"/>
          <a:stretch/>
        </p:blipFill>
        <p:spPr>
          <a:xfrm>
            <a:off x="4147325" y="3843525"/>
            <a:ext cx="1948673" cy="2598226"/>
          </a:xfrm>
          <a:prstGeom prst="rect">
            <a:avLst/>
          </a:prstGeom>
          <a:noFill/>
          <a:ln>
            <a:noFill/>
          </a:ln>
        </p:spPr>
      </p:pic>
      <p:pic>
        <p:nvPicPr>
          <p:cNvPr id="127" name="Google Shape;127;g3710947e9cf_1_13" title="Louis - headshot.jpg"/>
          <p:cNvPicPr preferRelativeResize="0"/>
          <p:nvPr/>
        </p:nvPicPr>
        <p:blipFill rotWithShape="1">
          <a:blip r:embed="rId4">
            <a:alphaModFix/>
          </a:blip>
          <a:srcRect b="0" l="0" r="0" t="0"/>
          <a:stretch/>
        </p:blipFill>
        <p:spPr>
          <a:xfrm>
            <a:off x="4147325" y="1442312"/>
            <a:ext cx="1948674" cy="1948674"/>
          </a:xfrm>
          <a:prstGeom prst="rect">
            <a:avLst/>
          </a:prstGeom>
          <a:noFill/>
          <a:ln>
            <a:noFill/>
          </a:ln>
        </p:spPr>
      </p:pic>
      <p:pic>
        <p:nvPicPr>
          <p:cNvPr id="128" name="Google Shape;128;g3710947e9cf_1_13" title="gabriel2.png"/>
          <p:cNvPicPr preferRelativeResize="0"/>
          <p:nvPr/>
        </p:nvPicPr>
        <p:blipFill rotWithShape="1">
          <a:blip r:embed="rId5">
            <a:alphaModFix/>
          </a:blip>
          <a:srcRect b="0" l="0" r="0" t="0"/>
          <a:stretch/>
        </p:blipFill>
        <p:spPr>
          <a:xfrm>
            <a:off x="9417825" y="1290413"/>
            <a:ext cx="1821676" cy="2252450"/>
          </a:xfrm>
          <a:prstGeom prst="rect">
            <a:avLst/>
          </a:prstGeom>
          <a:noFill/>
          <a:ln>
            <a:noFill/>
          </a:ln>
        </p:spPr>
      </p:pic>
      <p:pic>
        <p:nvPicPr>
          <p:cNvPr id="129" name="Google Shape;129;g3710947e9cf_1_13" title="IMG_8661.JPG"/>
          <p:cNvPicPr preferRelativeResize="0"/>
          <p:nvPr/>
        </p:nvPicPr>
        <p:blipFill rotWithShape="1">
          <a:blip r:embed="rId6">
            <a:alphaModFix/>
          </a:blip>
          <a:srcRect b="0" l="0" r="0" t="0"/>
          <a:stretch/>
        </p:blipFill>
        <p:spPr>
          <a:xfrm>
            <a:off x="9326539" y="3891125"/>
            <a:ext cx="1912961" cy="25506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
          <p:cNvSpPr txBox="1"/>
          <p:nvPr>
            <p:ph idx="1" type="body"/>
          </p:nvPr>
        </p:nvSpPr>
        <p:spPr>
          <a:xfrm>
            <a:off x="7516826" y="6621075"/>
            <a:ext cx="3668400" cy="1575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0"/>
              </a:spcBef>
              <a:spcAft>
                <a:spcPts val="0"/>
              </a:spcAft>
              <a:buClr>
                <a:schemeClr val="dk1"/>
              </a:buClr>
              <a:buSzPts val="450"/>
              <a:buNone/>
            </a:pPr>
            <a:r>
              <a:t/>
            </a:r>
            <a:endParaRPr/>
          </a:p>
        </p:txBody>
      </p:sp>
      <p:sp>
        <p:nvSpPr>
          <p:cNvPr id="136" name="Google Shape;136;p2"/>
          <p:cNvSpPr txBox="1"/>
          <p:nvPr>
            <p:ph type="title"/>
          </p:nvPr>
        </p:nvSpPr>
        <p:spPr>
          <a:xfrm>
            <a:off x="838200" y="460564"/>
            <a:ext cx="10515600" cy="605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4B8D"/>
              </a:buClr>
              <a:buSzPct val="100000"/>
              <a:buFont typeface="Arial"/>
              <a:buNone/>
            </a:pPr>
            <a:r>
              <a:rPr lang="en-US"/>
              <a:t>Uncorrelated Tracks (UCT) – What they are and why they matter</a:t>
            </a:r>
            <a:endParaRPr/>
          </a:p>
        </p:txBody>
      </p:sp>
      <p:pic>
        <p:nvPicPr>
          <p:cNvPr id="137" name="Google Shape;137;p2"/>
          <p:cNvPicPr preferRelativeResize="0"/>
          <p:nvPr/>
        </p:nvPicPr>
        <p:blipFill rotWithShape="1">
          <a:blip r:embed="rId3">
            <a:alphaModFix/>
          </a:blip>
          <a:srcRect b="0" l="0" r="0" t="0"/>
          <a:stretch/>
        </p:blipFill>
        <p:spPr>
          <a:xfrm>
            <a:off x="304800" y="1218457"/>
            <a:ext cx="9042690" cy="4880591"/>
          </a:xfrm>
          <a:prstGeom prst="rect">
            <a:avLst/>
          </a:prstGeom>
          <a:noFill/>
          <a:ln>
            <a:noFill/>
          </a:ln>
        </p:spPr>
      </p:pic>
      <p:sp>
        <p:nvSpPr>
          <p:cNvPr id="138" name="Google Shape;138;p2"/>
          <p:cNvSpPr txBox="1"/>
          <p:nvPr/>
        </p:nvSpPr>
        <p:spPr>
          <a:xfrm>
            <a:off x="0" y="6080760"/>
            <a:ext cx="9034272"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Calibri"/>
                <a:ea typeface="Calibri"/>
                <a:cs typeface="Calibri"/>
                <a:sym typeface="Calibri"/>
              </a:rPr>
              <a:t>Retrieved from: https://cdn.mos.cms.futurecdn.net/rU2TmB5aH6Uafd6sigNMeX-1200-80.jpg (July 2025)</a:t>
            </a:r>
            <a:endParaRPr b="0" i="0" sz="1400" u="none" cap="none" strike="noStrike">
              <a:solidFill>
                <a:srgbClr val="000000"/>
              </a:solidFill>
              <a:latin typeface="Arial"/>
              <a:ea typeface="Arial"/>
              <a:cs typeface="Arial"/>
              <a:sym typeface="Arial"/>
            </a:endParaRPr>
          </a:p>
        </p:txBody>
      </p:sp>
      <p:sp>
        <p:nvSpPr>
          <p:cNvPr id="139" name="Google Shape;139;p2"/>
          <p:cNvSpPr txBox="1"/>
          <p:nvPr/>
        </p:nvSpPr>
        <p:spPr>
          <a:xfrm>
            <a:off x="9827555" y="1645920"/>
            <a:ext cx="1635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Do we know what this is?</a:t>
            </a:r>
            <a:endParaRPr b="0" i="0" sz="1400" u="none" cap="none" strike="noStrike">
              <a:solidFill>
                <a:srgbClr val="000000"/>
              </a:solidFill>
              <a:latin typeface="Arial"/>
              <a:ea typeface="Arial"/>
              <a:cs typeface="Arial"/>
              <a:sym typeface="Arial"/>
            </a:endParaRPr>
          </a:p>
        </p:txBody>
      </p:sp>
      <p:cxnSp>
        <p:nvCxnSpPr>
          <p:cNvPr id="140" name="Google Shape;140;p2"/>
          <p:cNvCxnSpPr>
            <a:stCxn id="139" idx="1"/>
          </p:cNvCxnSpPr>
          <p:nvPr/>
        </p:nvCxnSpPr>
        <p:spPr>
          <a:xfrm flipH="1">
            <a:off x="8635955" y="1969170"/>
            <a:ext cx="1191600" cy="2100"/>
          </a:xfrm>
          <a:prstGeom prst="straightConnector1">
            <a:avLst/>
          </a:prstGeom>
          <a:noFill/>
          <a:ln cap="flat" cmpd="sng" w="38100">
            <a:solidFill>
              <a:schemeClr val="accent4"/>
            </a:solidFill>
            <a:prstDash val="solid"/>
            <a:miter lim="800000"/>
            <a:headEnd len="sm" w="sm"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
          <p:cNvSpPr txBox="1"/>
          <p:nvPr>
            <p:ph idx="1" type="body"/>
          </p:nvPr>
        </p:nvSpPr>
        <p:spPr>
          <a:xfrm>
            <a:off x="7397751" y="6621075"/>
            <a:ext cx="3787500" cy="1575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0"/>
              </a:spcBef>
              <a:spcAft>
                <a:spcPts val="0"/>
              </a:spcAft>
              <a:buClr>
                <a:schemeClr val="dk1"/>
              </a:buClr>
              <a:buSzPts val="450"/>
              <a:buNone/>
            </a:pPr>
            <a:r>
              <a:t/>
            </a:r>
            <a:endParaRPr/>
          </a:p>
        </p:txBody>
      </p:sp>
      <p:sp>
        <p:nvSpPr>
          <p:cNvPr id="146" name="Google Shape;146;p3"/>
          <p:cNvSpPr txBox="1"/>
          <p:nvPr>
            <p:ph type="title"/>
          </p:nvPr>
        </p:nvSpPr>
        <p:spPr>
          <a:xfrm>
            <a:off x="838200" y="460564"/>
            <a:ext cx="10515600" cy="605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4B8D"/>
              </a:buClr>
              <a:buSzPts val="3000"/>
              <a:buFont typeface="Arial"/>
              <a:buNone/>
            </a:pPr>
            <a:r>
              <a:rPr lang="en-US"/>
              <a:t>Uncorrelated Track Processing (UCTP)</a:t>
            </a:r>
            <a:endParaRPr/>
          </a:p>
        </p:txBody>
      </p:sp>
      <p:sp>
        <p:nvSpPr>
          <p:cNvPr id="147" name="Google Shape;147;p3"/>
          <p:cNvSpPr txBox="1"/>
          <p:nvPr/>
        </p:nvSpPr>
        <p:spPr>
          <a:xfrm>
            <a:off x="9337040" y="1439050"/>
            <a:ext cx="2590800" cy="230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Inputs: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List of UCTs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Outputs: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Orbital Estimate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List of observations         corresponding to that orbit</a:t>
            </a:r>
            <a:endParaRPr b="0" i="0" sz="1400" u="none" cap="none" strike="noStrike">
              <a:solidFill>
                <a:srgbClr val="000000"/>
              </a:solidFill>
              <a:latin typeface="Arial"/>
              <a:ea typeface="Arial"/>
              <a:cs typeface="Arial"/>
              <a:sym typeface="Arial"/>
            </a:endParaRPr>
          </a:p>
        </p:txBody>
      </p:sp>
      <p:pic>
        <p:nvPicPr>
          <p:cNvPr id="148" name="Google Shape;148;p3"/>
          <p:cNvPicPr preferRelativeResize="0"/>
          <p:nvPr/>
        </p:nvPicPr>
        <p:blipFill rotWithShape="1">
          <a:blip r:embed="rId3">
            <a:alphaModFix/>
          </a:blip>
          <a:srcRect b="0" l="0" r="0" t="0"/>
          <a:stretch/>
        </p:blipFill>
        <p:spPr>
          <a:xfrm>
            <a:off x="152400" y="1426017"/>
            <a:ext cx="9176918" cy="464271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3710947e9cf_0_0"/>
          <p:cNvSpPr txBox="1"/>
          <p:nvPr>
            <p:ph idx="1" type="body"/>
          </p:nvPr>
        </p:nvSpPr>
        <p:spPr>
          <a:xfrm>
            <a:off x="7215201" y="6621075"/>
            <a:ext cx="3969900" cy="1497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sp>
        <p:nvSpPr>
          <p:cNvPr id="155" name="Google Shape;155;g3710947e9cf_0_0"/>
          <p:cNvSpPr txBox="1"/>
          <p:nvPr>
            <p:ph type="title"/>
          </p:nvPr>
        </p:nvSpPr>
        <p:spPr>
          <a:xfrm>
            <a:off x="838200" y="460564"/>
            <a:ext cx="10515600" cy="605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11111"/>
              <a:buNone/>
            </a:pPr>
            <a:r>
              <a:rPr lang="en-US"/>
              <a:t>Benchmarking and Evaluation - The Common Task Framework</a:t>
            </a:r>
            <a:endParaRPr/>
          </a:p>
        </p:txBody>
      </p:sp>
      <p:sp>
        <p:nvSpPr>
          <p:cNvPr id="156" name="Google Shape;156;g3710947e9cf_0_0"/>
          <p:cNvSpPr txBox="1"/>
          <p:nvPr/>
        </p:nvSpPr>
        <p:spPr>
          <a:xfrm>
            <a:off x="734900" y="886800"/>
            <a:ext cx="10618800" cy="548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chemeClr val="dk1"/>
                </a:solidFill>
                <a:latin typeface="Arial"/>
                <a:ea typeface="Arial"/>
                <a:cs typeface="Arial"/>
                <a:sym typeface="Arial"/>
              </a:rPr>
              <a:t>A common task framework has three components</a:t>
            </a:r>
            <a:endParaRPr b="0" i="0" sz="1700" u="none" cap="none" strike="noStrike">
              <a:solidFill>
                <a:schemeClr val="dk1"/>
              </a:solidFill>
              <a:latin typeface="Arial"/>
              <a:ea typeface="Arial"/>
              <a:cs typeface="Arial"/>
              <a:sym typeface="Arial"/>
            </a:endParaRPr>
          </a:p>
          <a:p>
            <a:pPr indent="-336550" lvl="0" marL="457200" marR="0" rtl="0" algn="l">
              <a:lnSpc>
                <a:spcPct val="10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“A publicly available training dataset involving, for each observation, a list of (possibly many) feature measurements, and a class label for that observation</a:t>
            </a:r>
            <a:endParaRPr b="0" i="0" sz="17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336550" lvl="0" marL="457200" marR="0" rtl="0" algn="l">
              <a:lnSpc>
                <a:spcPct val="10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A set of enrolled competitors whose common task is to infer a class prediction rule from the training data</a:t>
            </a:r>
            <a:endParaRPr b="0" i="0" sz="17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336550" lvl="0" marL="457200" marR="0" rtl="0" algn="l">
              <a:lnSpc>
                <a:spcPct val="10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A scoring referee, to which competitors can submit their prediction rule. The referee runs the prediction rule against a testing dataset which is sequestered behind a Chinese wall. The referee objectively and automatically reports the score (prediction accuracy) achieved by the submitted rule.”</a:t>
            </a:r>
            <a:endParaRPr b="0" i="0" sz="17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rPr b="0" i="0" lang="en-US" sz="1700" u="none" cap="none" strike="noStrike">
                <a:solidFill>
                  <a:schemeClr val="dk1"/>
                </a:solidFill>
                <a:latin typeface="Arial"/>
                <a:ea typeface="Arial"/>
                <a:cs typeface="Arial"/>
                <a:sym typeface="Arial"/>
              </a:rPr>
              <a:t>	- David Donoho. </a:t>
            </a:r>
            <a:r>
              <a:rPr b="0" i="1" lang="en-US" sz="1700" u="none" cap="none" strike="noStrike">
                <a:solidFill>
                  <a:schemeClr val="dk1"/>
                </a:solidFill>
                <a:latin typeface="Arial"/>
                <a:ea typeface="Arial"/>
                <a:cs typeface="Arial"/>
                <a:sym typeface="Arial"/>
              </a:rPr>
              <a:t>50 Years of Data Science</a:t>
            </a:r>
            <a:r>
              <a:rPr b="0" i="0" lang="en-US" sz="1700" u="none" cap="none" strike="noStrike">
                <a:solidFill>
                  <a:schemeClr val="dk1"/>
                </a:solidFill>
                <a:latin typeface="Arial"/>
                <a:ea typeface="Arial"/>
                <a:cs typeface="Arial"/>
                <a:sym typeface="Arial"/>
              </a:rPr>
              <a:t>. September 2015</a:t>
            </a:r>
            <a:endParaRPr b="0" i="0" sz="1700" u="none" cap="none" strike="noStrike">
              <a:solidFill>
                <a:schemeClr val="dk1"/>
              </a:solidFill>
              <a:latin typeface="Arial"/>
              <a:ea typeface="Arial"/>
              <a:cs typeface="Arial"/>
              <a:sym typeface="Arial"/>
            </a:endParaRPr>
          </a:p>
        </p:txBody>
      </p:sp>
      <p:pic>
        <p:nvPicPr>
          <p:cNvPr id="157" name="Google Shape;157;g3710947e9cf_0_0"/>
          <p:cNvPicPr preferRelativeResize="0"/>
          <p:nvPr/>
        </p:nvPicPr>
        <p:blipFill rotWithShape="1">
          <a:blip r:embed="rId3">
            <a:alphaModFix/>
          </a:blip>
          <a:srcRect b="0" l="0" r="0" t="0"/>
          <a:stretch/>
        </p:blipFill>
        <p:spPr>
          <a:xfrm>
            <a:off x="698725" y="3843158"/>
            <a:ext cx="10618799" cy="260721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710947e9cf_1_0"/>
          <p:cNvSpPr txBox="1"/>
          <p:nvPr>
            <p:ph idx="1" type="body"/>
          </p:nvPr>
        </p:nvSpPr>
        <p:spPr>
          <a:xfrm>
            <a:off x="7445376" y="6621075"/>
            <a:ext cx="3739800" cy="1575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sp>
        <p:nvSpPr>
          <p:cNvPr id="164" name="Google Shape;164;g3710947e9cf_1_0"/>
          <p:cNvSpPr txBox="1"/>
          <p:nvPr>
            <p:ph type="title"/>
          </p:nvPr>
        </p:nvSpPr>
        <p:spPr>
          <a:xfrm>
            <a:off x="838200" y="460564"/>
            <a:ext cx="10515600" cy="605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Benchmark Structure</a:t>
            </a:r>
            <a:endParaRPr/>
          </a:p>
        </p:txBody>
      </p:sp>
      <p:pic>
        <p:nvPicPr>
          <p:cNvPr id="165" name="Google Shape;165;g3710947e9cf_1_0" title="Benchmarker Process Flow.drawio.png"/>
          <p:cNvPicPr preferRelativeResize="0"/>
          <p:nvPr/>
        </p:nvPicPr>
        <p:blipFill rotWithShape="1">
          <a:blip r:embed="rId3">
            <a:alphaModFix/>
          </a:blip>
          <a:srcRect b="0" l="0" r="0" t="0"/>
          <a:stretch/>
        </p:blipFill>
        <p:spPr>
          <a:xfrm>
            <a:off x="1928813" y="1218364"/>
            <a:ext cx="8486775" cy="5057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710947e9cf_1_73"/>
          <p:cNvSpPr txBox="1"/>
          <p:nvPr>
            <p:ph type="title"/>
          </p:nvPr>
        </p:nvSpPr>
        <p:spPr>
          <a:xfrm>
            <a:off x="838200" y="446720"/>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Challenges of a UCTP Benchmark</a:t>
            </a:r>
            <a:endParaRPr/>
          </a:p>
        </p:txBody>
      </p:sp>
      <p:sp>
        <p:nvSpPr>
          <p:cNvPr id="172" name="Google Shape;172;g3710947e9cf_1_73"/>
          <p:cNvSpPr txBox="1"/>
          <p:nvPr>
            <p:ph idx="1" type="body"/>
          </p:nvPr>
        </p:nvSpPr>
        <p:spPr>
          <a:xfrm>
            <a:off x="838200" y="1335427"/>
            <a:ext cx="10515600" cy="20937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1000"/>
              </a:spcBef>
              <a:spcAft>
                <a:spcPts val="0"/>
              </a:spcAft>
              <a:buSzPts val="2000"/>
              <a:buChar char="•"/>
            </a:pPr>
            <a:r>
              <a:rPr lang="en-US"/>
              <a:t>UCTP has to be treated as a “black box”</a:t>
            </a:r>
            <a:endParaRPr/>
          </a:p>
          <a:p>
            <a:pPr indent="-355600" lvl="0" marL="457200" rtl="0" algn="l">
              <a:lnSpc>
                <a:spcPct val="100000"/>
              </a:lnSpc>
              <a:spcBef>
                <a:spcPts val="0"/>
              </a:spcBef>
              <a:spcAft>
                <a:spcPts val="0"/>
              </a:spcAft>
              <a:buSzPts val="2000"/>
              <a:buChar char="•"/>
            </a:pPr>
            <a:r>
              <a:rPr lang="en-US"/>
              <a:t>Benchmark must be as universal as possible</a:t>
            </a:r>
            <a:endParaRPr/>
          </a:p>
          <a:p>
            <a:pPr indent="-355600" lvl="0" marL="457200" rtl="0" algn="l">
              <a:lnSpc>
                <a:spcPct val="100000"/>
              </a:lnSpc>
              <a:spcBef>
                <a:spcPts val="0"/>
              </a:spcBef>
              <a:spcAft>
                <a:spcPts val="0"/>
              </a:spcAft>
              <a:buSzPts val="2000"/>
              <a:buChar char="•"/>
            </a:pPr>
            <a:r>
              <a:rPr lang="en-US"/>
              <a:t>UCTP Benchmark must be able to give any standard of inputs and objectively grade any standard of outputs</a:t>
            </a:r>
            <a:endParaRPr/>
          </a:p>
          <a:p>
            <a:pPr indent="-355600" lvl="0" marL="457200" rtl="0" algn="l">
              <a:lnSpc>
                <a:spcPct val="100000"/>
              </a:lnSpc>
              <a:spcBef>
                <a:spcPts val="0"/>
              </a:spcBef>
              <a:spcAft>
                <a:spcPts val="0"/>
              </a:spcAft>
              <a:buSzPts val="2000"/>
              <a:buChar char="•"/>
            </a:pPr>
            <a:r>
              <a:rPr lang="en-US"/>
              <a:t>Available data is sporadic, dependant on accessibility, and incomplete</a:t>
            </a:r>
            <a:endParaRPr/>
          </a:p>
          <a:p>
            <a:pPr indent="-355600" lvl="0" marL="457200" rtl="0" algn="l">
              <a:lnSpc>
                <a:spcPct val="100000"/>
              </a:lnSpc>
              <a:spcBef>
                <a:spcPts val="0"/>
              </a:spcBef>
              <a:spcAft>
                <a:spcPts val="0"/>
              </a:spcAft>
              <a:buSzPts val="2000"/>
              <a:buChar char="•"/>
            </a:pPr>
            <a:r>
              <a:rPr lang="en-US"/>
              <a:t>Datasets are heavily time-dependant</a:t>
            </a:r>
            <a:endParaRPr/>
          </a:p>
        </p:txBody>
      </p:sp>
      <p:sp>
        <p:nvSpPr>
          <p:cNvPr id="173" name="Google Shape;173;g3710947e9cf_1_73"/>
          <p:cNvSpPr txBox="1"/>
          <p:nvPr>
            <p:ph idx="2" type="body"/>
          </p:nvPr>
        </p:nvSpPr>
        <p:spPr>
          <a:xfrm>
            <a:off x="7453075" y="6621075"/>
            <a:ext cx="3732000" cy="1545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pic>
        <p:nvPicPr>
          <p:cNvPr id="174" name="Google Shape;174;g3710947e9cf_1_73" title="Black-Box-Testing-Cropped.jpg"/>
          <p:cNvPicPr preferRelativeResize="0"/>
          <p:nvPr/>
        </p:nvPicPr>
        <p:blipFill rotWithShape="1">
          <a:blip r:embed="rId3">
            <a:alphaModFix/>
          </a:blip>
          <a:srcRect b="0" l="0" r="0" t="0"/>
          <a:stretch/>
        </p:blipFill>
        <p:spPr>
          <a:xfrm>
            <a:off x="1853875" y="3428988"/>
            <a:ext cx="8115300" cy="2333625"/>
          </a:xfrm>
          <a:prstGeom prst="rect">
            <a:avLst/>
          </a:prstGeom>
          <a:noFill/>
          <a:ln>
            <a:noFill/>
          </a:ln>
        </p:spPr>
      </p:pic>
      <p:sp>
        <p:nvSpPr>
          <p:cNvPr id="175" name="Google Shape;175;g3710947e9cf_1_73"/>
          <p:cNvSpPr txBox="1"/>
          <p:nvPr/>
        </p:nvSpPr>
        <p:spPr>
          <a:xfrm>
            <a:off x="2072425" y="6053400"/>
            <a:ext cx="7678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Calibri"/>
                <a:ea typeface="Calibri"/>
                <a:cs typeface="Calibri"/>
                <a:sym typeface="Calibri"/>
              </a:rPr>
              <a:t>Retrieved from: https://www.testbirds.com/en/blog/black-box-testing-enhancing-user-experience/ (July 2025)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710947e9cf_0_11"/>
          <p:cNvSpPr txBox="1"/>
          <p:nvPr>
            <p:ph type="title"/>
          </p:nvPr>
        </p:nvSpPr>
        <p:spPr>
          <a:xfrm>
            <a:off x="2342573" y="1903867"/>
            <a:ext cx="7494300" cy="2852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400"/>
              <a:buNone/>
            </a:pPr>
            <a:r>
              <a:rPr lang="en-US"/>
              <a:t>Data Set Generation</a:t>
            </a:r>
            <a:endParaRPr/>
          </a:p>
        </p:txBody>
      </p:sp>
      <p:sp>
        <p:nvSpPr>
          <p:cNvPr id="182" name="Google Shape;182;g3710947e9cf_0_11"/>
          <p:cNvSpPr txBox="1"/>
          <p:nvPr>
            <p:ph idx="1" type="body"/>
          </p:nvPr>
        </p:nvSpPr>
        <p:spPr>
          <a:xfrm>
            <a:off x="7541450" y="6621077"/>
            <a:ext cx="3643800" cy="1740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t>“DISTRIBUTION C – Distribution authorized to U.S. Government Agencies and their contractors; Technical content. July 15, 2025.”</a:t>
            </a:r>
            <a:endParaRPr/>
          </a:p>
          <a:p>
            <a:pPr indent="0" lvl="0" marL="0" rtl="0" algn="r">
              <a:lnSpc>
                <a:spcPct val="90000"/>
              </a:lnSpc>
              <a:spcBef>
                <a:spcPts val="1000"/>
              </a:spcBef>
              <a:spcAft>
                <a:spcPts val="0"/>
              </a:spcAft>
              <a:buSzPts val="45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713fd8d166_0_21"/>
          <p:cNvSpPr txBox="1"/>
          <p:nvPr>
            <p:ph type="title"/>
          </p:nvPr>
        </p:nvSpPr>
        <p:spPr>
          <a:xfrm>
            <a:off x="838200" y="446720"/>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Terminology</a:t>
            </a:r>
            <a:endParaRPr/>
          </a:p>
        </p:txBody>
      </p:sp>
      <p:sp>
        <p:nvSpPr>
          <p:cNvPr id="189" name="Google Shape;189;g3713fd8d166_0_21"/>
          <p:cNvSpPr txBox="1"/>
          <p:nvPr>
            <p:ph idx="1" type="body"/>
          </p:nvPr>
        </p:nvSpPr>
        <p:spPr>
          <a:xfrm>
            <a:off x="838200" y="1335416"/>
            <a:ext cx="10515600" cy="50223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00000"/>
              </a:lnSpc>
              <a:spcBef>
                <a:spcPts val="1000"/>
              </a:spcBef>
              <a:spcAft>
                <a:spcPts val="0"/>
              </a:spcAft>
              <a:buClr>
                <a:schemeClr val="dk1"/>
              </a:buClr>
              <a:buSzPts val="1100"/>
              <a:buFont typeface="Arial"/>
              <a:buNone/>
            </a:pPr>
            <a:r>
              <a:rPr b="1" lang="en-US"/>
              <a:t>TrackTLE</a:t>
            </a:r>
            <a:r>
              <a:rPr lang="en-US"/>
              <a:t>: TLE (Two Line Element) generated by performing initial orbit determination on a single track of observations. These are used in the benchmark datasets to emulate UCT TLEs</a:t>
            </a:r>
            <a:endParaRPr/>
          </a:p>
          <a:p>
            <a:pPr indent="0" lvl="0" marL="0" rtl="0" algn="l">
              <a:lnSpc>
                <a:spcPct val="100000"/>
              </a:lnSpc>
              <a:spcBef>
                <a:spcPts val="1000"/>
              </a:spcBef>
              <a:spcAft>
                <a:spcPts val="0"/>
              </a:spcAft>
              <a:buClr>
                <a:schemeClr val="dk1"/>
              </a:buClr>
              <a:buSzPts val="1100"/>
              <a:buFont typeface="Arial"/>
              <a:buNone/>
            </a:pPr>
            <a:r>
              <a:t/>
            </a:r>
            <a:endParaRPr/>
          </a:p>
          <a:p>
            <a:pPr indent="0" lvl="0" marL="0" rtl="0" algn="l">
              <a:lnSpc>
                <a:spcPct val="100000"/>
              </a:lnSpc>
              <a:spcBef>
                <a:spcPts val="1000"/>
              </a:spcBef>
              <a:spcAft>
                <a:spcPts val="0"/>
              </a:spcAft>
              <a:buClr>
                <a:schemeClr val="dk1"/>
              </a:buClr>
              <a:buSzPts val="1100"/>
              <a:buFont typeface="Arial"/>
              <a:buNone/>
            </a:pPr>
            <a:r>
              <a:rPr b="1" lang="en-US"/>
              <a:t>Reference Object</a:t>
            </a:r>
            <a:r>
              <a:rPr lang="en-US"/>
              <a:t>: Satellite with known NORAD ID, state vector, TLE, and list of observations publicly available on the UDL that are made a part of a benchmark dataset. </a:t>
            </a:r>
            <a:endParaRPr/>
          </a:p>
          <a:p>
            <a:pPr indent="0" lvl="0" marL="0" rtl="0" algn="l">
              <a:lnSpc>
                <a:spcPct val="100000"/>
              </a:lnSpc>
              <a:spcBef>
                <a:spcPts val="1000"/>
              </a:spcBef>
              <a:spcAft>
                <a:spcPts val="0"/>
              </a:spcAft>
              <a:buClr>
                <a:schemeClr val="dk1"/>
              </a:buClr>
              <a:buSzPts val="1100"/>
              <a:buFont typeface="Arial"/>
              <a:buNone/>
            </a:pPr>
            <a:r>
              <a:t/>
            </a:r>
            <a:endParaRPr/>
          </a:p>
          <a:p>
            <a:pPr indent="0" lvl="0" marL="0" rtl="0" algn="l">
              <a:lnSpc>
                <a:spcPct val="100000"/>
              </a:lnSpc>
              <a:spcBef>
                <a:spcPts val="1000"/>
              </a:spcBef>
              <a:spcAft>
                <a:spcPts val="0"/>
              </a:spcAft>
              <a:buClr>
                <a:schemeClr val="dk1"/>
              </a:buClr>
              <a:buSzPts val="1100"/>
              <a:buFont typeface="Arial"/>
              <a:buNone/>
            </a:pPr>
            <a:r>
              <a:rPr b="1" lang="en-US"/>
              <a:t>Reference Orbit</a:t>
            </a:r>
            <a:r>
              <a:rPr lang="en-US"/>
              <a:t>: State Vector, TLE, a list of observations, and a list of trackTLEs generated from the list of observations that are associated with a Reference Object.</a:t>
            </a:r>
            <a:endParaRPr/>
          </a:p>
          <a:p>
            <a:pPr indent="0" lvl="0" marL="0" rtl="0" algn="l">
              <a:lnSpc>
                <a:spcPct val="100000"/>
              </a:lnSpc>
              <a:spcBef>
                <a:spcPts val="1000"/>
              </a:spcBef>
              <a:spcAft>
                <a:spcPts val="0"/>
              </a:spcAft>
              <a:buClr>
                <a:schemeClr val="dk1"/>
              </a:buClr>
              <a:buSzPts val="1100"/>
              <a:buFont typeface="Arial"/>
              <a:buNone/>
            </a:pPr>
            <a:r>
              <a:t/>
            </a:r>
            <a:endParaRPr/>
          </a:p>
          <a:p>
            <a:pPr indent="0" lvl="0" marL="0" rtl="0" algn="l">
              <a:lnSpc>
                <a:spcPct val="100000"/>
              </a:lnSpc>
              <a:spcBef>
                <a:spcPts val="1000"/>
              </a:spcBef>
              <a:spcAft>
                <a:spcPts val="0"/>
              </a:spcAft>
              <a:buClr>
                <a:schemeClr val="dk1"/>
              </a:buClr>
              <a:buSzPts val="1100"/>
              <a:buFont typeface="Arial"/>
              <a:buNone/>
            </a:pPr>
            <a:r>
              <a:rPr b="1" lang="en-US"/>
              <a:t>Candidate Orbit</a:t>
            </a:r>
            <a:r>
              <a:rPr lang="en-US"/>
              <a:t>: Output generated by the UCTP, defined by a Candidate State Vector and epoch or Candidate TLE, along with a list of observation IDs or trackTLE IDs the UCTP has correlated to that state vector or TLE.</a:t>
            </a:r>
            <a:endParaRPr/>
          </a:p>
          <a:p>
            <a:pPr indent="0" lvl="0" marL="0" rtl="0" algn="l">
              <a:lnSpc>
                <a:spcPct val="100000"/>
              </a:lnSpc>
              <a:spcBef>
                <a:spcPts val="1000"/>
              </a:spcBef>
              <a:spcAft>
                <a:spcPts val="0"/>
              </a:spcAft>
              <a:buClr>
                <a:schemeClr val="dk1"/>
              </a:buClr>
              <a:buSzPts val="1100"/>
              <a:buFont typeface="Arial"/>
              <a:buNone/>
            </a:pPr>
            <a:r>
              <a:t/>
            </a:r>
            <a:endParaRPr/>
          </a:p>
          <a:p>
            <a:pPr indent="0" lvl="0" marL="0" rtl="0" algn="l">
              <a:lnSpc>
                <a:spcPct val="100000"/>
              </a:lnSpc>
              <a:spcBef>
                <a:spcPts val="1000"/>
              </a:spcBef>
              <a:spcAft>
                <a:spcPts val="0"/>
              </a:spcAft>
              <a:buSzPts val="2000"/>
              <a:buNone/>
            </a:pPr>
            <a:r>
              <a:rPr b="1" lang="en-US"/>
              <a:t>Common Epoch</a:t>
            </a:r>
            <a:r>
              <a:rPr lang="en-US"/>
              <a:t>: The epoch in which the Candidate Orbit state vector or TLE is generated.  </a:t>
            </a:r>
            <a:endParaRPr/>
          </a:p>
        </p:txBody>
      </p:sp>
      <p:sp>
        <p:nvSpPr>
          <p:cNvPr id="190" name="Google Shape;190;g3713fd8d166_0_21"/>
          <p:cNvSpPr txBox="1"/>
          <p:nvPr>
            <p:ph idx="2" type="body"/>
          </p:nvPr>
        </p:nvSpPr>
        <p:spPr>
          <a:xfrm>
            <a:off x="7860271" y="6621065"/>
            <a:ext cx="3324900" cy="1503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1000"/>
              </a:spcBef>
              <a:spcAft>
                <a:spcPts val="0"/>
              </a:spcAft>
              <a:buSzPts val="450"/>
              <a:buNone/>
            </a:pPr>
            <a:r>
              <a:t/>
            </a:r>
            <a:endParaRPr/>
          </a:p>
        </p:txBody>
      </p:sp>
      <p:sp>
        <p:nvSpPr>
          <p:cNvPr id="191" name="Google Shape;191;g3713fd8d166_0_21"/>
          <p:cNvSpPr txBox="1"/>
          <p:nvPr/>
        </p:nvSpPr>
        <p:spPr>
          <a:xfrm>
            <a:off x="945525" y="6150850"/>
            <a:ext cx="50535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Calibri"/>
                <a:ea typeface="Calibri"/>
                <a:cs typeface="Calibri"/>
                <a:sym typeface="Calibri"/>
              </a:rPr>
              <a:t>Retrieved from: https://www2.nict.go.jp/wireless/en/i_orbit.html (July 2025)</a:t>
            </a:r>
            <a:endParaRPr b="0" i="0" sz="1400" u="none" cap="none" strike="noStrike">
              <a:solidFill>
                <a:srgbClr val="000000"/>
              </a:solidFill>
              <a:latin typeface="Arial"/>
              <a:ea typeface="Arial"/>
              <a:cs typeface="Arial"/>
              <a:sym typeface="Arial"/>
            </a:endParaRPr>
          </a:p>
        </p:txBody>
      </p:sp>
      <p:pic>
        <p:nvPicPr>
          <p:cNvPr id="192" name="Google Shape;192;g3713fd8d166_0_21" title="orbit_determ.jpg"/>
          <p:cNvPicPr preferRelativeResize="0"/>
          <p:nvPr/>
        </p:nvPicPr>
        <p:blipFill rotWithShape="1">
          <a:blip r:embed="rId3">
            <a:alphaModFix amt="15000"/>
          </a:blip>
          <a:srcRect b="0" l="0" r="0" t="0"/>
          <a:stretch/>
        </p:blipFill>
        <p:spPr>
          <a:xfrm>
            <a:off x="2" y="0"/>
            <a:ext cx="12192000" cy="8614186"/>
          </a:xfrm>
          <a:prstGeom prst="rect">
            <a:avLst/>
          </a:prstGeom>
          <a:noFill/>
          <a:ln>
            <a:noFill/>
          </a:ln>
          <a:effectLst>
            <a:outerShdw blurRad="57150" rotWithShape="0" algn="bl" dir="5400000" dist="19050">
              <a:srgbClr val="000000">
                <a:alpha val="4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710947e9cf_0_23"/>
          <p:cNvSpPr txBox="1"/>
          <p:nvPr>
            <p:ph idx="1" type="body"/>
          </p:nvPr>
        </p:nvSpPr>
        <p:spPr>
          <a:xfrm>
            <a:off x="7215201" y="6621075"/>
            <a:ext cx="3969900" cy="1497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SzPts val="450"/>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sp>
        <p:nvSpPr>
          <p:cNvPr id="199" name="Google Shape;199;g3710947e9cf_0_23"/>
          <p:cNvSpPr txBox="1"/>
          <p:nvPr>
            <p:ph type="title"/>
          </p:nvPr>
        </p:nvSpPr>
        <p:spPr>
          <a:xfrm>
            <a:off x="838200" y="460564"/>
            <a:ext cx="10515600" cy="605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Dataset Generation Workflow</a:t>
            </a:r>
            <a:endParaRPr/>
          </a:p>
        </p:txBody>
      </p:sp>
      <p:pic>
        <p:nvPicPr>
          <p:cNvPr id="200" name="Google Shape;200;g3710947e9cf_0_23"/>
          <p:cNvPicPr preferRelativeResize="0"/>
          <p:nvPr/>
        </p:nvPicPr>
        <p:blipFill rotWithShape="1">
          <a:blip r:embed="rId3">
            <a:alphaModFix/>
          </a:blip>
          <a:srcRect b="0" l="0" r="0" t="0"/>
          <a:stretch/>
        </p:blipFill>
        <p:spPr>
          <a:xfrm>
            <a:off x="152400" y="2190489"/>
            <a:ext cx="11887196" cy="274073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710947e9cf_0_39"/>
          <p:cNvSpPr txBox="1"/>
          <p:nvPr>
            <p:ph idx="1" type="body"/>
          </p:nvPr>
        </p:nvSpPr>
        <p:spPr>
          <a:xfrm>
            <a:off x="7374501" y="6621073"/>
            <a:ext cx="3810600" cy="1251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sp>
        <p:nvSpPr>
          <p:cNvPr id="207" name="Google Shape;207;g3710947e9cf_0_39"/>
          <p:cNvSpPr txBox="1"/>
          <p:nvPr>
            <p:ph type="title"/>
          </p:nvPr>
        </p:nvSpPr>
        <p:spPr>
          <a:xfrm>
            <a:off x="838200" y="460564"/>
            <a:ext cx="10515600" cy="605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User Input - Dataset Code</a:t>
            </a:r>
            <a:endParaRPr/>
          </a:p>
        </p:txBody>
      </p:sp>
      <p:pic>
        <p:nvPicPr>
          <p:cNvPr id="208" name="Google Shape;208;g3710947e9cf_0_39"/>
          <p:cNvPicPr preferRelativeResize="0"/>
          <p:nvPr/>
        </p:nvPicPr>
        <p:blipFill rotWithShape="1">
          <a:blip r:embed="rId3">
            <a:alphaModFix/>
          </a:blip>
          <a:srcRect b="0" l="0" r="0" t="0"/>
          <a:stretch/>
        </p:blipFill>
        <p:spPr>
          <a:xfrm>
            <a:off x="152400" y="1370764"/>
            <a:ext cx="11649075" cy="4953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710947e9cf_1_31"/>
          <p:cNvSpPr txBox="1"/>
          <p:nvPr>
            <p:ph idx="1" type="body"/>
          </p:nvPr>
        </p:nvSpPr>
        <p:spPr>
          <a:xfrm>
            <a:off x="7294576" y="6621075"/>
            <a:ext cx="3890700" cy="1497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sp>
        <p:nvSpPr>
          <p:cNvPr id="215" name="Google Shape;215;g3710947e9cf_1_31"/>
          <p:cNvSpPr txBox="1"/>
          <p:nvPr>
            <p:ph type="title"/>
          </p:nvPr>
        </p:nvSpPr>
        <p:spPr>
          <a:xfrm>
            <a:off x="838200" y="460564"/>
            <a:ext cx="10515600" cy="605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Unified Data Library</a:t>
            </a:r>
            <a:endParaRPr/>
          </a:p>
        </p:txBody>
      </p:sp>
      <p:sp>
        <p:nvSpPr>
          <p:cNvPr id="216" name="Google Shape;216;g3710947e9cf_1_31"/>
          <p:cNvSpPr txBox="1"/>
          <p:nvPr/>
        </p:nvSpPr>
        <p:spPr>
          <a:xfrm>
            <a:off x="734900" y="1225475"/>
            <a:ext cx="10618800" cy="5148600"/>
          </a:xfrm>
          <a:prstGeom prst="rect">
            <a:avLst/>
          </a:prstGeom>
          <a:noFill/>
          <a:ln>
            <a:noFill/>
          </a:ln>
        </p:spPr>
        <p:txBody>
          <a:bodyPr anchorCtr="0" anchor="t" bIns="91425" lIns="91425" spcFirstLastPara="1" rIns="91425" wrap="square" tIns="91425">
            <a:noAutofit/>
          </a:bodyPr>
          <a:lstStyle/>
          <a:p>
            <a:pPr indent="-336550" lvl="0" marL="457200" marR="0" rtl="0" algn="l">
              <a:lnSpc>
                <a:spcPct val="10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UDL contains data collected from various public/private sources</a:t>
            </a:r>
            <a:endParaRPr b="0" i="0" sz="1700" u="none" cap="none" strike="noStrike">
              <a:solidFill>
                <a:schemeClr val="dk1"/>
              </a:solidFill>
              <a:latin typeface="Arial"/>
              <a:ea typeface="Arial"/>
              <a:cs typeface="Arial"/>
              <a:sym typeface="Arial"/>
            </a:endParaRPr>
          </a:p>
          <a:p>
            <a:pPr indent="0" lvl="0" marL="91440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336550" lvl="0" marL="457200" marR="0" rtl="0" algn="l">
              <a:lnSpc>
                <a:spcPct val="10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Available data includes TLEs, raw observations (RA/Dec), state vectors with covariance, etc.</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336550" lvl="0" marL="457200" marR="0" rtl="0" algn="l">
              <a:lnSpc>
                <a:spcPct val="10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Built-in API allows for automated dataset updates</a:t>
            </a:r>
            <a:endParaRPr b="0" i="0" sz="1700" u="none" cap="none" strike="noStrike">
              <a:solidFill>
                <a:schemeClr val="dk1"/>
              </a:solidFill>
              <a:latin typeface="Arial"/>
              <a:ea typeface="Arial"/>
              <a:cs typeface="Arial"/>
              <a:sym typeface="Arial"/>
            </a:endParaRPr>
          </a:p>
          <a:p>
            <a:pPr indent="0" lvl="0" marL="91440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336550" lvl="0" marL="457200" marR="0" rtl="0" algn="l">
              <a:lnSpc>
                <a:spcPct val="10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Used known catalogued satellite data from UDL as “truth” reference</a:t>
            </a:r>
            <a:endParaRPr b="0" i="0" sz="1700" u="none" cap="none" strike="noStrike">
              <a:solidFill>
                <a:schemeClr val="dk1"/>
              </a:solidFill>
              <a:latin typeface="Arial"/>
              <a:ea typeface="Arial"/>
              <a:cs typeface="Arial"/>
              <a:sym typeface="Arial"/>
            </a:endParaRPr>
          </a:p>
          <a:p>
            <a:pPr indent="0" lvl="0" marL="91440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336550" lvl="0" marL="457200" marR="0" rtl="0" algn="l">
              <a:lnSpc>
                <a:spcPct val="10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Data is de-correlated to simulate UCT data before being fed to the UCTPs</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336550" lvl="0" marL="457200" marR="0" rtl="0" algn="l">
              <a:lnSpc>
                <a:spcPct val="10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Reference is stored in answer key for later evaluation</a:t>
            </a:r>
            <a:endParaRPr b="0" i="0" sz="1700" u="none" cap="none" strike="noStrike">
              <a:solidFill>
                <a:schemeClr val="dk1"/>
              </a:solidFill>
              <a:latin typeface="Arial"/>
              <a:ea typeface="Arial"/>
              <a:cs typeface="Arial"/>
              <a:sym typeface="Arial"/>
            </a:endParaRPr>
          </a:p>
        </p:txBody>
      </p:sp>
      <p:pic>
        <p:nvPicPr>
          <p:cNvPr id="217" name="Google Shape;217;g3710947e9cf_1_31" title="udl-solid-w-text52.png"/>
          <p:cNvPicPr preferRelativeResize="0"/>
          <p:nvPr/>
        </p:nvPicPr>
        <p:blipFill rotWithShape="1">
          <a:blip r:embed="rId3">
            <a:alphaModFix/>
          </a:blip>
          <a:srcRect b="0" l="0" r="0" t="0"/>
          <a:stretch/>
        </p:blipFill>
        <p:spPr>
          <a:xfrm>
            <a:off x="7434275" y="3827450"/>
            <a:ext cx="3333750" cy="2171700"/>
          </a:xfrm>
          <a:prstGeom prst="rect">
            <a:avLst/>
          </a:prstGeom>
          <a:noFill/>
          <a:ln>
            <a:noFill/>
          </a:ln>
        </p:spPr>
      </p:pic>
      <p:sp>
        <p:nvSpPr>
          <p:cNvPr id="218" name="Google Shape;218;g3710947e9cf_1_31"/>
          <p:cNvSpPr txBox="1"/>
          <p:nvPr/>
        </p:nvSpPr>
        <p:spPr>
          <a:xfrm>
            <a:off x="6885475" y="6097176"/>
            <a:ext cx="4468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Calibri"/>
                <a:ea typeface="Calibri"/>
                <a:cs typeface="Calibri"/>
                <a:sym typeface="Calibri"/>
              </a:rPr>
              <a:t>Retrieved from: https://catalystcampus.org/programs/ (July 2025)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710947e9cf_1_51"/>
          <p:cNvSpPr txBox="1"/>
          <p:nvPr>
            <p:ph type="title"/>
          </p:nvPr>
        </p:nvSpPr>
        <p:spPr>
          <a:xfrm>
            <a:off x="838200" y="460564"/>
            <a:ext cx="10515600" cy="605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Python &amp; Orekit</a:t>
            </a:r>
            <a:endParaRPr/>
          </a:p>
        </p:txBody>
      </p:sp>
      <p:sp>
        <p:nvSpPr>
          <p:cNvPr id="225" name="Google Shape;225;g3710947e9cf_1_51"/>
          <p:cNvSpPr txBox="1"/>
          <p:nvPr>
            <p:ph idx="1" type="body"/>
          </p:nvPr>
        </p:nvSpPr>
        <p:spPr>
          <a:xfrm>
            <a:off x="838200" y="1335418"/>
            <a:ext cx="5215500" cy="4566300"/>
          </a:xfrm>
          <a:prstGeom prst="rect">
            <a:avLst/>
          </a:prstGeom>
          <a:noFill/>
          <a:ln>
            <a:noFill/>
          </a:ln>
        </p:spPr>
        <p:txBody>
          <a:bodyPr anchorCtr="0" anchor="t" bIns="45700" lIns="91425" spcFirstLastPara="1" rIns="91425" wrap="square" tIns="45700">
            <a:normAutofit fontScale="92500" lnSpcReduction="20000"/>
          </a:bodyPr>
          <a:lstStyle/>
          <a:p>
            <a:pPr indent="-346075" lvl="0" marL="457200" rtl="0" algn="l">
              <a:lnSpc>
                <a:spcPct val="100000"/>
              </a:lnSpc>
              <a:spcBef>
                <a:spcPts val="1000"/>
              </a:spcBef>
              <a:spcAft>
                <a:spcPts val="0"/>
              </a:spcAft>
              <a:buSzPct val="100000"/>
              <a:buChar char="•"/>
            </a:pPr>
            <a:r>
              <a:rPr lang="en-US"/>
              <a:t>For sake of transparency, benchmark needs to be open source.</a:t>
            </a:r>
            <a:endParaRPr/>
          </a:p>
          <a:p>
            <a:pPr indent="0" lvl="0" marL="457200" rtl="0" algn="l">
              <a:lnSpc>
                <a:spcPct val="100000"/>
              </a:lnSpc>
              <a:spcBef>
                <a:spcPts val="1000"/>
              </a:spcBef>
              <a:spcAft>
                <a:spcPts val="0"/>
              </a:spcAft>
              <a:buSzPct val="108108"/>
              <a:buNone/>
            </a:pPr>
            <a:r>
              <a:t/>
            </a:r>
            <a:endParaRPr/>
          </a:p>
          <a:p>
            <a:pPr indent="-346075" lvl="0" marL="457200" rtl="0" algn="l">
              <a:lnSpc>
                <a:spcPct val="100000"/>
              </a:lnSpc>
              <a:spcBef>
                <a:spcPts val="1000"/>
              </a:spcBef>
              <a:spcAft>
                <a:spcPts val="0"/>
              </a:spcAft>
              <a:buSzPct val="100000"/>
              <a:buChar char="•"/>
            </a:pPr>
            <a:r>
              <a:rPr lang="en-US"/>
              <a:t>We decided to use the open source Orekit Python Wrapper </a:t>
            </a:r>
            <a:endParaRPr/>
          </a:p>
          <a:p>
            <a:pPr indent="0" lvl="0" marL="457200" rtl="0" algn="l">
              <a:lnSpc>
                <a:spcPct val="100000"/>
              </a:lnSpc>
              <a:spcBef>
                <a:spcPts val="1000"/>
              </a:spcBef>
              <a:spcAft>
                <a:spcPts val="0"/>
              </a:spcAft>
              <a:buSzPct val="108108"/>
              <a:buNone/>
            </a:pPr>
            <a:r>
              <a:t/>
            </a:r>
            <a:endParaRPr/>
          </a:p>
          <a:p>
            <a:pPr indent="-346075" lvl="0" marL="457200" rtl="0" algn="l">
              <a:lnSpc>
                <a:spcPct val="100000"/>
              </a:lnSpc>
              <a:spcBef>
                <a:spcPts val="1000"/>
              </a:spcBef>
              <a:spcAft>
                <a:spcPts val="0"/>
              </a:spcAft>
              <a:buSzPct val="100000"/>
              <a:buChar char="•"/>
            </a:pPr>
            <a:r>
              <a:rPr lang="en-US"/>
              <a:t>Orekit has built-in coordinate frame conversion</a:t>
            </a:r>
            <a:endParaRPr/>
          </a:p>
          <a:p>
            <a:pPr indent="0" lvl="0" marL="457200" rtl="0" algn="l">
              <a:lnSpc>
                <a:spcPct val="100000"/>
              </a:lnSpc>
              <a:spcBef>
                <a:spcPts val="1000"/>
              </a:spcBef>
              <a:spcAft>
                <a:spcPts val="0"/>
              </a:spcAft>
              <a:buSzPct val="108108"/>
              <a:buNone/>
            </a:pPr>
            <a:r>
              <a:t/>
            </a:r>
            <a:endParaRPr/>
          </a:p>
          <a:p>
            <a:pPr indent="-346075" lvl="0" marL="457200" rtl="0" algn="l">
              <a:lnSpc>
                <a:spcPct val="100000"/>
              </a:lnSpc>
              <a:spcBef>
                <a:spcPts val="1000"/>
              </a:spcBef>
              <a:spcAft>
                <a:spcPts val="0"/>
              </a:spcAft>
              <a:buSzPct val="100000"/>
              <a:buChar char="•"/>
            </a:pPr>
            <a:r>
              <a:rPr lang="en-US"/>
              <a:t>It's an academic and industry standard</a:t>
            </a:r>
            <a:endParaRPr/>
          </a:p>
          <a:p>
            <a:pPr indent="0" lvl="0" marL="0" rtl="0" algn="l">
              <a:lnSpc>
                <a:spcPct val="100000"/>
              </a:lnSpc>
              <a:spcBef>
                <a:spcPts val="1000"/>
              </a:spcBef>
              <a:spcAft>
                <a:spcPts val="0"/>
              </a:spcAft>
              <a:buSzPct val="108108"/>
              <a:buNone/>
            </a:pPr>
            <a:r>
              <a:t/>
            </a:r>
            <a:endParaRPr/>
          </a:p>
          <a:p>
            <a:pPr indent="-346075" lvl="0" marL="457200" rtl="0" algn="l">
              <a:lnSpc>
                <a:spcPct val="100000"/>
              </a:lnSpc>
              <a:spcBef>
                <a:spcPts val="1000"/>
              </a:spcBef>
              <a:spcAft>
                <a:spcPts val="0"/>
              </a:spcAft>
              <a:buSzPct val="100000"/>
              <a:buChar char="•"/>
            </a:pPr>
            <a:r>
              <a:rPr lang="en-US"/>
              <a:t>Easy to build a Propagator suited for us</a:t>
            </a:r>
            <a:endParaRPr/>
          </a:p>
          <a:p>
            <a:pPr indent="0" lvl="0" marL="0" rtl="0" algn="l">
              <a:lnSpc>
                <a:spcPct val="100000"/>
              </a:lnSpc>
              <a:spcBef>
                <a:spcPts val="1000"/>
              </a:spcBef>
              <a:spcAft>
                <a:spcPts val="0"/>
              </a:spcAft>
              <a:buSzPct val="108108"/>
              <a:buNone/>
            </a:pPr>
            <a:r>
              <a:t/>
            </a:r>
            <a:endParaRPr/>
          </a:p>
          <a:p>
            <a:pPr indent="-346075" lvl="0" marL="457200" rtl="0" algn="l">
              <a:lnSpc>
                <a:spcPct val="100000"/>
              </a:lnSpc>
              <a:spcBef>
                <a:spcPts val="1000"/>
              </a:spcBef>
              <a:spcAft>
                <a:spcPts val="0"/>
              </a:spcAft>
              <a:buSzPct val="100000"/>
              <a:buChar char="•"/>
            </a:pPr>
            <a:r>
              <a:rPr lang="en-US"/>
              <a:t>More info at https://www.orekit.org/ </a:t>
            </a:r>
            <a:endParaRPr/>
          </a:p>
        </p:txBody>
      </p:sp>
      <p:pic>
        <p:nvPicPr>
          <p:cNvPr id="226" name="Google Shape;226;g3710947e9cf_1_51" title="logo-orekit.jpg"/>
          <p:cNvPicPr preferRelativeResize="0"/>
          <p:nvPr>
            <p:ph idx="2" type="pic"/>
          </p:nvPr>
        </p:nvPicPr>
        <p:blipFill rotWithShape="1">
          <a:blip r:embed="rId3">
            <a:alphaModFix/>
          </a:blip>
          <a:srcRect b="13647" l="0" r="0" t="13640"/>
          <a:stretch/>
        </p:blipFill>
        <p:spPr>
          <a:xfrm>
            <a:off x="6286501" y="1335418"/>
            <a:ext cx="5067299" cy="3684601"/>
          </a:xfrm>
          <a:prstGeom prst="rect">
            <a:avLst/>
          </a:prstGeom>
          <a:solidFill>
            <a:schemeClr val="lt2"/>
          </a:solidFill>
          <a:ln cap="flat" cmpd="sng" w="9525">
            <a:solidFill>
              <a:srgbClr val="595A59"/>
            </a:solidFill>
            <a:prstDash val="solid"/>
            <a:round/>
            <a:headEnd len="sm" w="sm" type="none"/>
            <a:tailEnd len="sm" w="sm" type="none"/>
          </a:ln>
        </p:spPr>
      </p:pic>
      <p:sp>
        <p:nvSpPr>
          <p:cNvPr id="227" name="Google Shape;227;g3710947e9cf_1_51"/>
          <p:cNvSpPr txBox="1"/>
          <p:nvPr>
            <p:ph idx="3" type="body"/>
          </p:nvPr>
        </p:nvSpPr>
        <p:spPr>
          <a:xfrm>
            <a:off x="7197751" y="6621075"/>
            <a:ext cx="3987300" cy="1545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sp>
        <p:nvSpPr>
          <p:cNvPr id="228" name="Google Shape;228;g3710947e9cf_1_51"/>
          <p:cNvSpPr txBox="1"/>
          <p:nvPr/>
        </p:nvSpPr>
        <p:spPr>
          <a:xfrm>
            <a:off x="6286500" y="5020025"/>
            <a:ext cx="50673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Retrieved from: https://newspace-factory.com/product/orekit/ (July 2025)</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3710947e9cf_1_113"/>
          <p:cNvSpPr txBox="1"/>
          <p:nvPr>
            <p:ph type="title"/>
          </p:nvPr>
        </p:nvSpPr>
        <p:spPr>
          <a:xfrm>
            <a:off x="838200" y="460564"/>
            <a:ext cx="10515600" cy="605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Establish Standard Epoch &amp; Coordinate Frame </a:t>
            </a:r>
            <a:endParaRPr/>
          </a:p>
        </p:txBody>
      </p:sp>
      <p:sp>
        <p:nvSpPr>
          <p:cNvPr id="235" name="Google Shape;235;g3710947e9cf_1_113"/>
          <p:cNvSpPr txBox="1"/>
          <p:nvPr>
            <p:ph idx="1" type="body"/>
          </p:nvPr>
        </p:nvSpPr>
        <p:spPr>
          <a:xfrm>
            <a:off x="838200" y="1335418"/>
            <a:ext cx="5215500" cy="45663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1000"/>
              </a:spcBef>
              <a:spcAft>
                <a:spcPts val="0"/>
              </a:spcAft>
              <a:buSzPts val="2000"/>
              <a:buChar char="•"/>
            </a:pPr>
            <a:r>
              <a:rPr lang="en-US"/>
              <a:t>States from UDL can come in several different Coordinate Systems &amp; Epochs</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All Data from the UDL is converted to use the J2000 frame and UTC time. </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Utilize Orekit’s built in Frame Conversion for both states and Covariances</a:t>
            </a:r>
            <a:endParaRPr/>
          </a:p>
        </p:txBody>
      </p:sp>
      <p:pic>
        <p:nvPicPr>
          <p:cNvPr id="236" name="Google Shape;236;g3710947e9cf_1_113" title="mj2000diagram.jpg"/>
          <p:cNvPicPr preferRelativeResize="0"/>
          <p:nvPr>
            <p:ph idx="2" type="pic"/>
          </p:nvPr>
        </p:nvPicPr>
        <p:blipFill rotWithShape="1">
          <a:blip r:embed="rId3">
            <a:alphaModFix/>
          </a:blip>
          <a:srcRect b="1229" l="0" r="0" t="1229"/>
          <a:stretch/>
        </p:blipFill>
        <p:spPr>
          <a:xfrm>
            <a:off x="6286501" y="1335418"/>
            <a:ext cx="5067300" cy="3684600"/>
          </a:xfrm>
          <a:prstGeom prst="rect">
            <a:avLst/>
          </a:prstGeom>
          <a:solidFill>
            <a:schemeClr val="lt2"/>
          </a:solidFill>
          <a:ln cap="flat" cmpd="sng" w="9525">
            <a:solidFill>
              <a:srgbClr val="595A59"/>
            </a:solidFill>
            <a:prstDash val="solid"/>
            <a:round/>
            <a:headEnd len="sm" w="sm" type="none"/>
            <a:tailEnd len="sm" w="sm" type="none"/>
          </a:ln>
        </p:spPr>
      </p:pic>
      <p:sp>
        <p:nvSpPr>
          <p:cNvPr id="237" name="Google Shape;237;g3710947e9cf_1_113"/>
          <p:cNvSpPr txBox="1"/>
          <p:nvPr>
            <p:ph idx="3" type="body"/>
          </p:nvPr>
        </p:nvSpPr>
        <p:spPr>
          <a:xfrm>
            <a:off x="7394151" y="6621075"/>
            <a:ext cx="3791100" cy="1446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sp>
        <p:nvSpPr>
          <p:cNvPr id="238" name="Google Shape;238;g3710947e9cf_1_113"/>
          <p:cNvSpPr txBox="1"/>
          <p:nvPr/>
        </p:nvSpPr>
        <p:spPr>
          <a:xfrm>
            <a:off x="6286500" y="5020025"/>
            <a:ext cx="50673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Retrieved from: https://ai-solutions.com/_help_Files/orbit_reference_frames.html  (July 2025)</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3710947e9cf_1_163"/>
          <p:cNvSpPr txBox="1"/>
          <p:nvPr>
            <p:ph type="title"/>
          </p:nvPr>
        </p:nvSpPr>
        <p:spPr>
          <a:xfrm>
            <a:off x="838200" y="446720"/>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Window Selection - Dataset Culling and Recycling</a:t>
            </a:r>
            <a:endParaRPr/>
          </a:p>
        </p:txBody>
      </p:sp>
      <p:sp>
        <p:nvSpPr>
          <p:cNvPr id="245" name="Google Shape;245;g3710947e9cf_1_163"/>
          <p:cNvSpPr txBox="1"/>
          <p:nvPr>
            <p:ph idx="1" type="body"/>
          </p:nvPr>
        </p:nvSpPr>
        <p:spPr>
          <a:xfrm>
            <a:off x="838200" y="1335416"/>
            <a:ext cx="10515600" cy="50223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1000"/>
              </a:spcBef>
              <a:spcAft>
                <a:spcPts val="0"/>
              </a:spcAft>
              <a:buSzPts val="2000"/>
              <a:buChar char="•"/>
            </a:pPr>
            <a:r>
              <a:rPr lang="en-US"/>
              <a:t>Allowing for a variety of dataset options may lead the user to choose incompatible criteria for dataset generation</a:t>
            </a:r>
            <a:endParaRPr/>
          </a:p>
          <a:p>
            <a:pPr indent="-330200" lvl="1" marL="914400" rtl="0" algn="l">
              <a:lnSpc>
                <a:spcPct val="100000"/>
              </a:lnSpc>
              <a:spcBef>
                <a:spcPts val="0"/>
              </a:spcBef>
              <a:spcAft>
                <a:spcPts val="0"/>
              </a:spcAft>
              <a:buSzPts val="1600"/>
              <a:buChar char="•"/>
            </a:pPr>
            <a:r>
              <a:rPr lang="en-US"/>
              <a:t>e.g. desiring a 2 period track gap for a GEO object in a data window of less than 2 days is not possible</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Incompatible dataset codes must either be culled entirely or flagged for simulation</a:t>
            </a:r>
            <a:endParaRPr/>
          </a:p>
          <a:p>
            <a:pPr indent="0" lvl="0" marL="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Standardized naming schema (dataset codes) allows for ease of dataset recycling in specific cases</a:t>
            </a:r>
            <a:endParaRPr/>
          </a:p>
          <a:p>
            <a:pPr indent="-330200" lvl="1" marL="914400" rtl="0" algn="l">
              <a:lnSpc>
                <a:spcPct val="100000"/>
              </a:lnSpc>
              <a:spcBef>
                <a:spcPts val="0"/>
              </a:spcBef>
              <a:spcAft>
                <a:spcPts val="0"/>
              </a:spcAft>
              <a:buSzPts val="1600"/>
              <a:buChar char="•"/>
            </a:pPr>
            <a:r>
              <a:rPr lang="en-US"/>
              <a:t>e.g.   </a:t>
            </a:r>
            <a:r>
              <a:rPr b="1" lang="en-US"/>
              <a:t> </a:t>
            </a:r>
            <a:r>
              <a:rPr lang="en-US"/>
              <a:t>‘</a:t>
            </a:r>
            <a:r>
              <a:rPr b="1" lang="en-US"/>
              <a:t>A 10</a:t>
            </a:r>
            <a:r>
              <a:rPr lang="en-US"/>
              <a:t> MEO NE OR A A A S 02’    can be recycled from     ‘</a:t>
            </a:r>
            <a:r>
              <a:rPr b="1" lang="en-US"/>
              <a:t>A 20</a:t>
            </a:r>
            <a:r>
              <a:rPr lang="en-US"/>
              <a:t> MEO NE OR A A A S 02’    by downsampling the number of close apparent position target objects (</a:t>
            </a:r>
            <a:r>
              <a:rPr b="1" lang="en-US"/>
              <a:t>A</a:t>
            </a:r>
            <a:r>
              <a:rPr lang="en-US"/>
              <a:t>) from </a:t>
            </a:r>
            <a:r>
              <a:rPr b="1" lang="en-US"/>
              <a:t>20</a:t>
            </a:r>
            <a:r>
              <a:rPr lang="en-US"/>
              <a:t>% to </a:t>
            </a:r>
            <a:r>
              <a:rPr b="1" lang="en-US"/>
              <a:t>10</a:t>
            </a:r>
            <a:r>
              <a:rPr lang="en-US"/>
              <a:t>%</a:t>
            </a:r>
            <a:endParaRPr/>
          </a:p>
          <a:p>
            <a:pPr indent="-330200" lvl="1" marL="914400" rtl="0" algn="l">
              <a:lnSpc>
                <a:spcPct val="100000"/>
              </a:lnSpc>
              <a:spcBef>
                <a:spcPts val="0"/>
              </a:spcBef>
              <a:spcAft>
                <a:spcPts val="0"/>
              </a:spcAft>
              <a:buSzPts val="1600"/>
              <a:buChar char="•"/>
            </a:pPr>
            <a:r>
              <a:rPr lang="en-US"/>
              <a:t>Querying the UDL takes significant time; recycling datasets avoids this inconvenience wherever possible</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Datasets for codes identical to those that have already been created are also recycled by pulling the dataset from a saved database</a:t>
            </a:r>
            <a:endParaRPr/>
          </a:p>
        </p:txBody>
      </p:sp>
      <p:sp>
        <p:nvSpPr>
          <p:cNvPr id="246" name="Google Shape;246;g3710947e9cf_1_163"/>
          <p:cNvSpPr txBox="1"/>
          <p:nvPr>
            <p:ph idx="2" type="body"/>
          </p:nvPr>
        </p:nvSpPr>
        <p:spPr>
          <a:xfrm>
            <a:off x="7256676" y="6621074"/>
            <a:ext cx="3928500" cy="1347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713263bbdd_2_8"/>
          <p:cNvSpPr txBox="1"/>
          <p:nvPr>
            <p:ph type="title"/>
          </p:nvPr>
        </p:nvSpPr>
        <p:spPr>
          <a:xfrm>
            <a:off x="838200" y="446720"/>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Window Selection - Scoring</a:t>
            </a:r>
            <a:endParaRPr/>
          </a:p>
        </p:txBody>
      </p:sp>
      <p:sp>
        <p:nvSpPr>
          <p:cNvPr id="253" name="Google Shape;253;g3713263bbdd_2_8"/>
          <p:cNvSpPr txBox="1"/>
          <p:nvPr>
            <p:ph idx="2" type="body"/>
          </p:nvPr>
        </p:nvSpPr>
        <p:spPr>
          <a:xfrm>
            <a:off x="7346951" y="6621073"/>
            <a:ext cx="3838200" cy="1257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pic>
        <p:nvPicPr>
          <p:cNvPr id="254" name="Google Shape;254;g3713263bbdd_2_8" title="pyramid.drawio(1).png"/>
          <p:cNvPicPr preferRelativeResize="0"/>
          <p:nvPr/>
        </p:nvPicPr>
        <p:blipFill rotWithShape="1">
          <a:blip r:embed="rId3">
            <a:alphaModFix/>
          </a:blip>
          <a:srcRect b="0" l="0" r="0" t="0"/>
          <a:stretch/>
        </p:blipFill>
        <p:spPr>
          <a:xfrm>
            <a:off x="668109" y="1733987"/>
            <a:ext cx="4574710" cy="3390024"/>
          </a:xfrm>
          <a:prstGeom prst="rect">
            <a:avLst/>
          </a:prstGeom>
          <a:noFill/>
          <a:ln>
            <a:noFill/>
          </a:ln>
        </p:spPr>
      </p:pic>
      <p:pic>
        <p:nvPicPr>
          <p:cNvPr id="255" name="Google Shape;255;g3713263bbdd_2_8"/>
          <p:cNvPicPr preferRelativeResize="0"/>
          <p:nvPr/>
        </p:nvPicPr>
        <p:blipFill rotWithShape="1">
          <a:blip r:embed="rId4">
            <a:alphaModFix/>
          </a:blip>
          <a:srcRect b="0" l="0" r="0" t="0"/>
          <a:stretch/>
        </p:blipFill>
        <p:spPr>
          <a:xfrm>
            <a:off x="7175076" y="590677"/>
            <a:ext cx="3193000" cy="5864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713263bbdd_2_15"/>
          <p:cNvSpPr txBox="1"/>
          <p:nvPr>
            <p:ph type="title"/>
          </p:nvPr>
        </p:nvSpPr>
        <p:spPr>
          <a:xfrm>
            <a:off x="838200" y="446720"/>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Window Selection - Main Algorithm</a:t>
            </a:r>
            <a:endParaRPr/>
          </a:p>
        </p:txBody>
      </p:sp>
      <p:sp>
        <p:nvSpPr>
          <p:cNvPr id="262" name="Google Shape;262;g3713263bbdd_2_15"/>
          <p:cNvSpPr txBox="1"/>
          <p:nvPr>
            <p:ph idx="1" type="body"/>
          </p:nvPr>
        </p:nvSpPr>
        <p:spPr>
          <a:xfrm>
            <a:off x="838200" y="1335425"/>
            <a:ext cx="4873200" cy="5022300"/>
          </a:xfrm>
          <a:prstGeom prst="rect">
            <a:avLst/>
          </a:prstGeom>
          <a:noFill/>
          <a:ln>
            <a:noFill/>
          </a:ln>
        </p:spPr>
        <p:txBody>
          <a:bodyPr anchorCtr="0" anchor="t" bIns="45700" lIns="91425" spcFirstLastPara="1" rIns="91425" wrap="square" tIns="45700">
            <a:normAutofit lnSpcReduction="20000"/>
          </a:bodyPr>
          <a:lstStyle/>
          <a:p>
            <a:pPr indent="-355600" lvl="0" marL="457200" rtl="0" algn="l">
              <a:lnSpc>
                <a:spcPct val="100000"/>
              </a:lnSpc>
              <a:spcBef>
                <a:spcPts val="1000"/>
              </a:spcBef>
              <a:spcAft>
                <a:spcPts val="0"/>
              </a:spcAft>
              <a:buSzPts val="2000"/>
              <a:buChar char="•"/>
            </a:pPr>
            <a:r>
              <a:rPr lang="en-US"/>
              <a:t>Pulls “batches” of data over a timespan equal to a multiple of the user specified fitspan</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Utilizes overlapping bisection method</a:t>
            </a:r>
            <a:endParaRPr/>
          </a:p>
          <a:p>
            <a:pPr indent="-330200" lvl="1" marL="914400" rtl="0" algn="l">
              <a:lnSpc>
                <a:spcPct val="100000"/>
              </a:lnSpc>
              <a:spcBef>
                <a:spcPts val="0"/>
              </a:spcBef>
              <a:spcAft>
                <a:spcPts val="0"/>
              </a:spcAft>
              <a:buSzPts val="1600"/>
              <a:buChar char="•"/>
            </a:pPr>
            <a:r>
              <a:rPr lang="en-US"/>
              <a:t>Overlap must be, at least, half the fitspan on either side of bisection midpoint to avoid data loss</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Recursively bisects into “sub-batches” and scores the data for target tier comparison</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Employs a sliding window once valid “sub-batches” are sufficiently small</a:t>
            </a:r>
            <a:endParaRPr/>
          </a:p>
          <a:p>
            <a:pPr indent="-330200" lvl="1" marL="914400" rtl="0" algn="l">
              <a:lnSpc>
                <a:spcPct val="100000"/>
              </a:lnSpc>
              <a:spcBef>
                <a:spcPts val="0"/>
              </a:spcBef>
              <a:spcAft>
                <a:spcPts val="0"/>
              </a:spcAft>
              <a:buSzPts val="1600"/>
              <a:buChar char="•"/>
            </a:pPr>
            <a:r>
              <a:rPr lang="en-US"/>
              <a:t>Slides per data point to ensure no loss of data or suboptimal grouping</a:t>
            </a:r>
            <a:endParaRPr/>
          </a:p>
        </p:txBody>
      </p:sp>
      <p:sp>
        <p:nvSpPr>
          <p:cNvPr id="263" name="Google Shape;263;g3713263bbdd_2_15"/>
          <p:cNvSpPr txBox="1"/>
          <p:nvPr>
            <p:ph idx="2" type="body"/>
          </p:nvPr>
        </p:nvSpPr>
        <p:spPr>
          <a:xfrm>
            <a:off x="7451725" y="6621075"/>
            <a:ext cx="3733500" cy="1503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pic>
        <p:nvPicPr>
          <p:cNvPr id="264" name="Google Shape;264;g3713263bbdd_2_15" title="bisectionDrawing.png"/>
          <p:cNvPicPr preferRelativeResize="0"/>
          <p:nvPr/>
        </p:nvPicPr>
        <p:blipFill rotWithShape="1">
          <a:blip r:embed="rId3">
            <a:alphaModFix/>
          </a:blip>
          <a:srcRect b="0" l="0" r="0" t="0"/>
          <a:stretch/>
        </p:blipFill>
        <p:spPr>
          <a:xfrm>
            <a:off x="5828425" y="1826962"/>
            <a:ext cx="6218751" cy="36967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3710947e9cf_1_180"/>
          <p:cNvSpPr txBox="1"/>
          <p:nvPr>
            <p:ph type="title"/>
          </p:nvPr>
        </p:nvSpPr>
        <p:spPr>
          <a:xfrm>
            <a:off x="838200" y="446720"/>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Downsampling</a:t>
            </a:r>
            <a:endParaRPr/>
          </a:p>
        </p:txBody>
      </p:sp>
      <p:sp>
        <p:nvSpPr>
          <p:cNvPr id="271" name="Google Shape;271;g3710947e9cf_1_180"/>
          <p:cNvSpPr txBox="1"/>
          <p:nvPr>
            <p:ph idx="1" type="body"/>
          </p:nvPr>
        </p:nvSpPr>
        <p:spPr>
          <a:xfrm>
            <a:off x="838200" y="1084217"/>
            <a:ext cx="10515600" cy="6375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1000"/>
              </a:spcBef>
              <a:spcAft>
                <a:spcPts val="0"/>
              </a:spcAft>
              <a:buSzPts val="2000"/>
              <a:buNone/>
            </a:pPr>
            <a:r>
              <a:rPr lang="en-US"/>
              <a:t>Simulate poor data quality from good measurements by removing observations</a:t>
            </a:r>
            <a:endParaRPr/>
          </a:p>
        </p:txBody>
      </p:sp>
      <p:sp>
        <p:nvSpPr>
          <p:cNvPr id="272" name="Google Shape;272;g3710947e9cf_1_180"/>
          <p:cNvSpPr txBox="1"/>
          <p:nvPr>
            <p:ph idx="2" type="body"/>
          </p:nvPr>
        </p:nvSpPr>
        <p:spPr>
          <a:xfrm>
            <a:off x="7276326" y="6621075"/>
            <a:ext cx="3908700" cy="1446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sp>
        <p:nvSpPr>
          <p:cNvPr id="273" name="Google Shape;273;g3710947e9cf_1_180"/>
          <p:cNvSpPr txBox="1"/>
          <p:nvPr/>
        </p:nvSpPr>
        <p:spPr>
          <a:xfrm>
            <a:off x="948600" y="1721725"/>
            <a:ext cx="10294800" cy="445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Metrics:</a:t>
            </a:r>
            <a:endParaRPr b="1"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a:ea typeface="Arial"/>
              <a:cs typeface="Arial"/>
              <a:sym typeface="Arial"/>
            </a:endParaRPr>
          </a:p>
          <a:p>
            <a:pPr indent="-355600" lvl="0" marL="4572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Orbital Coverage</a:t>
            </a:r>
            <a:endParaRPr b="0" i="0" sz="2000" u="none" cap="none" strike="noStrike">
              <a:solidFill>
                <a:schemeClr val="dk1"/>
              </a:solidFill>
              <a:latin typeface="Arial"/>
              <a:ea typeface="Arial"/>
              <a:cs typeface="Arial"/>
              <a:sym typeface="Arial"/>
            </a:endParaRPr>
          </a:p>
          <a:p>
            <a:pPr indent="-355600" lvl="1" marL="9144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Satellites have &lt; 0.02-42% coverage</a:t>
            </a:r>
            <a:endParaRPr b="0" i="0" sz="2000" u="none" cap="none" strike="noStrike">
              <a:solidFill>
                <a:schemeClr val="dk1"/>
              </a:solidFill>
              <a:latin typeface="Arial"/>
              <a:ea typeface="Arial"/>
              <a:cs typeface="Arial"/>
              <a:sym typeface="Arial"/>
            </a:endParaRPr>
          </a:p>
          <a:p>
            <a:pPr indent="-355600" lvl="1" marL="9144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Addresses minimal viewing window</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a:p>
            <a:pPr indent="-355600" lvl="0" marL="4572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Maximum Track Gap</a:t>
            </a:r>
            <a:endParaRPr b="0" i="0" sz="2000" u="none" cap="none" strike="noStrike">
              <a:solidFill>
                <a:schemeClr val="dk1"/>
              </a:solidFill>
              <a:latin typeface="Arial"/>
              <a:ea typeface="Arial"/>
              <a:cs typeface="Arial"/>
              <a:sym typeface="Arial"/>
            </a:endParaRPr>
          </a:p>
          <a:p>
            <a:pPr indent="-355600" lvl="1" marL="9144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Gap between observations &gt; 2 Periods</a:t>
            </a:r>
            <a:endParaRPr b="0" i="0" sz="2000" u="none" cap="none" strike="noStrike">
              <a:solidFill>
                <a:schemeClr val="dk1"/>
              </a:solidFill>
              <a:latin typeface="Arial"/>
              <a:ea typeface="Arial"/>
              <a:cs typeface="Arial"/>
              <a:sym typeface="Arial"/>
            </a:endParaRPr>
          </a:p>
          <a:p>
            <a:pPr indent="-355600" lvl="1" marL="9144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Addresses lack of custody</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a:p>
            <a:pPr indent="-355600" lvl="0" marL="4572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Total Observation Count</a:t>
            </a:r>
            <a:endParaRPr b="0" i="0" sz="2000" u="none" cap="none" strike="noStrike">
              <a:solidFill>
                <a:schemeClr val="dk1"/>
              </a:solidFill>
              <a:latin typeface="Arial"/>
              <a:ea typeface="Arial"/>
              <a:cs typeface="Arial"/>
              <a:sym typeface="Arial"/>
            </a:endParaRPr>
          </a:p>
          <a:p>
            <a:pPr indent="-355600" lvl="1" marL="9144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&lt; 50 observations of the satellite</a:t>
            </a:r>
            <a:endParaRPr b="0" i="0" sz="2000" u="none" cap="none" strike="noStrike">
              <a:solidFill>
                <a:schemeClr val="dk1"/>
              </a:solidFill>
              <a:latin typeface="Arial"/>
              <a:ea typeface="Arial"/>
              <a:cs typeface="Arial"/>
              <a:sym typeface="Arial"/>
            </a:endParaRPr>
          </a:p>
          <a:p>
            <a:pPr indent="-355600" lvl="1" marL="9144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Addresses sparse tracking data</a:t>
            </a:r>
            <a:endParaRPr b="0" i="0" sz="2000" u="none" cap="none" strike="noStrike">
              <a:solidFill>
                <a:schemeClr val="dk1"/>
              </a:solidFill>
              <a:latin typeface="Arial"/>
              <a:ea typeface="Arial"/>
              <a:cs typeface="Arial"/>
              <a:sym typeface="Arial"/>
            </a:endParaRPr>
          </a:p>
        </p:txBody>
      </p:sp>
      <p:pic>
        <p:nvPicPr>
          <p:cNvPr id="274" name="Google Shape;274;g3710947e9cf_1_180" title="downsample.drawio.png"/>
          <p:cNvPicPr preferRelativeResize="0"/>
          <p:nvPr/>
        </p:nvPicPr>
        <p:blipFill rotWithShape="1">
          <a:blip r:embed="rId3">
            <a:alphaModFix/>
          </a:blip>
          <a:srcRect b="0" l="0" r="0" t="0"/>
          <a:stretch/>
        </p:blipFill>
        <p:spPr>
          <a:xfrm>
            <a:off x="6628329" y="2769917"/>
            <a:ext cx="5204700" cy="21654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3713263bbdd_1_33"/>
          <p:cNvSpPr txBox="1"/>
          <p:nvPr>
            <p:ph type="title"/>
          </p:nvPr>
        </p:nvSpPr>
        <p:spPr>
          <a:xfrm>
            <a:off x="838200" y="446720"/>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Orbital Coverage Metric</a:t>
            </a:r>
            <a:endParaRPr/>
          </a:p>
        </p:txBody>
      </p:sp>
      <p:sp>
        <p:nvSpPr>
          <p:cNvPr id="281" name="Google Shape;281;g3713263bbdd_1_33"/>
          <p:cNvSpPr txBox="1"/>
          <p:nvPr>
            <p:ph idx="1" type="body"/>
          </p:nvPr>
        </p:nvSpPr>
        <p:spPr>
          <a:xfrm>
            <a:off x="838200" y="1084229"/>
            <a:ext cx="10515600" cy="1879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000"/>
              <a:buNone/>
            </a:pPr>
            <a:r>
              <a:rPr b="1" lang="en-US" sz="2800"/>
              <a:t>Why?:</a:t>
            </a:r>
            <a:endParaRPr b="1"/>
          </a:p>
          <a:p>
            <a:pPr indent="-355600" lvl="0" marL="457200" rtl="0" algn="l">
              <a:lnSpc>
                <a:spcPct val="100000"/>
              </a:lnSpc>
              <a:spcBef>
                <a:spcPts val="1000"/>
              </a:spcBef>
              <a:spcAft>
                <a:spcPts val="0"/>
              </a:spcAft>
              <a:buSzPts val="2000"/>
              <a:buChar char="•"/>
            </a:pPr>
            <a:r>
              <a:rPr lang="en-US"/>
              <a:t>Standard coverage: Angular track length</a:t>
            </a:r>
            <a:endParaRPr/>
          </a:p>
          <a:p>
            <a:pPr indent="-355600" lvl="0" marL="457200" rtl="0" algn="l">
              <a:lnSpc>
                <a:spcPct val="100000"/>
              </a:lnSpc>
              <a:spcBef>
                <a:spcPts val="0"/>
              </a:spcBef>
              <a:spcAft>
                <a:spcPts val="0"/>
              </a:spcAft>
              <a:buSzPts val="2000"/>
              <a:buChar char="•"/>
            </a:pPr>
            <a:r>
              <a:rPr lang="en-US"/>
              <a:t>Hard to quantify in real data</a:t>
            </a:r>
            <a:endParaRPr/>
          </a:p>
          <a:p>
            <a:pPr indent="-355600" lvl="0" marL="457200" rtl="0" algn="l">
              <a:lnSpc>
                <a:spcPct val="100000"/>
              </a:lnSpc>
              <a:spcBef>
                <a:spcPts val="0"/>
              </a:spcBef>
              <a:spcAft>
                <a:spcPts val="0"/>
              </a:spcAft>
              <a:buSzPts val="2000"/>
              <a:buChar char="•"/>
            </a:pPr>
            <a:r>
              <a:rPr lang="en-US"/>
              <a:t>Developed new method using area</a:t>
            </a:r>
            <a:endParaRPr/>
          </a:p>
        </p:txBody>
      </p:sp>
      <p:sp>
        <p:nvSpPr>
          <p:cNvPr id="282" name="Google Shape;282;g3713263bbdd_1_33"/>
          <p:cNvSpPr txBox="1"/>
          <p:nvPr>
            <p:ph idx="2" type="body"/>
          </p:nvPr>
        </p:nvSpPr>
        <p:spPr>
          <a:xfrm>
            <a:off x="7276326" y="6621075"/>
            <a:ext cx="3908700" cy="1446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pic>
        <p:nvPicPr>
          <p:cNvPr id="283" name="Google Shape;283;g3713263bbdd_1_33"/>
          <p:cNvPicPr preferRelativeResize="0"/>
          <p:nvPr/>
        </p:nvPicPr>
        <p:blipFill rotWithShape="1">
          <a:blip r:embed="rId3">
            <a:alphaModFix/>
          </a:blip>
          <a:srcRect b="0" l="16567" r="14569" t="0"/>
          <a:stretch/>
        </p:blipFill>
        <p:spPr>
          <a:xfrm>
            <a:off x="6754800" y="1084225"/>
            <a:ext cx="4535875" cy="5022300"/>
          </a:xfrm>
          <a:prstGeom prst="rect">
            <a:avLst/>
          </a:prstGeom>
          <a:noFill/>
          <a:ln>
            <a:noFill/>
          </a:ln>
        </p:spPr>
      </p:pic>
      <p:sp>
        <p:nvSpPr>
          <p:cNvPr id="284" name="Google Shape;284;g3713263bbdd_1_33"/>
          <p:cNvSpPr txBox="1"/>
          <p:nvPr/>
        </p:nvSpPr>
        <p:spPr>
          <a:xfrm>
            <a:off x="838200" y="2669725"/>
            <a:ext cx="5916600" cy="3436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Algorithm:</a:t>
            </a:r>
            <a:endParaRPr b="1" i="0" sz="2800" u="none" cap="none" strike="noStrike">
              <a:solidFill>
                <a:schemeClr val="dk1"/>
              </a:solidFill>
              <a:latin typeface="Arial"/>
              <a:ea typeface="Arial"/>
              <a:cs typeface="Arial"/>
              <a:sym typeface="Arial"/>
            </a:endParaRPr>
          </a:p>
          <a:p>
            <a:pPr indent="-355600" lvl="0" marL="4572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Closest-approach of observations to orbit</a:t>
            </a:r>
            <a:endParaRPr b="0" i="0" sz="2000" u="none" cap="none" strike="noStrike">
              <a:solidFill>
                <a:schemeClr val="dk1"/>
              </a:solidFill>
              <a:latin typeface="Arial"/>
              <a:ea typeface="Arial"/>
              <a:cs typeface="Arial"/>
              <a:sym typeface="Arial"/>
            </a:endParaRPr>
          </a:p>
          <a:p>
            <a:pPr indent="-355600" lvl="1" marL="9144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Removes observation noise</a:t>
            </a:r>
            <a:endParaRPr b="0" i="0" sz="2000" u="none" cap="none" strike="noStrike">
              <a:solidFill>
                <a:schemeClr val="dk1"/>
              </a:solidFill>
              <a:latin typeface="Arial"/>
              <a:ea typeface="Arial"/>
              <a:cs typeface="Arial"/>
              <a:sym typeface="Arial"/>
            </a:endParaRPr>
          </a:p>
          <a:p>
            <a:pPr indent="-355600" lvl="0" marL="4572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Project observations to circumscribed circle</a:t>
            </a:r>
            <a:endParaRPr b="0" i="0" sz="2000" u="none" cap="none" strike="noStrike">
              <a:solidFill>
                <a:schemeClr val="dk1"/>
              </a:solidFill>
              <a:latin typeface="Arial"/>
              <a:ea typeface="Arial"/>
              <a:cs typeface="Arial"/>
              <a:sym typeface="Arial"/>
            </a:endParaRPr>
          </a:p>
          <a:p>
            <a:pPr indent="-355600" lvl="1" marL="9144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Removes eccentricity dependency</a:t>
            </a:r>
            <a:endParaRPr b="0" i="0" sz="2000" u="none" cap="none" strike="noStrike">
              <a:solidFill>
                <a:schemeClr val="dk1"/>
              </a:solidFill>
              <a:latin typeface="Arial"/>
              <a:ea typeface="Arial"/>
              <a:cs typeface="Arial"/>
              <a:sym typeface="Arial"/>
            </a:endParaRPr>
          </a:p>
          <a:p>
            <a:pPr indent="-355600" lvl="0" marL="4572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Draw polygon using projections as vertices</a:t>
            </a:r>
            <a:endParaRPr b="0" i="0" sz="2000" u="none" cap="none" strike="noStrike">
              <a:solidFill>
                <a:schemeClr val="dk1"/>
              </a:solidFill>
              <a:latin typeface="Arial"/>
              <a:ea typeface="Arial"/>
              <a:cs typeface="Arial"/>
              <a:sym typeface="Arial"/>
            </a:endParaRPr>
          </a:p>
          <a:p>
            <a:pPr indent="-355600" lvl="0" marL="4572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Find area of polygon</a:t>
            </a:r>
            <a:endParaRPr b="0" i="0" sz="2000" u="none" cap="none" strike="noStrike">
              <a:solidFill>
                <a:schemeClr val="dk1"/>
              </a:solidFill>
              <a:latin typeface="Arial"/>
              <a:ea typeface="Arial"/>
              <a:cs typeface="Arial"/>
              <a:sym typeface="Arial"/>
            </a:endParaRPr>
          </a:p>
          <a:p>
            <a:pPr indent="-355600" lvl="1" marL="9144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Heavily prioritizes scattered observations</a:t>
            </a:r>
            <a:endParaRPr b="0" i="0" sz="2000" u="none" cap="none" strike="noStrike">
              <a:solidFill>
                <a:schemeClr val="dk1"/>
              </a:solidFill>
              <a:latin typeface="Arial"/>
              <a:ea typeface="Arial"/>
              <a:cs typeface="Arial"/>
              <a:sym typeface="Arial"/>
            </a:endParaRPr>
          </a:p>
          <a:p>
            <a:pPr indent="-355600" lvl="0" marL="4572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Normalize by area of circle</a:t>
            </a:r>
            <a:endParaRPr b="0" i="0" sz="2000" u="none" cap="none" strike="noStrike">
              <a:solidFill>
                <a:schemeClr val="dk1"/>
              </a:solidFill>
              <a:latin typeface="Arial"/>
              <a:ea typeface="Arial"/>
              <a:cs typeface="Arial"/>
              <a:sym typeface="Arial"/>
            </a:endParaRPr>
          </a:p>
          <a:p>
            <a:pPr indent="-355600" lvl="0" marL="4572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Orbit coverage%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3713263bbdd_1_40"/>
          <p:cNvSpPr txBox="1"/>
          <p:nvPr>
            <p:ph type="title"/>
          </p:nvPr>
        </p:nvSpPr>
        <p:spPr>
          <a:xfrm>
            <a:off x="838200" y="446720"/>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Simulation</a:t>
            </a:r>
            <a:endParaRPr/>
          </a:p>
        </p:txBody>
      </p:sp>
      <p:sp>
        <p:nvSpPr>
          <p:cNvPr id="291" name="Google Shape;291;g3713263bbdd_1_40"/>
          <p:cNvSpPr txBox="1"/>
          <p:nvPr>
            <p:ph idx="1" type="body"/>
          </p:nvPr>
        </p:nvSpPr>
        <p:spPr>
          <a:xfrm>
            <a:off x="838200" y="1335425"/>
            <a:ext cx="6007800" cy="5022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SzPts val="2000"/>
              <a:buNone/>
            </a:pPr>
            <a:r>
              <a:rPr lang="en-US" sz="2400"/>
              <a:t>Observation Simulation</a:t>
            </a:r>
            <a:endParaRPr sz="2400"/>
          </a:p>
          <a:p>
            <a:pPr indent="-355600" lvl="0" marL="457200" rtl="0" algn="l">
              <a:lnSpc>
                <a:spcPct val="100000"/>
              </a:lnSpc>
              <a:spcBef>
                <a:spcPts val="1000"/>
              </a:spcBef>
              <a:spcAft>
                <a:spcPts val="0"/>
              </a:spcAft>
              <a:buSzPts val="2000"/>
              <a:buChar char="•"/>
            </a:pPr>
            <a:r>
              <a:rPr lang="en-US"/>
              <a:t>Applies Gaussian noise to both the propagated positions and converted right ascension and declination values</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Determines simulated azimuth and elevation values from the simulated angular values and known site locations (lat, lon, alt)</a:t>
            </a:r>
            <a:endParaRPr/>
          </a:p>
          <a:p>
            <a:pPr indent="0" lvl="0" marL="457200" rtl="0" algn="l">
              <a:lnSpc>
                <a:spcPct val="100000"/>
              </a:lnSpc>
              <a:spcBef>
                <a:spcPts val="1000"/>
              </a:spcBef>
              <a:spcAft>
                <a:spcPts val="0"/>
              </a:spcAft>
              <a:buSzPts val="2000"/>
              <a:buNone/>
            </a:pPr>
            <a:r>
              <a:t/>
            </a:r>
            <a:endParaRPr/>
          </a:p>
          <a:p>
            <a:pPr indent="0" lvl="0" marL="0" rtl="0" algn="l">
              <a:lnSpc>
                <a:spcPct val="100000"/>
              </a:lnSpc>
              <a:spcBef>
                <a:spcPts val="1000"/>
              </a:spcBef>
              <a:spcAft>
                <a:spcPts val="0"/>
              </a:spcAft>
              <a:buSzPts val="2000"/>
              <a:buNone/>
            </a:pPr>
            <a:r>
              <a:rPr lang="en-US" sz="2400"/>
              <a:t>Object Simulation</a:t>
            </a:r>
            <a:endParaRPr sz="2400"/>
          </a:p>
          <a:p>
            <a:pPr indent="-355600" lvl="0" marL="457200" rtl="0" algn="l">
              <a:lnSpc>
                <a:spcPct val="100000"/>
              </a:lnSpc>
              <a:spcBef>
                <a:spcPts val="1000"/>
              </a:spcBef>
              <a:spcAft>
                <a:spcPts val="0"/>
              </a:spcAft>
              <a:buSzPts val="2000"/>
              <a:buChar char="•"/>
            </a:pPr>
            <a:r>
              <a:rPr lang="en-US"/>
              <a:t>Simulates a set of observations for a specific object originally not included</a:t>
            </a:r>
            <a:endParaRPr/>
          </a:p>
        </p:txBody>
      </p:sp>
      <p:sp>
        <p:nvSpPr>
          <p:cNvPr id="292" name="Google Shape;292;g3713263bbdd_1_40"/>
          <p:cNvSpPr txBox="1"/>
          <p:nvPr>
            <p:ph idx="2" type="body"/>
          </p:nvPr>
        </p:nvSpPr>
        <p:spPr>
          <a:xfrm>
            <a:off x="7276326" y="6621075"/>
            <a:ext cx="3908700" cy="1446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pic>
        <p:nvPicPr>
          <p:cNvPr id="293" name="Google Shape;293;g3713263bbdd_1_40" title="simulation_sample.drawio.png"/>
          <p:cNvPicPr preferRelativeResize="0"/>
          <p:nvPr/>
        </p:nvPicPr>
        <p:blipFill rotWithShape="1">
          <a:blip r:embed="rId3">
            <a:alphaModFix/>
          </a:blip>
          <a:srcRect b="0" l="0" r="0" t="0"/>
          <a:stretch/>
        </p:blipFill>
        <p:spPr>
          <a:xfrm>
            <a:off x="7276325" y="1424750"/>
            <a:ext cx="4077475" cy="1664077"/>
          </a:xfrm>
          <a:prstGeom prst="rect">
            <a:avLst/>
          </a:prstGeom>
          <a:noFill/>
          <a:ln>
            <a:noFill/>
          </a:ln>
        </p:spPr>
      </p:pic>
      <p:pic>
        <p:nvPicPr>
          <p:cNvPr id="294" name="Google Shape;294;g3713263bbdd_1_40" title="GMAT_Example.png"/>
          <p:cNvPicPr preferRelativeResize="0"/>
          <p:nvPr/>
        </p:nvPicPr>
        <p:blipFill rotWithShape="1">
          <a:blip r:embed="rId4">
            <a:alphaModFix/>
          </a:blip>
          <a:srcRect b="0" l="0" r="0" t="0"/>
          <a:stretch/>
        </p:blipFill>
        <p:spPr>
          <a:xfrm>
            <a:off x="7613375" y="3429350"/>
            <a:ext cx="2885000" cy="2548301"/>
          </a:xfrm>
          <a:prstGeom prst="rect">
            <a:avLst/>
          </a:prstGeom>
          <a:noFill/>
          <a:ln>
            <a:noFill/>
          </a:ln>
        </p:spPr>
      </p:pic>
      <p:sp>
        <p:nvSpPr>
          <p:cNvPr id="295" name="Google Shape;295;g3713263bbdd_1_40"/>
          <p:cNvSpPr txBox="1"/>
          <p:nvPr/>
        </p:nvSpPr>
        <p:spPr>
          <a:xfrm>
            <a:off x="3780300" y="5977650"/>
            <a:ext cx="84117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Retrieved from: https://etd.gsfc.nasa.gov/capabilities/capabilities-listing/general-mission-analysis-tool-gmat/  (July 2025)</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g3710947e9cf_1_138"/>
          <p:cNvSpPr txBox="1"/>
          <p:nvPr>
            <p:ph type="title"/>
          </p:nvPr>
        </p:nvSpPr>
        <p:spPr>
          <a:xfrm>
            <a:off x="838200" y="460564"/>
            <a:ext cx="10515600" cy="605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Track to TLE Generation</a:t>
            </a:r>
            <a:endParaRPr/>
          </a:p>
        </p:txBody>
      </p:sp>
      <p:sp>
        <p:nvSpPr>
          <p:cNvPr id="302" name="Google Shape;302;g3710947e9cf_1_138"/>
          <p:cNvSpPr txBox="1"/>
          <p:nvPr>
            <p:ph idx="1" type="body"/>
          </p:nvPr>
        </p:nvSpPr>
        <p:spPr>
          <a:xfrm>
            <a:off x="838200" y="1335425"/>
            <a:ext cx="5067300" cy="45663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1000"/>
              </a:spcBef>
              <a:spcAft>
                <a:spcPts val="0"/>
              </a:spcAft>
              <a:buSzPts val="2000"/>
              <a:buChar char="•"/>
            </a:pPr>
            <a:r>
              <a:rPr lang="en-US"/>
              <a:t>Some UCTPs use uncorrelated TLEs </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UDL TLEs insufficient due to their high accuracy</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Using a Modified Gauss Method &amp; Batch Filter, Uncorrelated Tracks from the UDL are turned into TLEs</a:t>
            </a:r>
            <a:endParaRPr/>
          </a:p>
          <a:p>
            <a:pPr indent="0" lvl="0" marL="0" rtl="0" algn="l">
              <a:lnSpc>
                <a:spcPct val="100000"/>
              </a:lnSpc>
              <a:spcBef>
                <a:spcPts val="1000"/>
              </a:spcBef>
              <a:spcAft>
                <a:spcPts val="0"/>
              </a:spcAft>
              <a:buSzPts val="2000"/>
              <a:buNone/>
            </a:pPr>
            <a:r>
              <a:t/>
            </a:r>
            <a:endParaRPr/>
          </a:p>
        </p:txBody>
      </p:sp>
      <p:sp>
        <p:nvSpPr>
          <p:cNvPr id="303" name="Google Shape;303;g3710947e9cf_1_138"/>
          <p:cNvSpPr txBox="1"/>
          <p:nvPr>
            <p:ph idx="3" type="body"/>
          </p:nvPr>
        </p:nvSpPr>
        <p:spPr>
          <a:xfrm>
            <a:off x="7324776" y="6621075"/>
            <a:ext cx="3860400" cy="1503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pic>
        <p:nvPicPr>
          <p:cNvPr id="304" name="Google Shape;304;g3710947e9cf_1_138" title="The-batch-least-squares-estimation-Then-the-nonlinear-orbit-determination-problem-can-be.png"/>
          <p:cNvPicPr preferRelativeResize="0"/>
          <p:nvPr/>
        </p:nvPicPr>
        <p:blipFill rotWithShape="1">
          <a:blip r:embed="rId3">
            <a:alphaModFix/>
          </a:blip>
          <a:srcRect b="0" l="0" r="0" t="0"/>
          <a:stretch/>
        </p:blipFill>
        <p:spPr>
          <a:xfrm>
            <a:off x="4659350" y="1642714"/>
            <a:ext cx="7188601" cy="2368010"/>
          </a:xfrm>
          <a:prstGeom prst="rect">
            <a:avLst/>
          </a:prstGeom>
          <a:noFill/>
          <a:ln>
            <a:noFill/>
          </a:ln>
        </p:spPr>
      </p:pic>
      <p:sp>
        <p:nvSpPr>
          <p:cNvPr id="305" name="Google Shape;305;g3710947e9cf_1_138"/>
          <p:cNvSpPr txBox="1"/>
          <p:nvPr/>
        </p:nvSpPr>
        <p:spPr>
          <a:xfrm>
            <a:off x="5710425" y="3692725"/>
            <a:ext cx="5544000" cy="636000"/>
          </a:xfrm>
          <a:prstGeom prst="rect">
            <a:avLst/>
          </a:prstGeom>
          <a:noFill/>
          <a:ln>
            <a:noFill/>
          </a:ln>
        </p:spPr>
        <p:txBody>
          <a:bodyPr anchorCtr="0" anchor="t" bIns="78700" lIns="78700" spcFirstLastPara="1" rIns="78700" wrap="square" tIns="78700">
            <a:spAutoFit/>
          </a:bodyPr>
          <a:lstStyle/>
          <a:p>
            <a:pPr indent="0" lvl="0" marL="0" marR="0" rtl="0" algn="l">
              <a:lnSpc>
                <a:spcPct val="100000"/>
              </a:lnSpc>
              <a:spcBef>
                <a:spcPts val="0"/>
              </a:spcBef>
              <a:spcAft>
                <a:spcPts val="0"/>
              </a:spcAft>
              <a:buClr>
                <a:srgbClr val="000000"/>
              </a:buClr>
              <a:buSzPts val="1032"/>
              <a:buFont typeface="Arial"/>
              <a:buNone/>
            </a:pPr>
            <a:r>
              <a:rPr b="0" i="0" lang="en-US" sz="1032" u="none" cap="none" strike="noStrike">
                <a:solidFill>
                  <a:srgbClr val="000000"/>
                </a:solidFill>
                <a:latin typeface="Arial"/>
                <a:ea typeface="Arial"/>
                <a:cs typeface="Arial"/>
                <a:sym typeface="Arial"/>
              </a:rPr>
              <a:t>Retrieved from: https://www.researchgate.net/figure/The-batch-least-squares-estimation-Then-the-nonlinear-orbit-determination-problem-can-be_fig2_310334667 (July 2025)</a:t>
            </a:r>
            <a:endParaRPr b="0" i="0" sz="1032"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3713263bbdd_2_0"/>
          <p:cNvSpPr txBox="1"/>
          <p:nvPr>
            <p:ph type="title"/>
          </p:nvPr>
        </p:nvSpPr>
        <p:spPr>
          <a:xfrm>
            <a:off x="838200" y="460564"/>
            <a:ext cx="10515600" cy="605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Modified Gauss Method</a:t>
            </a:r>
            <a:endParaRPr/>
          </a:p>
        </p:txBody>
      </p:sp>
      <p:sp>
        <p:nvSpPr>
          <p:cNvPr id="312" name="Google Shape;312;g3713263bbdd_2_0"/>
          <p:cNvSpPr txBox="1"/>
          <p:nvPr>
            <p:ph idx="1" type="body"/>
          </p:nvPr>
        </p:nvSpPr>
        <p:spPr>
          <a:xfrm>
            <a:off x="726900" y="1356825"/>
            <a:ext cx="5369100" cy="4566300"/>
          </a:xfrm>
          <a:prstGeom prst="rect">
            <a:avLst/>
          </a:prstGeom>
          <a:noFill/>
          <a:ln>
            <a:noFill/>
          </a:ln>
        </p:spPr>
        <p:txBody>
          <a:bodyPr anchorCtr="0" anchor="t" bIns="45700" lIns="91425" spcFirstLastPara="1" rIns="91425" wrap="square" tIns="45700">
            <a:normAutofit fontScale="92500" lnSpcReduction="20000"/>
          </a:bodyPr>
          <a:lstStyle/>
          <a:p>
            <a:pPr indent="-346075" lvl="0" marL="457200" rtl="0" algn="l">
              <a:lnSpc>
                <a:spcPct val="100000"/>
              </a:lnSpc>
              <a:spcBef>
                <a:spcPts val="1000"/>
              </a:spcBef>
              <a:spcAft>
                <a:spcPts val="0"/>
              </a:spcAft>
              <a:buSzPct val="100000"/>
              <a:buChar char="•"/>
            </a:pPr>
            <a:r>
              <a:rPr lang="en-US"/>
              <a:t>Standard Gauss IOD that determines the three position vectors from three angular observations</a:t>
            </a:r>
            <a:endParaRPr/>
          </a:p>
          <a:p>
            <a:pPr indent="-322580" lvl="1" marL="914400" rtl="0" algn="l">
              <a:lnSpc>
                <a:spcPct val="100000"/>
              </a:lnSpc>
              <a:spcBef>
                <a:spcPts val="0"/>
              </a:spcBef>
              <a:spcAft>
                <a:spcPts val="0"/>
              </a:spcAft>
              <a:buSzPct val="100000"/>
              <a:buChar char="•"/>
            </a:pPr>
            <a:r>
              <a:rPr lang="en-US"/>
              <a:t>Attempts to create triplets of observations with angular separations between 1 and 30 degrees</a:t>
            </a:r>
            <a:endParaRPr/>
          </a:p>
          <a:p>
            <a:pPr indent="0" lvl="0" marL="457200" rtl="0" algn="l">
              <a:lnSpc>
                <a:spcPct val="100000"/>
              </a:lnSpc>
              <a:spcBef>
                <a:spcPts val="1000"/>
              </a:spcBef>
              <a:spcAft>
                <a:spcPts val="0"/>
              </a:spcAft>
              <a:buSzPct val="108108"/>
              <a:buNone/>
            </a:pPr>
            <a:r>
              <a:t/>
            </a:r>
            <a:endParaRPr/>
          </a:p>
          <a:p>
            <a:pPr indent="-346075" lvl="0" marL="457200" rtl="0" algn="l">
              <a:lnSpc>
                <a:spcPct val="100000"/>
              </a:lnSpc>
              <a:spcBef>
                <a:spcPts val="1000"/>
              </a:spcBef>
              <a:spcAft>
                <a:spcPts val="0"/>
              </a:spcAft>
              <a:buSzPct val="100000"/>
              <a:buChar char="•"/>
            </a:pPr>
            <a:r>
              <a:rPr lang="en-US"/>
              <a:t>Uses Gibbs or Herrick-Gibbs method to determine the velocity at the middle epoch</a:t>
            </a:r>
            <a:endParaRPr/>
          </a:p>
          <a:p>
            <a:pPr indent="0" lvl="0" marL="457200" rtl="0" algn="l">
              <a:lnSpc>
                <a:spcPct val="100000"/>
              </a:lnSpc>
              <a:spcBef>
                <a:spcPts val="1000"/>
              </a:spcBef>
              <a:spcAft>
                <a:spcPts val="0"/>
              </a:spcAft>
              <a:buSzPct val="108108"/>
              <a:buNone/>
            </a:pPr>
            <a:r>
              <a:t/>
            </a:r>
            <a:endParaRPr/>
          </a:p>
          <a:p>
            <a:pPr indent="-346075" lvl="0" marL="457200" rtl="0" algn="l">
              <a:lnSpc>
                <a:spcPct val="100000"/>
              </a:lnSpc>
              <a:spcBef>
                <a:spcPts val="1000"/>
              </a:spcBef>
              <a:spcAft>
                <a:spcPts val="0"/>
              </a:spcAft>
              <a:buSzPct val="100000"/>
              <a:buChar char="•"/>
            </a:pPr>
            <a:r>
              <a:rPr lang="en-US"/>
              <a:t>Refines state vector by updating position vectors based on residuals from Lagrange coefficient propagation (f and g functions)</a:t>
            </a:r>
            <a:endParaRPr/>
          </a:p>
          <a:p>
            <a:pPr indent="0" lvl="0" marL="457200" rtl="0" algn="l">
              <a:lnSpc>
                <a:spcPct val="100000"/>
              </a:lnSpc>
              <a:spcBef>
                <a:spcPts val="1000"/>
              </a:spcBef>
              <a:spcAft>
                <a:spcPts val="0"/>
              </a:spcAft>
              <a:buSzPct val="108108"/>
              <a:buNone/>
            </a:pPr>
            <a:r>
              <a:t/>
            </a:r>
            <a:endParaRPr/>
          </a:p>
          <a:p>
            <a:pPr indent="-346075" lvl="0" marL="457200" rtl="0" algn="l">
              <a:lnSpc>
                <a:spcPct val="100000"/>
              </a:lnSpc>
              <a:spcBef>
                <a:spcPts val="1000"/>
              </a:spcBef>
              <a:spcAft>
                <a:spcPts val="0"/>
              </a:spcAft>
              <a:buSzPct val="100000"/>
              <a:buChar char="•"/>
            </a:pPr>
            <a:r>
              <a:rPr lang="en-US"/>
              <a:t>Culls states with semimajor axes outside +/- 25% of the standard deviation from the mean</a:t>
            </a:r>
            <a:endParaRPr/>
          </a:p>
          <a:p>
            <a:pPr indent="0" lvl="0" marL="0" rtl="0" algn="l">
              <a:lnSpc>
                <a:spcPct val="100000"/>
              </a:lnSpc>
              <a:spcBef>
                <a:spcPts val="1000"/>
              </a:spcBef>
              <a:spcAft>
                <a:spcPts val="0"/>
              </a:spcAft>
              <a:buSzPct val="108108"/>
              <a:buNone/>
            </a:pPr>
            <a:r>
              <a:t/>
            </a:r>
            <a:endParaRPr/>
          </a:p>
        </p:txBody>
      </p:sp>
      <p:sp>
        <p:nvSpPr>
          <p:cNvPr id="313" name="Google Shape;313;g3713263bbdd_2_0"/>
          <p:cNvSpPr txBox="1"/>
          <p:nvPr>
            <p:ph idx="3" type="body"/>
          </p:nvPr>
        </p:nvSpPr>
        <p:spPr>
          <a:xfrm>
            <a:off x="6937376" y="6621076"/>
            <a:ext cx="4247700" cy="1638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pic>
        <p:nvPicPr>
          <p:cNvPr id="314" name="Google Shape;314;g3713263bbdd_2_0" title="Gauss_method.jpg"/>
          <p:cNvPicPr preferRelativeResize="0"/>
          <p:nvPr>
            <p:ph idx="2" type="pic"/>
          </p:nvPr>
        </p:nvPicPr>
        <p:blipFill rotWithShape="1">
          <a:blip r:embed="rId3">
            <a:alphaModFix/>
          </a:blip>
          <a:srcRect b="0" l="-792" r="-802" t="0"/>
          <a:stretch/>
        </p:blipFill>
        <p:spPr>
          <a:xfrm>
            <a:off x="6182325" y="1575650"/>
            <a:ext cx="5728000" cy="3388703"/>
          </a:xfrm>
          <a:prstGeom prst="rect">
            <a:avLst/>
          </a:prstGeom>
          <a:solidFill>
            <a:schemeClr val="lt2"/>
          </a:solidFill>
          <a:ln cap="flat" cmpd="sng" w="9525">
            <a:solidFill>
              <a:srgbClr val="595A59"/>
            </a:solidFill>
            <a:prstDash val="solid"/>
            <a:round/>
            <a:headEnd len="sm" w="sm" type="none"/>
            <a:tailEnd len="sm" w="sm" type="none"/>
          </a:ln>
        </p:spPr>
      </p:pic>
      <p:sp>
        <p:nvSpPr>
          <p:cNvPr id="315" name="Google Shape;315;g3713263bbdd_2_0"/>
          <p:cNvSpPr txBox="1"/>
          <p:nvPr/>
        </p:nvSpPr>
        <p:spPr>
          <a:xfrm>
            <a:off x="6996507" y="4964350"/>
            <a:ext cx="4361400" cy="318000"/>
          </a:xfrm>
          <a:prstGeom prst="rect">
            <a:avLst/>
          </a:prstGeom>
          <a:noFill/>
          <a:ln>
            <a:noFill/>
          </a:ln>
        </p:spPr>
        <p:txBody>
          <a:bodyPr anchorCtr="0" anchor="t" bIns="78700" lIns="78700" spcFirstLastPara="1" rIns="78700" wrap="square" tIns="78700">
            <a:spAutoFit/>
          </a:bodyPr>
          <a:lstStyle/>
          <a:p>
            <a:pPr indent="0" lvl="0" marL="0" marR="0" rtl="0" algn="l">
              <a:lnSpc>
                <a:spcPct val="100000"/>
              </a:lnSpc>
              <a:spcBef>
                <a:spcPts val="0"/>
              </a:spcBef>
              <a:spcAft>
                <a:spcPts val="0"/>
              </a:spcAft>
              <a:buClr>
                <a:srgbClr val="000000"/>
              </a:buClr>
              <a:buSzPts val="1032"/>
              <a:buFont typeface="Arial"/>
              <a:buNone/>
            </a:pPr>
            <a:r>
              <a:rPr b="0" i="0" lang="en-US" sz="1032" u="none" cap="none" strike="noStrike">
                <a:solidFill>
                  <a:srgbClr val="000000"/>
                </a:solidFill>
                <a:latin typeface="Arial"/>
                <a:ea typeface="Arial"/>
                <a:cs typeface="Arial"/>
                <a:sym typeface="Arial"/>
              </a:rPr>
              <a:t>Retrieved from: Dr. Shane Ross (July 2025)</a:t>
            </a:r>
            <a:endParaRPr b="0" i="0" sz="1032"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3710947e9cf_1_124"/>
          <p:cNvSpPr txBox="1"/>
          <p:nvPr>
            <p:ph type="title"/>
          </p:nvPr>
        </p:nvSpPr>
        <p:spPr>
          <a:xfrm>
            <a:off x="838200" y="446720"/>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Data Manipulation: Bin &amp; Sort Observations</a:t>
            </a:r>
            <a:endParaRPr/>
          </a:p>
        </p:txBody>
      </p:sp>
      <p:sp>
        <p:nvSpPr>
          <p:cNvPr id="322" name="Google Shape;322;g3710947e9cf_1_124"/>
          <p:cNvSpPr txBox="1"/>
          <p:nvPr>
            <p:ph idx="1" type="body"/>
          </p:nvPr>
        </p:nvSpPr>
        <p:spPr>
          <a:xfrm>
            <a:off x="838200" y="1335416"/>
            <a:ext cx="10515600" cy="50223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1000"/>
              </a:spcBef>
              <a:spcAft>
                <a:spcPts val="0"/>
              </a:spcAft>
              <a:buSzPts val="2000"/>
              <a:buChar char="•"/>
            </a:pPr>
            <a:r>
              <a:rPr lang="en-US"/>
              <a:t>Observations and states are first added to an answer key</a:t>
            </a:r>
            <a:endParaRPr/>
          </a:p>
          <a:p>
            <a:pPr indent="-355600" lvl="0" marL="457200" rtl="0" algn="l">
              <a:lnSpc>
                <a:spcPct val="100000"/>
              </a:lnSpc>
              <a:spcBef>
                <a:spcPts val="0"/>
              </a:spcBef>
              <a:spcAft>
                <a:spcPts val="0"/>
              </a:spcAft>
              <a:buSzPts val="2000"/>
              <a:buChar char="•"/>
            </a:pPr>
            <a:r>
              <a:rPr lang="en-US"/>
              <a:t>They are then stripped of identifying Norad IDs so that UCTP cannot cheat</a:t>
            </a:r>
            <a:endParaRPr/>
          </a:p>
          <a:p>
            <a:pPr indent="-355600" lvl="0" marL="457200" rtl="0" algn="l">
              <a:lnSpc>
                <a:spcPct val="100000"/>
              </a:lnSpc>
              <a:spcBef>
                <a:spcPts val="0"/>
              </a:spcBef>
              <a:spcAft>
                <a:spcPts val="0"/>
              </a:spcAft>
              <a:buSzPts val="2000"/>
              <a:buChar char="•"/>
            </a:pPr>
            <a:r>
              <a:rPr lang="en-US"/>
              <a:t>The Observations are then grouped by their passes over observatories</a:t>
            </a:r>
            <a:endParaRPr/>
          </a:p>
          <a:p>
            <a:pPr indent="-330200" lvl="1" marL="914400" rtl="0" algn="l">
              <a:lnSpc>
                <a:spcPct val="100000"/>
              </a:lnSpc>
              <a:spcBef>
                <a:spcPts val="0"/>
              </a:spcBef>
              <a:spcAft>
                <a:spcPts val="0"/>
              </a:spcAft>
              <a:buSzPts val="1600"/>
              <a:buChar char="•"/>
            </a:pPr>
            <a:r>
              <a:rPr lang="en-US"/>
              <a:t>Most providers do not provide this information; bin manually</a:t>
            </a:r>
            <a:endParaRPr/>
          </a:p>
          <a:p>
            <a:pPr indent="-355600" lvl="0" marL="457200" rtl="0" algn="l">
              <a:lnSpc>
                <a:spcPct val="100000"/>
              </a:lnSpc>
              <a:spcBef>
                <a:spcPts val="0"/>
              </a:spcBef>
              <a:spcAft>
                <a:spcPts val="0"/>
              </a:spcAft>
              <a:buSzPts val="2000"/>
              <a:buChar char="•"/>
            </a:pPr>
            <a:r>
              <a:rPr lang="en-US"/>
              <a:t>In the field, Uncorrelated Observations aren’t completely “uncorrelated” </a:t>
            </a:r>
            <a:endParaRPr/>
          </a:p>
          <a:p>
            <a:pPr indent="0" lvl="0" marL="0" rtl="0" algn="l">
              <a:lnSpc>
                <a:spcPct val="100000"/>
              </a:lnSpc>
              <a:spcBef>
                <a:spcPts val="1000"/>
              </a:spcBef>
              <a:spcAft>
                <a:spcPts val="0"/>
              </a:spcAft>
              <a:buSzPts val="2000"/>
              <a:buNone/>
            </a:pPr>
            <a:r>
              <a:t/>
            </a:r>
            <a:endParaRPr/>
          </a:p>
        </p:txBody>
      </p:sp>
      <p:sp>
        <p:nvSpPr>
          <p:cNvPr id="323" name="Google Shape;323;g3710947e9cf_1_124"/>
          <p:cNvSpPr txBox="1"/>
          <p:nvPr>
            <p:ph idx="2" type="body"/>
          </p:nvPr>
        </p:nvSpPr>
        <p:spPr>
          <a:xfrm>
            <a:off x="7227226" y="6621075"/>
            <a:ext cx="3957900" cy="1545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pic>
        <p:nvPicPr>
          <p:cNvPr id="324" name="Google Shape;324;g3710947e9cf_1_124" title="Tracking_1.png"/>
          <p:cNvPicPr preferRelativeResize="0"/>
          <p:nvPr/>
        </p:nvPicPr>
        <p:blipFill rotWithShape="1">
          <a:blip r:embed="rId3">
            <a:alphaModFix/>
          </a:blip>
          <a:srcRect b="0" l="0" r="0" t="0"/>
          <a:stretch/>
        </p:blipFill>
        <p:spPr>
          <a:xfrm>
            <a:off x="6361549" y="3073800"/>
            <a:ext cx="4535052" cy="3023375"/>
          </a:xfrm>
          <a:prstGeom prst="rect">
            <a:avLst/>
          </a:prstGeom>
          <a:noFill/>
          <a:ln>
            <a:noFill/>
          </a:ln>
        </p:spPr>
      </p:pic>
      <p:sp>
        <p:nvSpPr>
          <p:cNvPr id="325" name="Google Shape;325;g3710947e9cf_1_124"/>
          <p:cNvSpPr txBox="1"/>
          <p:nvPr/>
        </p:nvSpPr>
        <p:spPr>
          <a:xfrm>
            <a:off x="8804400" y="6097175"/>
            <a:ext cx="25494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Calibri"/>
                <a:ea typeface="Calibri"/>
                <a:cs typeface="Calibri"/>
                <a:sym typeface="Calibri"/>
              </a:rPr>
              <a:t>Retrieved from: ChatGPT (July 2025)</a:t>
            </a:r>
            <a:endParaRPr b="0" i="0" sz="1400" u="none" cap="none" strike="noStrike">
              <a:solidFill>
                <a:srgbClr val="000000"/>
              </a:solidFill>
              <a:latin typeface="Arial"/>
              <a:ea typeface="Arial"/>
              <a:cs typeface="Arial"/>
              <a:sym typeface="Arial"/>
            </a:endParaRPr>
          </a:p>
        </p:txBody>
      </p:sp>
      <p:pic>
        <p:nvPicPr>
          <p:cNvPr id="326" name="Google Shape;326;g3710947e9cf_1_124" title="DEC-Starlinks copy.jpeg"/>
          <p:cNvPicPr preferRelativeResize="0"/>
          <p:nvPr/>
        </p:nvPicPr>
        <p:blipFill rotWithShape="1">
          <a:blip r:embed="rId4">
            <a:alphaModFix/>
          </a:blip>
          <a:srcRect b="12335" l="0" r="0" t="20032"/>
          <a:stretch/>
        </p:blipFill>
        <p:spPr>
          <a:xfrm>
            <a:off x="1567425" y="3073800"/>
            <a:ext cx="4231215" cy="3023374"/>
          </a:xfrm>
          <a:prstGeom prst="rect">
            <a:avLst/>
          </a:prstGeom>
          <a:noFill/>
          <a:ln>
            <a:noFill/>
          </a:ln>
        </p:spPr>
      </p:pic>
      <p:sp>
        <p:nvSpPr>
          <p:cNvPr id="327" name="Google Shape;327;g3710947e9cf_1_124"/>
          <p:cNvSpPr txBox="1"/>
          <p:nvPr/>
        </p:nvSpPr>
        <p:spPr>
          <a:xfrm>
            <a:off x="187925" y="6097175"/>
            <a:ext cx="81456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Calibri"/>
                <a:ea typeface="Calibri"/>
                <a:cs typeface="Calibri"/>
                <a:sym typeface="Calibri"/>
              </a:rPr>
              <a:t>Retrieved from: https://www.lsst.org/content/lsst-statement-regarding-increased-deployment-satellite-constellations (July 2025)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3710947e9cf_1_100"/>
          <p:cNvSpPr txBox="1"/>
          <p:nvPr>
            <p:ph type="title"/>
          </p:nvPr>
        </p:nvSpPr>
        <p:spPr>
          <a:xfrm>
            <a:off x="2342573" y="1903867"/>
            <a:ext cx="7494300" cy="2852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400"/>
              <a:buNone/>
            </a:pPr>
            <a:r>
              <a:rPr lang="en-US"/>
              <a:t>Evaluation/Packaging</a:t>
            </a:r>
            <a:endParaRPr/>
          </a:p>
        </p:txBody>
      </p:sp>
      <p:sp>
        <p:nvSpPr>
          <p:cNvPr id="334" name="Google Shape;334;g3710947e9cf_1_100"/>
          <p:cNvSpPr txBox="1"/>
          <p:nvPr>
            <p:ph idx="1" type="body"/>
          </p:nvPr>
        </p:nvSpPr>
        <p:spPr>
          <a:xfrm>
            <a:off x="7197751" y="6621075"/>
            <a:ext cx="3987300" cy="1503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t>“DISTRIBUTION C – Distribution authorized to U.S. Government Agencies and their contractors; Technical content. July 15, 2025.”</a:t>
            </a:r>
            <a:endParaRPr/>
          </a:p>
          <a:p>
            <a:pPr indent="0" lvl="0" marL="0" rtl="0" algn="r">
              <a:lnSpc>
                <a:spcPct val="90000"/>
              </a:lnSpc>
              <a:spcBef>
                <a:spcPts val="1000"/>
              </a:spcBef>
              <a:spcAft>
                <a:spcPts val="0"/>
              </a:spcAft>
              <a:buSzPts val="45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3710947e9cf_0_62"/>
          <p:cNvSpPr txBox="1"/>
          <p:nvPr>
            <p:ph type="title"/>
          </p:nvPr>
        </p:nvSpPr>
        <p:spPr>
          <a:xfrm>
            <a:off x="838200" y="446720"/>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Evaluation Workflow</a:t>
            </a:r>
            <a:endParaRPr/>
          </a:p>
        </p:txBody>
      </p:sp>
      <p:sp>
        <p:nvSpPr>
          <p:cNvPr id="341" name="Google Shape;341;g3710947e9cf_0_62"/>
          <p:cNvSpPr txBox="1"/>
          <p:nvPr>
            <p:ph idx="2" type="body"/>
          </p:nvPr>
        </p:nvSpPr>
        <p:spPr>
          <a:xfrm>
            <a:off x="7345051" y="6621075"/>
            <a:ext cx="3840000" cy="1446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pic>
        <p:nvPicPr>
          <p:cNvPr id="342" name="Google Shape;342;g3710947e9cf_0_62"/>
          <p:cNvPicPr preferRelativeResize="0"/>
          <p:nvPr/>
        </p:nvPicPr>
        <p:blipFill rotWithShape="1">
          <a:blip r:embed="rId3">
            <a:alphaModFix/>
          </a:blip>
          <a:srcRect b="0" l="0" r="0" t="0"/>
          <a:stretch/>
        </p:blipFill>
        <p:spPr>
          <a:xfrm>
            <a:off x="228600" y="1939450"/>
            <a:ext cx="11665102" cy="389252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710947e9cf_1_194"/>
          <p:cNvSpPr txBox="1"/>
          <p:nvPr>
            <p:ph type="title"/>
          </p:nvPr>
        </p:nvSpPr>
        <p:spPr>
          <a:xfrm>
            <a:off x="838200" y="446720"/>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Force Model Specifics</a:t>
            </a:r>
            <a:endParaRPr/>
          </a:p>
        </p:txBody>
      </p:sp>
      <p:sp>
        <p:nvSpPr>
          <p:cNvPr id="349" name="Google Shape;349;g3710947e9cf_1_194"/>
          <p:cNvSpPr txBox="1"/>
          <p:nvPr>
            <p:ph idx="1" type="body"/>
          </p:nvPr>
        </p:nvSpPr>
        <p:spPr>
          <a:xfrm>
            <a:off x="838200" y="1335420"/>
            <a:ext cx="10515600" cy="22155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1000"/>
              </a:spcBef>
              <a:spcAft>
                <a:spcPts val="0"/>
              </a:spcAft>
              <a:buSzPts val="2000"/>
              <a:buChar char="•"/>
            </a:pPr>
            <a:r>
              <a:rPr lang="en-US"/>
              <a:t>The Force Model used here was verified with GMAT and ODTK </a:t>
            </a:r>
            <a:endParaRPr/>
          </a:p>
          <a:p>
            <a:pPr indent="-330200" lvl="1" marL="914400" rtl="0" algn="l">
              <a:lnSpc>
                <a:spcPct val="100000"/>
              </a:lnSpc>
              <a:spcBef>
                <a:spcPts val="0"/>
              </a:spcBef>
              <a:spcAft>
                <a:spcPts val="0"/>
              </a:spcAft>
              <a:buSzPts val="1600"/>
              <a:buChar char="•"/>
            </a:pPr>
            <a:r>
              <a:rPr lang="en-US"/>
              <a:t>Earth Gravity and Harmonics (Up to J</a:t>
            </a:r>
            <a:r>
              <a:rPr baseline="-25000" lang="en-US"/>
              <a:t>120</a:t>
            </a:r>
            <a:r>
              <a:rPr lang="en-US"/>
              <a:t>)</a:t>
            </a:r>
            <a:endParaRPr/>
          </a:p>
          <a:p>
            <a:pPr indent="-330200" lvl="1" marL="914400" rtl="0" algn="l">
              <a:lnSpc>
                <a:spcPct val="100000"/>
              </a:lnSpc>
              <a:spcBef>
                <a:spcPts val="0"/>
              </a:spcBef>
              <a:spcAft>
                <a:spcPts val="0"/>
              </a:spcAft>
              <a:buSzPts val="1600"/>
              <a:buChar char="•"/>
            </a:pPr>
            <a:r>
              <a:rPr lang="en-US"/>
              <a:t>Point mass Gravity from the Moon and Sun</a:t>
            </a:r>
            <a:endParaRPr/>
          </a:p>
          <a:p>
            <a:pPr indent="-330200" lvl="1" marL="914400" rtl="0" algn="l">
              <a:lnSpc>
                <a:spcPct val="100000"/>
              </a:lnSpc>
              <a:spcBef>
                <a:spcPts val="0"/>
              </a:spcBef>
              <a:spcAft>
                <a:spcPts val="0"/>
              </a:spcAft>
              <a:buSzPts val="1600"/>
              <a:buChar char="•"/>
            </a:pPr>
            <a:r>
              <a:rPr lang="en-US"/>
              <a:t>Cannonball model drag using NRLMSISE00 atmosphere model</a:t>
            </a:r>
            <a:endParaRPr/>
          </a:p>
          <a:p>
            <a:pPr indent="-330200" lvl="1" marL="914400" rtl="0" algn="l">
              <a:lnSpc>
                <a:spcPct val="100000"/>
              </a:lnSpc>
              <a:spcBef>
                <a:spcPts val="0"/>
              </a:spcBef>
              <a:spcAft>
                <a:spcPts val="0"/>
              </a:spcAft>
              <a:buSzPts val="1600"/>
              <a:buChar char="•"/>
            </a:pPr>
            <a:r>
              <a:rPr lang="en-US"/>
              <a:t>Cannonball model solar radiation pressure with ecclipting Earth</a:t>
            </a:r>
            <a:endParaRPr/>
          </a:p>
          <a:p>
            <a:pPr indent="-330200" lvl="1" marL="914400" rtl="0" algn="l">
              <a:lnSpc>
                <a:spcPct val="100000"/>
              </a:lnSpc>
              <a:spcBef>
                <a:spcPts val="0"/>
              </a:spcBef>
              <a:spcAft>
                <a:spcPts val="0"/>
              </a:spcAft>
              <a:buSzPts val="1600"/>
              <a:buChar char="•"/>
            </a:pPr>
            <a:r>
              <a:rPr lang="en-US"/>
              <a:t>Numerically Integrated with Runge Kutta 8(5,3) </a:t>
            </a:r>
            <a:endParaRPr/>
          </a:p>
        </p:txBody>
      </p:sp>
      <p:sp>
        <p:nvSpPr>
          <p:cNvPr id="350" name="Google Shape;350;g3710947e9cf_1_194"/>
          <p:cNvSpPr txBox="1"/>
          <p:nvPr>
            <p:ph idx="2" type="body"/>
          </p:nvPr>
        </p:nvSpPr>
        <p:spPr>
          <a:xfrm>
            <a:off x="7266501" y="6621076"/>
            <a:ext cx="3918600" cy="1641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pic>
        <p:nvPicPr>
          <p:cNvPr id="351" name="Google Shape;351;g3710947e9cf_1_194" title="Orbit_forces.jpeg"/>
          <p:cNvPicPr preferRelativeResize="0"/>
          <p:nvPr/>
        </p:nvPicPr>
        <p:blipFill rotWithShape="1">
          <a:blip r:embed="rId3">
            <a:alphaModFix/>
          </a:blip>
          <a:srcRect b="0" l="0" r="0" t="0"/>
          <a:stretch/>
        </p:blipFill>
        <p:spPr>
          <a:xfrm>
            <a:off x="2221200" y="3166845"/>
            <a:ext cx="7224347" cy="3002279"/>
          </a:xfrm>
          <a:prstGeom prst="rect">
            <a:avLst/>
          </a:prstGeom>
          <a:noFill/>
          <a:ln>
            <a:noFill/>
          </a:ln>
        </p:spPr>
      </p:pic>
      <p:sp>
        <p:nvSpPr>
          <p:cNvPr id="352" name="Google Shape;352;g3710947e9cf_1_194"/>
          <p:cNvSpPr txBox="1"/>
          <p:nvPr/>
        </p:nvSpPr>
        <p:spPr>
          <a:xfrm>
            <a:off x="3483750" y="6169125"/>
            <a:ext cx="50673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Retrieved from: https://arc.aiaa.org/doi/10.2514/1.A34338 (July 2025)</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3713263bbdd_1_0"/>
          <p:cNvSpPr txBox="1"/>
          <p:nvPr>
            <p:ph type="title"/>
          </p:nvPr>
        </p:nvSpPr>
        <p:spPr>
          <a:xfrm>
            <a:off x="838200" y="446720"/>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Orbit Association</a:t>
            </a:r>
            <a:endParaRPr/>
          </a:p>
        </p:txBody>
      </p:sp>
      <p:sp>
        <p:nvSpPr>
          <p:cNvPr id="359" name="Google Shape;359;g3713263bbdd_1_0"/>
          <p:cNvSpPr txBox="1"/>
          <p:nvPr>
            <p:ph idx="1" type="body"/>
          </p:nvPr>
        </p:nvSpPr>
        <p:spPr>
          <a:xfrm>
            <a:off x="838200" y="1335416"/>
            <a:ext cx="10515600" cy="50223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1000"/>
              </a:spcBef>
              <a:spcAft>
                <a:spcPts val="0"/>
              </a:spcAft>
              <a:buSzPts val="2000"/>
              <a:buChar char="•"/>
            </a:pPr>
            <a:r>
              <a:rPr lang="en-US"/>
              <a:t>Assume the UCTP does not check objects vs catalog</a:t>
            </a:r>
            <a:endParaRPr/>
          </a:p>
          <a:p>
            <a:pPr indent="-355600" lvl="0" marL="457200" rtl="0" algn="l">
              <a:lnSpc>
                <a:spcPct val="100000"/>
              </a:lnSpc>
              <a:spcBef>
                <a:spcPts val="0"/>
              </a:spcBef>
              <a:spcAft>
                <a:spcPts val="0"/>
              </a:spcAft>
              <a:buSzPts val="2000"/>
              <a:buChar char="•"/>
            </a:pPr>
            <a:r>
              <a:rPr lang="en-US"/>
              <a:t>Need to “match” candidate results to references</a:t>
            </a:r>
            <a:endParaRPr/>
          </a:p>
          <a:p>
            <a:pPr indent="-355600" lvl="0" marL="457200" rtl="0" algn="l">
              <a:lnSpc>
                <a:spcPct val="100000"/>
              </a:lnSpc>
              <a:spcBef>
                <a:spcPts val="0"/>
              </a:spcBef>
              <a:spcAft>
                <a:spcPts val="0"/>
              </a:spcAft>
              <a:buSzPts val="2000"/>
              <a:buChar char="•"/>
            </a:pPr>
            <a:r>
              <a:rPr lang="en-US"/>
              <a:t>Use Hungarian Algorithm (scipy.optimize.linear_sum_assignment)</a:t>
            </a:r>
            <a:endParaRPr/>
          </a:p>
          <a:p>
            <a:pPr indent="-355600" lvl="0" marL="457200" rtl="0" algn="l">
              <a:lnSpc>
                <a:spcPct val="100000"/>
              </a:lnSpc>
              <a:spcBef>
                <a:spcPts val="0"/>
              </a:spcBef>
              <a:spcAft>
                <a:spcPts val="0"/>
              </a:spcAft>
              <a:buSzPts val="2000"/>
              <a:buChar char="•"/>
            </a:pPr>
            <a:r>
              <a:rPr lang="en-US"/>
              <a:t>Minimize norm of error vector</a:t>
            </a:r>
            <a:endParaRPr/>
          </a:p>
        </p:txBody>
      </p:sp>
      <p:sp>
        <p:nvSpPr>
          <p:cNvPr id="360" name="Google Shape;360;g3713263bbdd_1_0"/>
          <p:cNvSpPr txBox="1"/>
          <p:nvPr>
            <p:ph idx="2" type="body"/>
          </p:nvPr>
        </p:nvSpPr>
        <p:spPr>
          <a:xfrm>
            <a:off x="6913001" y="6621077"/>
            <a:ext cx="4272300" cy="1740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pic>
        <p:nvPicPr>
          <p:cNvPr id="361" name="Google Shape;361;g3713263bbdd_1_0"/>
          <p:cNvPicPr preferRelativeResize="0"/>
          <p:nvPr/>
        </p:nvPicPr>
        <p:blipFill rotWithShape="1">
          <a:blip r:embed="rId3">
            <a:alphaModFix/>
          </a:blip>
          <a:srcRect b="0" l="0" r="0" t="0"/>
          <a:stretch/>
        </p:blipFill>
        <p:spPr>
          <a:xfrm>
            <a:off x="3248025" y="2740963"/>
            <a:ext cx="5695950" cy="3228975"/>
          </a:xfrm>
          <a:prstGeom prst="rect">
            <a:avLst/>
          </a:prstGeom>
          <a:noFill/>
          <a:ln>
            <a:noFill/>
          </a:ln>
        </p:spPr>
      </p:pic>
      <p:sp>
        <p:nvSpPr>
          <p:cNvPr id="362" name="Google Shape;362;g3713263bbdd_1_0"/>
          <p:cNvSpPr txBox="1"/>
          <p:nvPr/>
        </p:nvSpPr>
        <p:spPr>
          <a:xfrm>
            <a:off x="4228800" y="5969950"/>
            <a:ext cx="37344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Created using drawio.com</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37181be29d6_0_0"/>
          <p:cNvSpPr txBox="1"/>
          <p:nvPr>
            <p:ph type="title"/>
          </p:nvPr>
        </p:nvSpPr>
        <p:spPr>
          <a:xfrm>
            <a:off x="838200" y="446720"/>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State Metrics</a:t>
            </a:r>
            <a:endParaRPr/>
          </a:p>
        </p:txBody>
      </p:sp>
      <p:sp>
        <p:nvSpPr>
          <p:cNvPr id="369" name="Google Shape;369;g37181be29d6_0_0"/>
          <p:cNvSpPr txBox="1"/>
          <p:nvPr>
            <p:ph idx="1" type="body"/>
          </p:nvPr>
        </p:nvSpPr>
        <p:spPr>
          <a:xfrm>
            <a:off x="838200" y="1242533"/>
            <a:ext cx="10515600" cy="46539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SzPts val="2000"/>
              <a:buNone/>
            </a:pPr>
            <a:r>
              <a:rPr lang="en-US"/>
              <a:t>Propagate each reference to candidate and compare state vectors</a:t>
            </a:r>
            <a:endParaRPr/>
          </a:p>
          <a:p>
            <a:pPr indent="0" lvl="0" marL="0" rtl="0" algn="l">
              <a:lnSpc>
                <a:spcPct val="100000"/>
              </a:lnSpc>
              <a:spcBef>
                <a:spcPts val="1000"/>
              </a:spcBef>
              <a:spcAft>
                <a:spcPts val="0"/>
              </a:spcAft>
              <a:buSzPts val="2000"/>
              <a:buNone/>
            </a:pPr>
            <a:r>
              <a:rPr b="1" lang="en-US"/>
              <a:t>Error Norm: </a:t>
            </a:r>
            <a:r>
              <a:rPr lang="en-US"/>
              <a:t>How physically close are the vectors?</a:t>
            </a:r>
            <a:endParaRPr/>
          </a:p>
          <a:p>
            <a:pPr indent="0" lvl="0" marL="0" rtl="0" algn="l">
              <a:lnSpc>
                <a:spcPct val="100000"/>
              </a:lnSpc>
              <a:spcBef>
                <a:spcPts val="1000"/>
              </a:spcBef>
              <a:spcAft>
                <a:spcPts val="0"/>
              </a:spcAft>
              <a:buSzPts val="2000"/>
              <a:buNone/>
            </a:pPr>
            <a:r>
              <a:rPr b="1" lang="en-US"/>
              <a:t>Bias: </a:t>
            </a:r>
            <a:r>
              <a:rPr lang="en-US"/>
              <a:t>Is the UCTP candidate off in a consistent manner?</a:t>
            </a:r>
            <a:endParaRPr/>
          </a:p>
          <a:p>
            <a:pPr indent="0" lvl="0" marL="0" rtl="0" algn="l">
              <a:lnSpc>
                <a:spcPct val="100000"/>
              </a:lnSpc>
              <a:spcBef>
                <a:spcPts val="1000"/>
              </a:spcBef>
              <a:spcAft>
                <a:spcPts val="0"/>
              </a:spcAft>
              <a:buSzPts val="2000"/>
              <a:buNone/>
            </a:pPr>
            <a:r>
              <a:rPr b="1" lang="en-US"/>
              <a:t>Mahalanobis P-score:</a:t>
            </a:r>
            <a:r>
              <a:rPr lang="en-US"/>
              <a:t> How likely is it that the vectors correspond to the same orbit?</a:t>
            </a:r>
            <a:endParaRPr/>
          </a:p>
          <a:p>
            <a:pPr indent="0" lvl="0" marL="0" rtl="0" algn="l">
              <a:lnSpc>
                <a:spcPct val="100000"/>
              </a:lnSpc>
              <a:spcBef>
                <a:spcPts val="1000"/>
              </a:spcBef>
              <a:spcAft>
                <a:spcPts val="0"/>
              </a:spcAft>
              <a:buSzPts val="2000"/>
              <a:buNone/>
            </a:pPr>
            <a:r>
              <a:rPr b="1" lang="en-US"/>
              <a:t>Normalized Estimation Error Squared:</a:t>
            </a:r>
            <a:r>
              <a:rPr lang="en-US"/>
              <a:t> How confident is the processor in its results?</a:t>
            </a:r>
            <a:endParaRPr/>
          </a:p>
          <a:p>
            <a:pPr indent="0" lvl="0" marL="0" rtl="0" algn="l">
              <a:lnSpc>
                <a:spcPct val="100000"/>
              </a:lnSpc>
              <a:spcBef>
                <a:spcPts val="1000"/>
              </a:spcBef>
              <a:spcAft>
                <a:spcPts val="0"/>
              </a:spcAft>
              <a:buSzPts val="2000"/>
              <a:buNone/>
            </a:pPr>
            <a:r>
              <a:rPr b="1" lang="en-US"/>
              <a:t> </a:t>
            </a:r>
            <a:endParaRPr b="1"/>
          </a:p>
        </p:txBody>
      </p:sp>
      <p:sp>
        <p:nvSpPr>
          <p:cNvPr id="370" name="Google Shape;370;g37181be29d6_0_0"/>
          <p:cNvSpPr txBox="1"/>
          <p:nvPr>
            <p:ph idx="2" type="body"/>
          </p:nvPr>
        </p:nvSpPr>
        <p:spPr>
          <a:xfrm>
            <a:off x="6913001" y="6621077"/>
            <a:ext cx="4272300" cy="1740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pic>
        <p:nvPicPr>
          <p:cNvPr id="371" name="Google Shape;371;g37181be29d6_0_0"/>
          <p:cNvPicPr preferRelativeResize="0"/>
          <p:nvPr/>
        </p:nvPicPr>
        <p:blipFill rotWithShape="1">
          <a:blip r:embed="rId3">
            <a:alphaModFix/>
          </a:blip>
          <a:srcRect b="33155" l="2726" r="25148" t="0"/>
          <a:stretch/>
        </p:blipFill>
        <p:spPr>
          <a:xfrm>
            <a:off x="3332675" y="3429000"/>
            <a:ext cx="5526651" cy="2715125"/>
          </a:xfrm>
          <a:prstGeom prst="rect">
            <a:avLst/>
          </a:prstGeom>
          <a:noFill/>
          <a:ln>
            <a:noFill/>
          </a:ln>
        </p:spPr>
      </p:pic>
      <p:sp>
        <p:nvSpPr>
          <p:cNvPr id="372" name="Google Shape;372;g37181be29d6_0_0"/>
          <p:cNvSpPr txBox="1"/>
          <p:nvPr/>
        </p:nvSpPr>
        <p:spPr>
          <a:xfrm>
            <a:off x="4228800" y="5969950"/>
            <a:ext cx="37344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Created using drawio.com</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3713263bbdd_1_14"/>
          <p:cNvSpPr txBox="1"/>
          <p:nvPr>
            <p:ph type="title"/>
          </p:nvPr>
        </p:nvSpPr>
        <p:spPr>
          <a:xfrm>
            <a:off x="838200" y="446720"/>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Residual Metrics</a:t>
            </a:r>
            <a:endParaRPr/>
          </a:p>
        </p:txBody>
      </p:sp>
      <p:sp>
        <p:nvSpPr>
          <p:cNvPr id="379" name="Google Shape;379;g3713263bbdd_1_14"/>
          <p:cNvSpPr txBox="1"/>
          <p:nvPr>
            <p:ph idx="1" type="body"/>
          </p:nvPr>
        </p:nvSpPr>
        <p:spPr>
          <a:xfrm>
            <a:off x="838200" y="1335425"/>
            <a:ext cx="5257800" cy="5022300"/>
          </a:xfrm>
          <a:prstGeom prst="rect">
            <a:avLst/>
          </a:prstGeom>
          <a:noFill/>
          <a:ln>
            <a:noFill/>
          </a:ln>
        </p:spPr>
        <p:txBody>
          <a:bodyPr anchorCtr="0" anchor="t" bIns="45700" lIns="91425" spcFirstLastPara="1" rIns="91425" wrap="square" tIns="45700">
            <a:normAutofit lnSpcReduction="10000"/>
          </a:bodyPr>
          <a:lstStyle/>
          <a:p>
            <a:pPr indent="-355600" lvl="0" marL="457200" rtl="0" algn="l">
              <a:lnSpc>
                <a:spcPct val="100000"/>
              </a:lnSpc>
              <a:spcBef>
                <a:spcPts val="1000"/>
              </a:spcBef>
              <a:spcAft>
                <a:spcPts val="0"/>
              </a:spcAft>
              <a:buSzPts val="2000"/>
              <a:buChar char="•"/>
            </a:pPr>
            <a:r>
              <a:rPr lang="en-US"/>
              <a:t>Computes the unit circle great arc residual between two sets of angular observations</a:t>
            </a:r>
            <a:endParaRPr/>
          </a:p>
          <a:p>
            <a:pPr indent="0" lvl="0" marL="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Gives a measure for the accuracy and precision of the UCTP</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b="1" lang="en-US"/>
              <a:t>Accuracy:</a:t>
            </a:r>
            <a:r>
              <a:rPr lang="en-US"/>
              <a:t> compares the reference orbit observations / trackTLEs with the UCTP candidate orbital estimation</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b="1" lang="en-US"/>
              <a:t>Precision:</a:t>
            </a:r>
            <a:r>
              <a:rPr lang="en-US"/>
              <a:t> compares the UCTP candidate orbit observations / trackTLEs with the UCTP candidate orbital estimation</a:t>
            </a:r>
            <a:endParaRPr/>
          </a:p>
        </p:txBody>
      </p:sp>
      <p:sp>
        <p:nvSpPr>
          <p:cNvPr id="380" name="Google Shape;380;g3713263bbdd_1_14"/>
          <p:cNvSpPr txBox="1"/>
          <p:nvPr>
            <p:ph idx="2" type="body"/>
          </p:nvPr>
        </p:nvSpPr>
        <p:spPr>
          <a:xfrm>
            <a:off x="6913001" y="6621077"/>
            <a:ext cx="4272300" cy="1740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pic>
        <p:nvPicPr>
          <p:cNvPr id="381" name="Google Shape;381;g3713263bbdd_1_14"/>
          <p:cNvPicPr preferRelativeResize="0"/>
          <p:nvPr/>
        </p:nvPicPr>
        <p:blipFill rotWithShape="1">
          <a:blip r:embed="rId3">
            <a:alphaModFix/>
          </a:blip>
          <a:srcRect b="0" l="0" r="0" t="0"/>
          <a:stretch/>
        </p:blipFill>
        <p:spPr>
          <a:xfrm>
            <a:off x="6205600" y="1493470"/>
            <a:ext cx="5791202" cy="375591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g3713263bbdd_1_21"/>
          <p:cNvSpPr txBox="1"/>
          <p:nvPr>
            <p:ph type="title"/>
          </p:nvPr>
        </p:nvSpPr>
        <p:spPr>
          <a:xfrm>
            <a:off x="838200" y="446720"/>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Binary Metrics</a:t>
            </a:r>
            <a:endParaRPr/>
          </a:p>
        </p:txBody>
      </p:sp>
      <p:sp>
        <p:nvSpPr>
          <p:cNvPr id="388" name="Google Shape;388;g3713263bbdd_1_21"/>
          <p:cNvSpPr txBox="1"/>
          <p:nvPr>
            <p:ph idx="1" type="body"/>
          </p:nvPr>
        </p:nvSpPr>
        <p:spPr>
          <a:xfrm>
            <a:off x="838200" y="1335425"/>
            <a:ext cx="5184900" cy="5022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Clr>
                <a:schemeClr val="dk1"/>
              </a:buClr>
              <a:buSzPts val="1100"/>
              <a:buFont typeface="Arial"/>
              <a:buNone/>
            </a:pPr>
            <a:r>
              <a:rPr b="1" lang="en-US"/>
              <a:t>True Positive (TP)</a:t>
            </a:r>
            <a:r>
              <a:rPr lang="en-US"/>
              <a:t>: Observation or TrackTLE belongs to both the Candidate Orbit and the Reference Orbit to which it has been associated </a:t>
            </a:r>
            <a:endParaRPr/>
          </a:p>
          <a:p>
            <a:pPr indent="0" lvl="0" marL="0" rtl="0" algn="l">
              <a:lnSpc>
                <a:spcPct val="100000"/>
              </a:lnSpc>
              <a:spcBef>
                <a:spcPts val="1000"/>
              </a:spcBef>
              <a:spcAft>
                <a:spcPts val="0"/>
              </a:spcAft>
              <a:buClr>
                <a:schemeClr val="dk1"/>
              </a:buClr>
              <a:buSzPts val="1100"/>
              <a:buFont typeface="Arial"/>
              <a:buNone/>
            </a:pPr>
            <a:r>
              <a:rPr b="1" lang="en-US"/>
              <a:t>True Negative (TN)</a:t>
            </a:r>
            <a:r>
              <a:rPr lang="en-US"/>
              <a:t>: Observation or TrackTLE does not belong to any Candidate Orbit or Reference Orbit</a:t>
            </a:r>
            <a:endParaRPr/>
          </a:p>
          <a:p>
            <a:pPr indent="0" lvl="0" marL="0" rtl="0" algn="l">
              <a:lnSpc>
                <a:spcPct val="100000"/>
              </a:lnSpc>
              <a:spcBef>
                <a:spcPts val="1000"/>
              </a:spcBef>
              <a:spcAft>
                <a:spcPts val="0"/>
              </a:spcAft>
              <a:buSzPts val="2000"/>
              <a:buNone/>
            </a:pPr>
            <a:r>
              <a:rPr b="1" lang="en-US"/>
              <a:t>False Positive (FP)</a:t>
            </a:r>
            <a:r>
              <a:rPr lang="en-US"/>
              <a:t>: Observation or TrackTLE belongs to a Candidate Orbit but not the Reference Orbit </a:t>
            </a:r>
            <a:endParaRPr/>
          </a:p>
          <a:p>
            <a:pPr indent="0" lvl="0" marL="0" rtl="0" algn="l">
              <a:lnSpc>
                <a:spcPct val="100000"/>
              </a:lnSpc>
              <a:spcBef>
                <a:spcPts val="1000"/>
              </a:spcBef>
              <a:spcAft>
                <a:spcPts val="0"/>
              </a:spcAft>
              <a:buSzPts val="2000"/>
              <a:buNone/>
            </a:pPr>
            <a:r>
              <a:rPr b="1" lang="en-US"/>
              <a:t>False Negative (FN)</a:t>
            </a:r>
            <a:r>
              <a:rPr lang="en-US"/>
              <a:t>: Observation or TrackTLE does not belong to a Candidate Orbit but does belong to the Reference Orbit </a:t>
            </a:r>
            <a:endParaRPr/>
          </a:p>
        </p:txBody>
      </p:sp>
      <p:sp>
        <p:nvSpPr>
          <p:cNvPr id="389" name="Google Shape;389;g3713263bbdd_1_21"/>
          <p:cNvSpPr txBox="1"/>
          <p:nvPr>
            <p:ph idx="2" type="body"/>
          </p:nvPr>
        </p:nvSpPr>
        <p:spPr>
          <a:xfrm>
            <a:off x="6913001" y="6621077"/>
            <a:ext cx="4272300" cy="1740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pic>
        <p:nvPicPr>
          <p:cNvPr id="390" name="Google Shape;390;g3713263bbdd_1_21" title="binary.jpg"/>
          <p:cNvPicPr preferRelativeResize="0"/>
          <p:nvPr/>
        </p:nvPicPr>
        <p:blipFill rotWithShape="1">
          <a:blip r:embed="rId3">
            <a:alphaModFix/>
          </a:blip>
          <a:srcRect b="0" l="0" r="0" t="0"/>
          <a:stretch/>
        </p:blipFill>
        <p:spPr>
          <a:xfrm>
            <a:off x="6023125" y="1082400"/>
            <a:ext cx="5330673" cy="5083301"/>
          </a:xfrm>
          <a:prstGeom prst="rect">
            <a:avLst/>
          </a:prstGeom>
          <a:noFill/>
          <a:ln>
            <a:noFill/>
          </a:ln>
        </p:spPr>
      </p:pic>
      <p:sp>
        <p:nvSpPr>
          <p:cNvPr id="391" name="Google Shape;391;g3713263bbdd_1_21"/>
          <p:cNvSpPr txBox="1"/>
          <p:nvPr/>
        </p:nvSpPr>
        <p:spPr>
          <a:xfrm>
            <a:off x="1978750" y="6165700"/>
            <a:ext cx="94413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Retrieved from: https://medium.com/data-science/the-explanation-you-need-on-binary-classification-metrics-321d280b590f  (July 2025)</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g3710947e9cf_1_221"/>
          <p:cNvSpPr txBox="1"/>
          <p:nvPr>
            <p:ph type="title"/>
          </p:nvPr>
        </p:nvSpPr>
        <p:spPr>
          <a:xfrm>
            <a:off x="838200" y="460564"/>
            <a:ext cx="10515600" cy="605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Final PDF Report</a:t>
            </a:r>
            <a:endParaRPr/>
          </a:p>
        </p:txBody>
      </p:sp>
      <p:sp>
        <p:nvSpPr>
          <p:cNvPr id="398" name="Google Shape;398;g3710947e9cf_1_221"/>
          <p:cNvSpPr txBox="1"/>
          <p:nvPr>
            <p:ph idx="1" type="body"/>
          </p:nvPr>
        </p:nvSpPr>
        <p:spPr>
          <a:xfrm>
            <a:off x="838200" y="1335418"/>
            <a:ext cx="5215500" cy="45663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1000"/>
              </a:spcBef>
              <a:spcAft>
                <a:spcPts val="0"/>
              </a:spcAft>
              <a:buSzPts val="2000"/>
              <a:buChar char="•"/>
            </a:pPr>
            <a:r>
              <a:rPr lang="en-US"/>
              <a:t>All Relevant Scoring is visualized in final PDF report</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Dataset Code on top allows UCTP to easily identification</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2 Versions of final PDF report: State Metrics &amp; TLE </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Capable of automatically growing in size to accommodate larger Datasets</a:t>
            </a:r>
            <a:endParaRPr/>
          </a:p>
        </p:txBody>
      </p:sp>
      <p:pic>
        <p:nvPicPr>
          <p:cNvPr id="399" name="Google Shape;399;g3710947e9cf_1_221" title="report_example.jpg"/>
          <p:cNvPicPr preferRelativeResize="0"/>
          <p:nvPr>
            <p:ph idx="2" type="pic"/>
          </p:nvPr>
        </p:nvPicPr>
        <p:blipFill rotWithShape="1">
          <a:blip r:embed="rId3">
            <a:alphaModFix/>
          </a:blip>
          <a:srcRect b="18559" l="0" r="0" t="0"/>
          <a:stretch/>
        </p:blipFill>
        <p:spPr>
          <a:xfrm>
            <a:off x="6138300" y="1335425"/>
            <a:ext cx="5215500" cy="4911483"/>
          </a:xfrm>
          <a:prstGeom prst="rect">
            <a:avLst/>
          </a:prstGeom>
          <a:solidFill>
            <a:schemeClr val="lt2"/>
          </a:solidFill>
          <a:ln cap="flat" cmpd="sng" w="9525">
            <a:solidFill>
              <a:srgbClr val="595A59"/>
            </a:solidFill>
            <a:prstDash val="solid"/>
            <a:round/>
            <a:headEnd len="sm" w="sm" type="none"/>
            <a:tailEnd len="sm" w="sm" type="none"/>
          </a:ln>
        </p:spPr>
      </p:pic>
      <p:sp>
        <p:nvSpPr>
          <p:cNvPr id="400" name="Google Shape;400;g3710947e9cf_1_221"/>
          <p:cNvSpPr txBox="1"/>
          <p:nvPr>
            <p:ph idx="3" type="body"/>
          </p:nvPr>
        </p:nvSpPr>
        <p:spPr>
          <a:xfrm>
            <a:off x="6854076" y="6621075"/>
            <a:ext cx="4331100" cy="1446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g36f91376560_1_7"/>
          <p:cNvSpPr txBox="1"/>
          <p:nvPr>
            <p:ph type="title"/>
          </p:nvPr>
        </p:nvSpPr>
        <p:spPr>
          <a:xfrm>
            <a:off x="838200" y="460564"/>
            <a:ext cx="10515600" cy="605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Test Case: Aerospace Corp. UCTP</a:t>
            </a:r>
            <a:endParaRPr/>
          </a:p>
        </p:txBody>
      </p:sp>
      <p:sp>
        <p:nvSpPr>
          <p:cNvPr id="407" name="Google Shape;407;g36f91376560_1_7"/>
          <p:cNvSpPr txBox="1"/>
          <p:nvPr>
            <p:ph idx="1" type="body"/>
          </p:nvPr>
        </p:nvSpPr>
        <p:spPr>
          <a:xfrm>
            <a:off x="838200" y="1335418"/>
            <a:ext cx="5215500" cy="45663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1000"/>
              </a:spcBef>
              <a:spcAft>
                <a:spcPts val="0"/>
              </a:spcAft>
              <a:buSzPts val="2000"/>
              <a:buChar char="•"/>
            </a:pPr>
            <a:r>
              <a:rPr lang="en-US"/>
              <a:t>Developed by Felix Hoots and Bob Morris</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Written in Fortran</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Takes in observations organized by tracks</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Industry Leading</a:t>
            </a:r>
            <a:endParaRPr/>
          </a:p>
        </p:txBody>
      </p:sp>
      <p:pic>
        <p:nvPicPr>
          <p:cNvPr id="408" name="Google Shape;408;g36f91376560_1_7" title="aerospacecorp.jpg"/>
          <p:cNvPicPr preferRelativeResize="0"/>
          <p:nvPr>
            <p:ph idx="2" type="pic"/>
          </p:nvPr>
        </p:nvPicPr>
        <p:blipFill rotWithShape="1">
          <a:blip r:embed="rId3">
            <a:alphaModFix/>
          </a:blip>
          <a:srcRect b="6822" l="0" r="0" t="6822"/>
          <a:stretch/>
        </p:blipFill>
        <p:spPr>
          <a:xfrm>
            <a:off x="6286500" y="1335425"/>
            <a:ext cx="5067300" cy="4376200"/>
          </a:xfrm>
          <a:prstGeom prst="rect">
            <a:avLst/>
          </a:prstGeom>
          <a:solidFill>
            <a:schemeClr val="lt2"/>
          </a:solidFill>
          <a:ln cap="flat" cmpd="sng" w="9525">
            <a:solidFill>
              <a:srgbClr val="595A59"/>
            </a:solidFill>
            <a:prstDash val="solid"/>
            <a:round/>
            <a:headEnd len="sm" w="sm" type="none"/>
            <a:tailEnd len="sm" w="sm" type="none"/>
          </a:ln>
        </p:spPr>
      </p:pic>
      <p:sp>
        <p:nvSpPr>
          <p:cNvPr id="409" name="Google Shape;409;g36f91376560_1_7"/>
          <p:cNvSpPr txBox="1"/>
          <p:nvPr>
            <p:ph idx="3" type="body"/>
          </p:nvPr>
        </p:nvSpPr>
        <p:spPr>
          <a:xfrm>
            <a:off x="6927851" y="6621075"/>
            <a:ext cx="4257300" cy="1449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sp>
        <p:nvSpPr>
          <p:cNvPr id="410" name="Google Shape;410;g36f91376560_1_7"/>
          <p:cNvSpPr txBox="1"/>
          <p:nvPr/>
        </p:nvSpPr>
        <p:spPr>
          <a:xfrm>
            <a:off x="7106675" y="5635900"/>
            <a:ext cx="38343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Retrieved from: https://aerospace.org/ (July 2025)</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g3710947e9cf_1_106"/>
          <p:cNvSpPr txBox="1"/>
          <p:nvPr>
            <p:ph type="title"/>
          </p:nvPr>
        </p:nvSpPr>
        <p:spPr>
          <a:xfrm>
            <a:off x="2342573" y="1903867"/>
            <a:ext cx="7494300" cy="2852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400"/>
              <a:buNone/>
            </a:pPr>
            <a:r>
              <a:rPr lang="en-US"/>
              <a:t>Challenges &amp; Future Work</a:t>
            </a:r>
            <a:endParaRPr/>
          </a:p>
        </p:txBody>
      </p:sp>
      <p:sp>
        <p:nvSpPr>
          <p:cNvPr id="417" name="Google Shape;417;g3710947e9cf_1_106"/>
          <p:cNvSpPr txBox="1"/>
          <p:nvPr>
            <p:ph idx="1" type="body"/>
          </p:nvPr>
        </p:nvSpPr>
        <p:spPr>
          <a:xfrm>
            <a:off x="7129026" y="6621077"/>
            <a:ext cx="4056000" cy="1740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t>“DISTRIBUTION C – Distribution authorized to U.S. Government Agencies and their contractors; Technical content. July 15, 2025.”</a:t>
            </a:r>
            <a:endParaRPr/>
          </a:p>
          <a:p>
            <a:pPr indent="0" lvl="0" marL="0" rtl="0" algn="r">
              <a:lnSpc>
                <a:spcPct val="90000"/>
              </a:lnSpc>
              <a:spcBef>
                <a:spcPts val="1000"/>
              </a:spcBef>
              <a:spcAft>
                <a:spcPts val="0"/>
              </a:spcAft>
              <a:buSzPts val="45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g3710947e9cf_1_208"/>
          <p:cNvSpPr txBox="1"/>
          <p:nvPr>
            <p:ph type="title"/>
          </p:nvPr>
        </p:nvSpPr>
        <p:spPr>
          <a:xfrm>
            <a:off x="838200" y="446720"/>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Room for Improvement</a:t>
            </a:r>
            <a:endParaRPr/>
          </a:p>
        </p:txBody>
      </p:sp>
      <p:sp>
        <p:nvSpPr>
          <p:cNvPr id="424" name="Google Shape;424;g3710947e9cf_1_208"/>
          <p:cNvSpPr txBox="1"/>
          <p:nvPr>
            <p:ph idx="1" type="body"/>
          </p:nvPr>
        </p:nvSpPr>
        <p:spPr>
          <a:xfrm>
            <a:off x="838200" y="1335425"/>
            <a:ext cx="5590200" cy="5022300"/>
          </a:xfrm>
          <a:prstGeom prst="rect">
            <a:avLst/>
          </a:prstGeom>
          <a:noFill/>
          <a:ln>
            <a:noFill/>
          </a:ln>
        </p:spPr>
        <p:txBody>
          <a:bodyPr anchorCtr="0" anchor="t" bIns="45700" lIns="91425" spcFirstLastPara="1" rIns="91425" wrap="square" tIns="45700">
            <a:normAutofit lnSpcReduction="20000"/>
          </a:bodyPr>
          <a:lstStyle/>
          <a:p>
            <a:pPr indent="-355600" lvl="0" marL="457200" rtl="0" algn="l">
              <a:lnSpc>
                <a:spcPct val="100000"/>
              </a:lnSpc>
              <a:spcBef>
                <a:spcPts val="1000"/>
              </a:spcBef>
              <a:spcAft>
                <a:spcPts val="0"/>
              </a:spcAft>
              <a:buSzPts val="2000"/>
              <a:buChar char="•"/>
            </a:pPr>
            <a:r>
              <a:rPr lang="en-US"/>
              <a:t>TLE Generation is very computationally expensive and must be run with every new dataset</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Develop physically accurate noise for data simulation</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Final PDF Report needs to be expanded to include more Graphs to better illustrate results </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Need more testing with real UCTPs to calibrate scoring and datasets</a:t>
            </a:r>
            <a:br>
              <a:rPr lang="en-US"/>
            </a:br>
            <a:endParaRPr/>
          </a:p>
          <a:p>
            <a:pPr indent="-355600" lvl="0" marL="457200" rtl="0" algn="l">
              <a:lnSpc>
                <a:spcPct val="100000"/>
              </a:lnSpc>
              <a:spcBef>
                <a:spcPts val="0"/>
              </a:spcBef>
              <a:spcAft>
                <a:spcPts val="0"/>
              </a:spcAft>
              <a:buSzPts val="2000"/>
              <a:buChar char="•"/>
            </a:pPr>
            <a:r>
              <a:rPr lang="en-US"/>
              <a:t>Expand beyond optical observations (requires clearance)</a:t>
            </a:r>
            <a:endParaRPr/>
          </a:p>
        </p:txBody>
      </p:sp>
      <p:sp>
        <p:nvSpPr>
          <p:cNvPr id="425" name="Google Shape;425;g3710947e9cf_1_208"/>
          <p:cNvSpPr txBox="1"/>
          <p:nvPr>
            <p:ph idx="2" type="body"/>
          </p:nvPr>
        </p:nvSpPr>
        <p:spPr>
          <a:xfrm>
            <a:off x="7099551" y="6621075"/>
            <a:ext cx="4085700" cy="1545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pic>
        <p:nvPicPr>
          <p:cNvPr id="426" name="Google Shape;426;g3710947e9cf_1_208"/>
          <p:cNvPicPr preferRelativeResize="0"/>
          <p:nvPr/>
        </p:nvPicPr>
        <p:blipFill rotWithShape="1">
          <a:blip r:embed="rId3">
            <a:alphaModFix/>
          </a:blip>
          <a:srcRect b="0" l="0" r="0" t="0"/>
          <a:stretch/>
        </p:blipFill>
        <p:spPr>
          <a:xfrm>
            <a:off x="6477900" y="1259225"/>
            <a:ext cx="4875900" cy="4875900"/>
          </a:xfrm>
          <a:prstGeom prst="rect">
            <a:avLst/>
          </a:prstGeom>
          <a:noFill/>
          <a:ln>
            <a:noFill/>
          </a:ln>
        </p:spPr>
      </p:pic>
      <p:sp>
        <p:nvSpPr>
          <p:cNvPr id="427" name="Google Shape;427;g3710947e9cf_1_208"/>
          <p:cNvSpPr txBox="1"/>
          <p:nvPr/>
        </p:nvSpPr>
        <p:spPr>
          <a:xfrm>
            <a:off x="2870275" y="5988425"/>
            <a:ext cx="8579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Retrieved from: https://professionalandtechnicalwriting.wordpress.com/2020/02/17/engineering-design-process/ (July 2025)</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g36f91376560_1_0"/>
          <p:cNvSpPr txBox="1"/>
          <p:nvPr>
            <p:ph type="title"/>
          </p:nvPr>
        </p:nvSpPr>
        <p:spPr>
          <a:xfrm>
            <a:off x="838200" y="446720"/>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Future Plans</a:t>
            </a:r>
            <a:endParaRPr/>
          </a:p>
        </p:txBody>
      </p:sp>
      <p:sp>
        <p:nvSpPr>
          <p:cNvPr id="434" name="Google Shape;434;g36f91376560_1_0"/>
          <p:cNvSpPr txBox="1"/>
          <p:nvPr>
            <p:ph idx="1" type="body"/>
          </p:nvPr>
        </p:nvSpPr>
        <p:spPr>
          <a:xfrm>
            <a:off x="838200" y="1335416"/>
            <a:ext cx="10515600" cy="5022300"/>
          </a:xfrm>
          <a:prstGeom prst="rect">
            <a:avLst/>
          </a:prstGeom>
          <a:noFill/>
          <a:ln>
            <a:noFill/>
          </a:ln>
        </p:spPr>
        <p:txBody>
          <a:bodyPr anchorCtr="0" anchor="t" bIns="45700" lIns="91425" spcFirstLastPara="1" rIns="91425" wrap="square" tIns="45700">
            <a:normAutofit lnSpcReduction="10000"/>
          </a:bodyPr>
          <a:lstStyle/>
          <a:p>
            <a:pPr indent="-355600" lvl="0" marL="457200" rtl="0" algn="l">
              <a:lnSpc>
                <a:spcPct val="100000"/>
              </a:lnSpc>
              <a:spcBef>
                <a:spcPts val="1000"/>
              </a:spcBef>
              <a:spcAft>
                <a:spcPts val="0"/>
              </a:spcAft>
              <a:buSzPts val="2000"/>
              <a:buChar char="•"/>
            </a:pPr>
            <a:r>
              <a:rPr lang="en-US"/>
              <a:t>Currently Documenting all processes for next cohort of Interns</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Implement Orbit events by coordinating with labelling team </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Implement object types of interest to SDA community</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Migrate code to run server side</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Integrate with Lawrence Livermore Front end UI</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Advertise UCTP benchmark in Academia &amp; Industry</a:t>
            </a:r>
            <a:endParaRPr/>
          </a:p>
          <a:p>
            <a:pPr indent="0" lvl="0" marL="0" rtl="0" algn="l">
              <a:lnSpc>
                <a:spcPct val="100000"/>
              </a:lnSpc>
              <a:spcBef>
                <a:spcPts val="1000"/>
              </a:spcBef>
              <a:spcAft>
                <a:spcPts val="0"/>
              </a:spcAft>
              <a:buSzPts val="2000"/>
              <a:buNone/>
            </a:pPr>
            <a:r>
              <a:t/>
            </a:r>
            <a:endParaRPr/>
          </a:p>
        </p:txBody>
      </p:sp>
      <p:sp>
        <p:nvSpPr>
          <p:cNvPr id="435" name="Google Shape;435;g36f91376560_1_0"/>
          <p:cNvSpPr txBox="1"/>
          <p:nvPr>
            <p:ph idx="2" type="body"/>
          </p:nvPr>
        </p:nvSpPr>
        <p:spPr>
          <a:xfrm>
            <a:off x="7108826" y="6621073"/>
            <a:ext cx="4076400" cy="1257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g371d208b708_0_8"/>
          <p:cNvSpPr txBox="1"/>
          <p:nvPr>
            <p:ph type="title"/>
          </p:nvPr>
        </p:nvSpPr>
        <p:spPr>
          <a:xfrm>
            <a:off x="838200" y="446720"/>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UCT Processing and OpenEvolve</a:t>
            </a:r>
            <a:endParaRPr/>
          </a:p>
        </p:txBody>
      </p:sp>
      <p:sp>
        <p:nvSpPr>
          <p:cNvPr id="442" name="Google Shape;442;g371d208b708_0_8"/>
          <p:cNvSpPr txBox="1"/>
          <p:nvPr>
            <p:ph idx="1" type="body"/>
          </p:nvPr>
        </p:nvSpPr>
        <p:spPr>
          <a:xfrm>
            <a:off x="838200" y="6022692"/>
            <a:ext cx="10515600" cy="411300"/>
          </a:xfrm>
          <a:prstGeom prst="rect">
            <a:avLst/>
          </a:prstGeom>
          <a:noFill/>
          <a:ln>
            <a:noFill/>
          </a:ln>
        </p:spPr>
        <p:txBody>
          <a:bodyPr anchorCtr="0" anchor="t" bIns="45700" lIns="91425" spcFirstLastPara="1" rIns="91425" wrap="square" tIns="45700">
            <a:normAutofit fontScale="62500"/>
          </a:bodyPr>
          <a:lstStyle/>
          <a:p>
            <a:pPr indent="0" lvl="0" marL="0" rtl="0" algn="l">
              <a:lnSpc>
                <a:spcPct val="100000"/>
              </a:lnSpc>
              <a:spcBef>
                <a:spcPts val="1000"/>
              </a:spcBef>
              <a:spcAft>
                <a:spcPts val="0"/>
              </a:spcAft>
              <a:buSzPct val="160000"/>
              <a:buNone/>
            </a:pPr>
            <a:r>
              <a:rPr lang="en-US"/>
              <a:t>Retrieved from: https://deepmind.google/discover/blog/alphaevolve-a-gemini-powered-coding-agent-for-designing-advanced-algorithms/</a:t>
            </a:r>
            <a:endParaRPr/>
          </a:p>
        </p:txBody>
      </p:sp>
      <p:sp>
        <p:nvSpPr>
          <p:cNvPr id="443" name="Google Shape;443;g371d208b708_0_8"/>
          <p:cNvSpPr txBox="1"/>
          <p:nvPr>
            <p:ph idx="2" type="body"/>
          </p:nvPr>
        </p:nvSpPr>
        <p:spPr>
          <a:xfrm>
            <a:off x="7108826" y="6621073"/>
            <a:ext cx="4076400" cy="1257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SzPts val="450"/>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pic>
        <p:nvPicPr>
          <p:cNvPr id="444" name="Google Shape;444;g371d208b708_0_8"/>
          <p:cNvPicPr preferRelativeResize="0"/>
          <p:nvPr/>
        </p:nvPicPr>
        <p:blipFill rotWithShape="1">
          <a:blip r:embed="rId3">
            <a:alphaModFix/>
          </a:blip>
          <a:srcRect b="0" l="0" r="0" t="0"/>
          <a:stretch/>
        </p:blipFill>
        <p:spPr>
          <a:xfrm>
            <a:off x="1563326" y="1008025"/>
            <a:ext cx="9217759" cy="50223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g3710947e9cf_0_53"/>
          <p:cNvSpPr txBox="1"/>
          <p:nvPr>
            <p:ph type="title"/>
          </p:nvPr>
        </p:nvSpPr>
        <p:spPr>
          <a:xfrm>
            <a:off x="838200" y="446720"/>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References</a:t>
            </a:r>
            <a:endParaRPr/>
          </a:p>
        </p:txBody>
      </p:sp>
      <p:sp>
        <p:nvSpPr>
          <p:cNvPr id="451" name="Google Shape;451;g3710947e9cf_0_53"/>
          <p:cNvSpPr txBox="1"/>
          <p:nvPr>
            <p:ph idx="1" type="body"/>
          </p:nvPr>
        </p:nvSpPr>
        <p:spPr>
          <a:xfrm>
            <a:off x="838200" y="1335425"/>
            <a:ext cx="11131800" cy="5022300"/>
          </a:xfrm>
          <a:prstGeom prst="rect">
            <a:avLst/>
          </a:prstGeom>
          <a:noFill/>
          <a:ln>
            <a:noFill/>
          </a:ln>
        </p:spPr>
        <p:txBody>
          <a:bodyPr anchorCtr="0" anchor="t" bIns="45700" lIns="91425" spcFirstLastPara="1" rIns="91425" wrap="square" tIns="45700">
            <a:normAutofit/>
          </a:bodyPr>
          <a:lstStyle/>
          <a:p>
            <a:pPr indent="0" lvl="0" marL="457200" rtl="0" algn="l">
              <a:lnSpc>
                <a:spcPct val="100000"/>
              </a:lnSpc>
              <a:spcBef>
                <a:spcPts val="1000"/>
              </a:spcBef>
              <a:spcAft>
                <a:spcPts val="0"/>
              </a:spcAft>
              <a:buSzPts val="2000"/>
              <a:buNone/>
            </a:pPr>
            <a:r>
              <a:rPr lang="en-US"/>
              <a:t>[1] Donaho, D. </a:t>
            </a:r>
            <a:r>
              <a:rPr i="1" lang="en-US"/>
              <a:t>50 Years of Data Science</a:t>
            </a:r>
            <a:r>
              <a:rPr lang="en-US"/>
              <a:t>. September 2015</a:t>
            </a:r>
            <a:endParaRPr/>
          </a:p>
          <a:p>
            <a:pPr indent="0" lvl="0" marL="457200" rtl="0" algn="l">
              <a:lnSpc>
                <a:spcPct val="100000"/>
              </a:lnSpc>
              <a:spcBef>
                <a:spcPts val="1000"/>
              </a:spcBef>
              <a:spcAft>
                <a:spcPts val="0"/>
              </a:spcAft>
              <a:buSzPts val="2000"/>
              <a:buNone/>
            </a:pPr>
            <a:r>
              <a:t/>
            </a:r>
            <a:endParaRPr/>
          </a:p>
          <a:p>
            <a:pPr indent="0" lvl="0" marL="457200" rtl="0" algn="l">
              <a:lnSpc>
                <a:spcPct val="100000"/>
              </a:lnSpc>
              <a:spcBef>
                <a:spcPts val="1000"/>
              </a:spcBef>
              <a:spcAft>
                <a:spcPts val="0"/>
              </a:spcAft>
              <a:buSzPts val="2000"/>
              <a:buNone/>
            </a:pPr>
            <a:r>
              <a:rPr lang="en-US"/>
              <a:t>[2] D. A. Vallado, </a:t>
            </a:r>
            <a:r>
              <a:rPr i="1" lang="en-US"/>
              <a:t>Fundamentals of Astrodynamics and Applications</a:t>
            </a:r>
            <a:r>
              <a:rPr lang="en-US"/>
              <a:t>. Hawthorne, CA. Microcosm Press, 2013 </a:t>
            </a:r>
            <a:endParaRPr/>
          </a:p>
          <a:p>
            <a:pPr indent="0" lvl="0" marL="457200" rtl="0" algn="l">
              <a:lnSpc>
                <a:spcPct val="100000"/>
              </a:lnSpc>
              <a:spcBef>
                <a:spcPts val="1000"/>
              </a:spcBef>
              <a:spcAft>
                <a:spcPts val="0"/>
              </a:spcAft>
              <a:buSzPts val="2000"/>
              <a:buNone/>
            </a:pPr>
            <a:r>
              <a:t/>
            </a:r>
            <a:endParaRPr/>
          </a:p>
          <a:p>
            <a:pPr indent="0" lvl="0" marL="457200" rtl="0" algn="l">
              <a:lnSpc>
                <a:spcPct val="115000"/>
              </a:lnSpc>
              <a:spcBef>
                <a:spcPts val="1200"/>
              </a:spcBef>
              <a:spcAft>
                <a:spcPts val="0"/>
              </a:spcAft>
              <a:buClr>
                <a:schemeClr val="dk1"/>
              </a:buClr>
              <a:buSzPts val="1100"/>
              <a:buFont typeface="Arial"/>
              <a:buNone/>
            </a:pPr>
            <a:r>
              <a:rPr lang="en-US"/>
              <a:t>[3] SDA Tap Lab, “The need to benchmark uncorrelated track (UCT) processing,” LinkedIn, https://www.linkedin.com/pulse/need-benchmark-uncorrelated-track-uct-processing-sdataplab-nnkvc/ (accessed Jul. 24, 2025).</a:t>
            </a:r>
            <a:endParaRPr/>
          </a:p>
          <a:p>
            <a:pPr indent="0" lvl="0" marL="457200" rtl="0" algn="l">
              <a:lnSpc>
                <a:spcPct val="100000"/>
              </a:lnSpc>
              <a:spcBef>
                <a:spcPts val="1200"/>
              </a:spcBef>
              <a:spcAft>
                <a:spcPts val="0"/>
              </a:spcAft>
              <a:buSzPts val="2000"/>
              <a:buNone/>
            </a:pPr>
            <a:r>
              <a:t/>
            </a:r>
            <a:endParaRPr/>
          </a:p>
          <a:p>
            <a:pPr indent="0" lvl="0" marL="457200" rtl="0" algn="l">
              <a:lnSpc>
                <a:spcPct val="100000"/>
              </a:lnSpc>
              <a:spcBef>
                <a:spcPts val="1000"/>
              </a:spcBef>
              <a:spcAft>
                <a:spcPts val="0"/>
              </a:spcAft>
              <a:buSzPts val="2000"/>
              <a:buNone/>
            </a:pPr>
            <a:r>
              <a:t/>
            </a:r>
            <a:endParaRPr/>
          </a:p>
        </p:txBody>
      </p:sp>
      <p:sp>
        <p:nvSpPr>
          <p:cNvPr id="452" name="Google Shape;452;g3710947e9cf_0_53"/>
          <p:cNvSpPr txBox="1"/>
          <p:nvPr>
            <p:ph idx="2" type="body"/>
          </p:nvPr>
        </p:nvSpPr>
        <p:spPr>
          <a:xfrm>
            <a:off x="6981726" y="6621076"/>
            <a:ext cx="4203300" cy="1641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g3710947e9cf_0_47"/>
          <p:cNvSpPr txBox="1"/>
          <p:nvPr>
            <p:ph type="title"/>
          </p:nvPr>
        </p:nvSpPr>
        <p:spPr>
          <a:xfrm>
            <a:off x="2342573" y="1903867"/>
            <a:ext cx="7494300" cy="2852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400"/>
              <a:buNone/>
            </a:pPr>
            <a:r>
              <a:rPr lang="en-US"/>
              <a:t>Thank you for Listening</a:t>
            </a:r>
            <a:endParaRPr/>
          </a:p>
        </p:txBody>
      </p:sp>
      <p:sp>
        <p:nvSpPr>
          <p:cNvPr id="459" name="Google Shape;459;g3710947e9cf_0_47"/>
          <p:cNvSpPr txBox="1"/>
          <p:nvPr>
            <p:ph idx="1" type="body"/>
          </p:nvPr>
        </p:nvSpPr>
        <p:spPr>
          <a:xfrm>
            <a:off x="7246851" y="6621075"/>
            <a:ext cx="3938400" cy="1503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t>“DISTRIBUTION C – Distribution authorized to U.S. Government Agencies and their contractors; Technical content. July 15, 2025.”</a:t>
            </a:r>
            <a:endParaRPr/>
          </a:p>
          <a:p>
            <a:pPr indent="0" lvl="0" marL="0" rtl="0" algn="r">
              <a:lnSpc>
                <a:spcPct val="90000"/>
              </a:lnSpc>
              <a:spcBef>
                <a:spcPts val="1000"/>
              </a:spcBef>
              <a:spcAft>
                <a:spcPts val="0"/>
              </a:spcAft>
              <a:buSzPts val="450"/>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g373e5a908b0_1_0"/>
          <p:cNvSpPr txBox="1"/>
          <p:nvPr>
            <p:ph type="title"/>
          </p:nvPr>
        </p:nvSpPr>
        <p:spPr>
          <a:xfrm>
            <a:off x="838200" y="446720"/>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 Space Event Data Labeling</a:t>
            </a:r>
            <a:endParaRPr/>
          </a:p>
        </p:txBody>
      </p:sp>
      <p:sp>
        <p:nvSpPr>
          <p:cNvPr id="466" name="Google Shape;466;g373e5a908b0_1_0"/>
          <p:cNvSpPr txBox="1"/>
          <p:nvPr>
            <p:ph idx="1" type="body"/>
          </p:nvPr>
        </p:nvSpPr>
        <p:spPr>
          <a:xfrm>
            <a:off x="838200" y="1335425"/>
            <a:ext cx="11131800" cy="5022300"/>
          </a:xfrm>
          <a:prstGeom prst="rect">
            <a:avLst/>
          </a:prstGeom>
          <a:noFill/>
          <a:ln>
            <a:noFill/>
          </a:ln>
        </p:spPr>
        <p:txBody>
          <a:bodyPr anchorCtr="0" anchor="t" bIns="45700" lIns="91425" spcFirstLastPara="1" rIns="91425" wrap="square" tIns="45700">
            <a:normAutofit/>
          </a:bodyPr>
          <a:lstStyle/>
          <a:p>
            <a:pPr indent="-355600" lvl="0" marL="457200" rtl="0" algn="l">
              <a:lnSpc>
                <a:spcPct val="150000"/>
              </a:lnSpc>
              <a:spcBef>
                <a:spcPts val="1000"/>
              </a:spcBef>
              <a:spcAft>
                <a:spcPts val="0"/>
              </a:spcAft>
              <a:buSzPts val="2000"/>
              <a:buChar char="•"/>
            </a:pPr>
            <a:r>
              <a:rPr b="1" lang="en-US"/>
              <a:t>Ground truth is essential</a:t>
            </a:r>
            <a:r>
              <a:rPr lang="en-US"/>
              <a:t> for reliable algorithms and machine learning operations that look to characterize space events</a:t>
            </a:r>
            <a:endParaRPr/>
          </a:p>
          <a:p>
            <a:pPr indent="-355600" lvl="0" marL="457200" rtl="0" algn="l">
              <a:lnSpc>
                <a:spcPct val="150000"/>
              </a:lnSpc>
              <a:spcBef>
                <a:spcPts val="0"/>
              </a:spcBef>
              <a:spcAft>
                <a:spcPts val="0"/>
              </a:spcAft>
              <a:buSzPts val="2000"/>
              <a:buChar char="•"/>
            </a:pPr>
            <a:r>
              <a:rPr b="1" lang="en-US"/>
              <a:t>NOTSO notifications</a:t>
            </a:r>
            <a:r>
              <a:rPr lang="en-US"/>
              <a:t> (Notice to Space Operators) assist us building standardized datasets to assist in this endeavor</a:t>
            </a:r>
            <a:endParaRPr/>
          </a:p>
          <a:p>
            <a:pPr indent="-355600" lvl="0" marL="457200" rtl="0" algn="l">
              <a:lnSpc>
                <a:spcPct val="150000"/>
              </a:lnSpc>
              <a:spcBef>
                <a:spcPts val="0"/>
              </a:spcBef>
              <a:spcAft>
                <a:spcPts val="0"/>
              </a:spcAft>
              <a:buSzPts val="2000"/>
              <a:buChar char="•"/>
            </a:pPr>
            <a:r>
              <a:rPr b="1" lang="en-US"/>
              <a:t>Our pipeline</a:t>
            </a:r>
            <a:r>
              <a:rPr lang="en-US"/>
              <a:t> to takes these text-heavy, human-entered events and provides a space event label and builds time event window to gather observation data that is associated with the event</a:t>
            </a:r>
            <a:endParaRPr/>
          </a:p>
          <a:p>
            <a:pPr indent="-355600" lvl="0" marL="457200" rtl="0" algn="l">
              <a:lnSpc>
                <a:spcPct val="150000"/>
              </a:lnSpc>
              <a:spcBef>
                <a:spcPts val="0"/>
              </a:spcBef>
              <a:spcAft>
                <a:spcPts val="0"/>
              </a:spcAft>
              <a:buSzPts val="2000"/>
              <a:buChar char="•"/>
            </a:pPr>
            <a:r>
              <a:rPr b="1" lang="en-US"/>
              <a:t>Future engineers</a:t>
            </a:r>
            <a:r>
              <a:rPr lang="en-US"/>
              <a:t> will use this packaged data to train algorithms to classify, detect,  and characterize events in space </a:t>
            </a:r>
            <a:endParaRPr/>
          </a:p>
        </p:txBody>
      </p:sp>
      <p:sp>
        <p:nvSpPr>
          <p:cNvPr id="467" name="Google Shape;467;g373e5a908b0_1_0"/>
          <p:cNvSpPr txBox="1"/>
          <p:nvPr>
            <p:ph idx="2" type="body"/>
          </p:nvPr>
        </p:nvSpPr>
        <p:spPr>
          <a:xfrm>
            <a:off x="6981726" y="6621076"/>
            <a:ext cx="4203300" cy="1641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1100"/>
              <a:buFont typeface="Arial"/>
              <a:buNone/>
            </a:pPr>
            <a:r>
              <a:rPr lang="en-US">
                <a:solidFill>
                  <a:schemeClr val="accent1"/>
                </a:solidFill>
              </a:rPr>
              <a:t>“DISTRIBUTION C – Distribution authorized to U.S. Government Agencies and their contractors; Technical content. July 15, 2025.”</a:t>
            </a:r>
            <a:endParaRPr>
              <a:solidFill>
                <a:schemeClr val="accent1"/>
              </a:solidFill>
            </a:endParaRPr>
          </a:p>
          <a:p>
            <a:pPr indent="0" lvl="0" marL="0" rtl="0" algn="r">
              <a:lnSpc>
                <a:spcPct val="90000"/>
              </a:lnSpc>
              <a:spcBef>
                <a:spcPts val="1000"/>
              </a:spcBef>
              <a:spcAft>
                <a:spcPts val="0"/>
              </a:spcAft>
              <a:buSzPts val="45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AFRL">
      <a:dk1>
        <a:srgbClr val="000000"/>
      </a:dk1>
      <a:lt1>
        <a:srgbClr val="FFFFFF"/>
      </a:lt1>
      <a:dk2>
        <a:srgbClr val="44546A"/>
      </a:dk2>
      <a:lt2>
        <a:srgbClr val="E7E6E6"/>
      </a:lt2>
      <a:accent1>
        <a:srgbClr val="0D4D8C"/>
      </a:accent1>
      <a:accent2>
        <a:srgbClr val="FBCE20"/>
      </a:accent2>
      <a:accent3>
        <a:srgbClr val="00BCE4"/>
      </a:accent3>
      <a:accent4>
        <a:srgbClr val="B3282D"/>
      </a:accent4>
      <a:accent5>
        <a:srgbClr val="CBCCCB"/>
      </a:accent5>
      <a:accent6>
        <a:srgbClr val="595A5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2017-10-16T15:07:30Z</dcterms:created>
  <dc:creator>Microsoft Office User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0x010100239CC02B59828E4093440207BFE40CE1</vt:lpwstr>
  </property>
  <property fmtid="{D5CDD505-2E9C-101B-9397-08002B2CF9AE}" pid="3" name="_dlc_DocIdItemGuid">
    <vt:lpwstr>c0f58408-ee27-4ef0-9855-52d4db6e990f</vt:lpwstr>
  </property>
  <property fmtid="{D5CDD505-2E9C-101B-9397-08002B2CF9AE}" pid="4" name="MediaServiceImageTags">
    <vt:lpwstr/>
  </property>
  <property fmtid="{D5CDD505-2E9C-101B-9397-08002B2CF9AE}" pid="5" name="Order">
    <vt:r8>1000.0</vt:r8>
  </property>
  <property fmtid="{D5CDD505-2E9C-101B-9397-08002B2CF9AE}" pid="6" name="xd_Signature">
    <vt:bool>false</vt:bool>
  </property>
  <property fmtid="{D5CDD505-2E9C-101B-9397-08002B2CF9AE}" pid="7" name="xd_ProgID">
    <vt:lpwstr/>
  </property>
  <property fmtid="{D5CDD505-2E9C-101B-9397-08002B2CF9AE}" pid="8" name="_ExtendedDescription">
    <vt:lpwstr/>
  </property>
  <property fmtid="{D5CDD505-2E9C-101B-9397-08002B2CF9AE}" pid="9" name="TriggerFlowInfo">
    <vt:lpwstr/>
  </property>
  <property fmtid="{D5CDD505-2E9C-101B-9397-08002B2CF9AE}" pid="10" name="ComplianceAssetId">
    <vt:lpwstr/>
  </property>
  <property fmtid="{D5CDD505-2E9C-101B-9397-08002B2CF9AE}" pid="11" name="TemplateUrl">
    <vt:lpwstr/>
  </property>
  <property fmtid="{D5CDD505-2E9C-101B-9397-08002B2CF9AE}" pid="12" name="_SharedFileIndex">
    <vt:lpwstr/>
  </property>
  <property fmtid="{D5CDD505-2E9C-101B-9397-08002B2CF9AE}" pid="13" name="_SourceUrl">
    <vt:lpwstr/>
  </property>
</Properties>
</file>