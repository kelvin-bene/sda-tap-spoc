
<file path=[Content_Types].xml><?xml version="1.0" encoding="utf-8"?>
<Types xmlns="http://schemas.openxmlformats.org/package/2006/content-types"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6b1a9063c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6b1a9063c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63578ada6f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" name="Google Shape;77;g363578ada6f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1717500" y="270000"/>
            <a:ext cx="5482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H 50 GEO NE OP S S S S 03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 txBox="1"/>
          <p:nvPr/>
        </p:nvSpPr>
        <p:spPr>
          <a:xfrm>
            <a:off x="409475" y="1058250"/>
            <a:ext cx="10200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Target Object Type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56" name="Google Shape;56;p13"/>
          <p:cNvCxnSpPr/>
          <p:nvPr/>
        </p:nvCxnSpPr>
        <p:spPr>
          <a:xfrm flipH="1" rot="10800000">
            <a:off x="1101050" y="761300"/>
            <a:ext cx="826800" cy="3495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7" name="Google Shape;57;p13"/>
          <p:cNvSpPr txBox="1"/>
          <p:nvPr/>
        </p:nvSpPr>
        <p:spPr>
          <a:xfrm>
            <a:off x="1353000" y="1058250"/>
            <a:ext cx="102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Target Object Percent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58" name="Google Shape;58;p13"/>
          <p:cNvCxnSpPr/>
          <p:nvPr/>
        </p:nvCxnSpPr>
        <p:spPr>
          <a:xfrm flipH="1" rot="10800000">
            <a:off x="2021225" y="783050"/>
            <a:ext cx="318600" cy="3180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13"/>
          <p:cNvSpPr txBox="1"/>
          <p:nvPr/>
        </p:nvSpPr>
        <p:spPr>
          <a:xfrm>
            <a:off x="2263288" y="1058250"/>
            <a:ext cx="830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Orbital Regime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0" name="Google Shape;60;p13"/>
          <p:cNvCxnSpPr/>
          <p:nvPr/>
        </p:nvCxnSpPr>
        <p:spPr>
          <a:xfrm flipH="1" rot="10800000">
            <a:off x="2807700" y="786450"/>
            <a:ext cx="173100" cy="36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1" name="Google Shape;61;p13"/>
          <p:cNvSpPr txBox="1"/>
          <p:nvPr/>
        </p:nvSpPr>
        <p:spPr>
          <a:xfrm>
            <a:off x="3046263" y="1087950"/>
            <a:ext cx="5877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Event Type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2" name="Google Shape;62;p13"/>
          <p:cNvCxnSpPr/>
          <p:nvPr/>
        </p:nvCxnSpPr>
        <p:spPr>
          <a:xfrm flipH="1" rot="10800000">
            <a:off x="3499775" y="790750"/>
            <a:ext cx="213300" cy="3339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3" name="Google Shape;63;p13"/>
          <p:cNvCxnSpPr/>
          <p:nvPr/>
        </p:nvCxnSpPr>
        <p:spPr>
          <a:xfrm flipH="1">
            <a:off x="4191750" y="734250"/>
            <a:ext cx="147900" cy="42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4" name="Google Shape;64;p13"/>
          <p:cNvSpPr txBox="1"/>
          <p:nvPr/>
        </p:nvSpPr>
        <p:spPr>
          <a:xfrm>
            <a:off x="3657575" y="1087950"/>
            <a:ext cx="716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Sensor Type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65" name="Google Shape;65;p13"/>
          <p:cNvSpPr txBox="1"/>
          <p:nvPr/>
        </p:nvSpPr>
        <p:spPr>
          <a:xfrm>
            <a:off x="4201350" y="1103325"/>
            <a:ext cx="10200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Orbital Coverage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6" name="Google Shape;66;p13"/>
          <p:cNvCxnSpPr/>
          <p:nvPr/>
        </p:nvCxnSpPr>
        <p:spPr>
          <a:xfrm flipH="1">
            <a:off x="4797600" y="756600"/>
            <a:ext cx="76500" cy="431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" name="Google Shape;67;p13"/>
          <p:cNvSpPr txBox="1"/>
          <p:nvPr/>
        </p:nvSpPr>
        <p:spPr>
          <a:xfrm>
            <a:off x="4953600" y="1103325"/>
            <a:ext cx="716100" cy="51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Track Gap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68" name="Google Shape;68;p13"/>
          <p:cNvCxnSpPr/>
          <p:nvPr/>
        </p:nvCxnSpPr>
        <p:spPr>
          <a:xfrm>
            <a:off x="5245750" y="731425"/>
            <a:ext cx="84000" cy="44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9" name="Google Shape;69;p13"/>
          <p:cNvSpPr txBox="1"/>
          <p:nvPr/>
        </p:nvSpPr>
        <p:spPr>
          <a:xfrm>
            <a:off x="5467400" y="1111500"/>
            <a:ext cx="11076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Observation Count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70" name="Google Shape;70;p13"/>
          <p:cNvCxnSpPr/>
          <p:nvPr/>
        </p:nvCxnSpPr>
        <p:spPr>
          <a:xfrm>
            <a:off x="5623250" y="755000"/>
            <a:ext cx="188700" cy="3774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13"/>
          <p:cNvSpPr txBox="1"/>
          <p:nvPr/>
        </p:nvSpPr>
        <p:spPr>
          <a:xfrm>
            <a:off x="6425900" y="1111500"/>
            <a:ext cx="716100" cy="4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Object Count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72" name="Google Shape;72;p13"/>
          <p:cNvCxnSpPr/>
          <p:nvPr/>
        </p:nvCxnSpPr>
        <p:spPr>
          <a:xfrm>
            <a:off x="5959025" y="739950"/>
            <a:ext cx="629700" cy="39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3" name="Google Shape;73;p13"/>
          <p:cNvSpPr txBox="1"/>
          <p:nvPr/>
        </p:nvSpPr>
        <p:spPr>
          <a:xfrm>
            <a:off x="7101925" y="1134450"/>
            <a:ext cx="675000" cy="29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Fitspan</a:t>
            </a:r>
            <a:endParaRPr sz="1100">
              <a:solidFill>
                <a:schemeClr val="dk1"/>
              </a:solidFill>
            </a:endParaRPr>
          </a:p>
        </p:txBody>
      </p:sp>
      <p:cxnSp>
        <p:nvCxnSpPr>
          <p:cNvPr id="74" name="Google Shape;74;p13"/>
          <p:cNvCxnSpPr/>
          <p:nvPr/>
        </p:nvCxnSpPr>
        <p:spPr>
          <a:xfrm>
            <a:off x="6423625" y="734250"/>
            <a:ext cx="826500" cy="462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/>
        </p:nvSpPr>
        <p:spPr>
          <a:xfrm>
            <a:off x="1717500" y="270000"/>
            <a:ext cx="5482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>
                <a:solidFill>
                  <a:schemeClr val="dk1"/>
                </a:solidFill>
              </a:rPr>
              <a:t>H 50 GEO NE OP S S S S 03</a:t>
            </a:r>
            <a:endParaRPr sz="2800">
              <a:solidFill>
                <a:schemeClr val="dk1"/>
              </a:solidFill>
            </a:endParaRPr>
          </a:p>
        </p:txBody>
      </p:sp>
      <p:sp>
        <p:nvSpPr>
          <p:cNvPr id="80" name="Google Shape;80;p14"/>
          <p:cNvSpPr txBox="1"/>
          <p:nvPr/>
        </p:nvSpPr>
        <p:spPr>
          <a:xfrm>
            <a:off x="318900" y="1223700"/>
            <a:ext cx="1570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Target Object Type</a:t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700">
              <a:solidFill>
                <a:schemeClr val="dk1"/>
              </a:solidFill>
            </a:endParaRPr>
          </a:p>
        </p:txBody>
      </p:sp>
      <p:cxnSp>
        <p:nvCxnSpPr>
          <p:cNvPr id="81" name="Google Shape;81;p14"/>
          <p:cNvCxnSpPr>
            <a:stCxn id="80" idx="0"/>
          </p:cNvCxnSpPr>
          <p:nvPr/>
        </p:nvCxnSpPr>
        <p:spPr>
          <a:xfrm flipH="1" rot="10800000">
            <a:off x="1104000" y="805500"/>
            <a:ext cx="724800" cy="418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2" name="Google Shape;82;p14"/>
          <p:cNvSpPr txBox="1"/>
          <p:nvPr/>
        </p:nvSpPr>
        <p:spPr>
          <a:xfrm>
            <a:off x="865350" y="2752800"/>
            <a:ext cx="19659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Target Object Percent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83" name="Google Shape;83;p14"/>
          <p:cNvCxnSpPr>
            <a:stCxn id="82" idx="0"/>
          </p:cNvCxnSpPr>
          <p:nvPr/>
        </p:nvCxnSpPr>
        <p:spPr>
          <a:xfrm flipH="1" rot="10800000">
            <a:off x="1848300" y="783000"/>
            <a:ext cx="491700" cy="1969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4" name="Google Shape;84;p14"/>
          <p:cNvSpPr txBox="1"/>
          <p:nvPr/>
        </p:nvSpPr>
        <p:spPr>
          <a:xfrm>
            <a:off x="2147100" y="1453050"/>
            <a:ext cx="1398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Orbital </a:t>
            </a:r>
            <a:r>
              <a:rPr b="1" lang="en" sz="1100">
                <a:solidFill>
                  <a:schemeClr val="dk1"/>
                </a:solidFill>
              </a:rPr>
              <a:t>Regime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85" name="Google Shape;85;p14"/>
          <p:cNvCxnSpPr>
            <a:stCxn id="84" idx="0"/>
          </p:cNvCxnSpPr>
          <p:nvPr/>
        </p:nvCxnSpPr>
        <p:spPr>
          <a:xfrm flipH="1" rot="10800000">
            <a:off x="2846250" y="729450"/>
            <a:ext cx="229200" cy="723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6" name="Google Shape;86;p14"/>
          <p:cNvSpPr txBox="1"/>
          <p:nvPr/>
        </p:nvSpPr>
        <p:spPr>
          <a:xfrm>
            <a:off x="2772600" y="2659050"/>
            <a:ext cx="11832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Event Type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87" name="Google Shape;87;p14"/>
          <p:cNvCxnSpPr/>
          <p:nvPr/>
        </p:nvCxnSpPr>
        <p:spPr>
          <a:xfrm flipH="1" rot="10800000">
            <a:off x="3292425" y="765625"/>
            <a:ext cx="522000" cy="1891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88" name="Google Shape;88;p14"/>
          <p:cNvCxnSpPr/>
          <p:nvPr/>
        </p:nvCxnSpPr>
        <p:spPr>
          <a:xfrm flipH="1">
            <a:off x="4323700" y="773450"/>
            <a:ext cx="12000" cy="11142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89" name="Google Shape;89;p14"/>
          <p:cNvSpPr txBox="1"/>
          <p:nvPr/>
        </p:nvSpPr>
        <p:spPr>
          <a:xfrm>
            <a:off x="3856763" y="1839088"/>
            <a:ext cx="11076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SensorType</a:t>
            </a:r>
            <a:endParaRPr b="1" sz="1100">
              <a:solidFill>
                <a:schemeClr val="dk1"/>
              </a:solidFill>
            </a:endParaRPr>
          </a:p>
        </p:txBody>
      </p:sp>
      <p:sp>
        <p:nvSpPr>
          <p:cNvPr id="90" name="Google Shape;90;p14"/>
          <p:cNvSpPr txBox="1"/>
          <p:nvPr/>
        </p:nvSpPr>
        <p:spPr>
          <a:xfrm>
            <a:off x="4322050" y="1068763"/>
            <a:ext cx="13983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Orbital Coverage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91" name="Google Shape;91;p14"/>
          <p:cNvCxnSpPr/>
          <p:nvPr/>
        </p:nvCxnSpPr>
        <p:spPr>
          <a:xfrm>
            <a:off x="4910225" y="752400"/>
            <a:ext cx="104400" cy="417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2" name="Google Shape;92;p14"/>
          <p:cNvSpPr txBox="1"/>
          <p:nvPr/>
        </p:nvSpPr>
        <p:spPr>
          <a:xfrm>
            <a:off x="6511250" y="2959500"/>
            <a:ext cx="10212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Track Gap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93" name="Google Shape;93;p14"/>
          <p:cNvCxnSpPr/>
          <p:nvPr/>
        </p:nvCxnSpPr>
        <p:spPr>
          <a:xfrm>
            <a:off x="5275725" y="765475"/>
            <a:ext cx="1383000" cy="21531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4" name="Google Shape;94;p14"/>
          <p:cNvSpPr txBox="1"/>
          <p:nvPr/>
        </p:nvSpPr>
        <p:spPr>
          <a:xfrm>
            <a:off x="6111625" y="1764600"/>
            <a:ext cx="15702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Observation Count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95" name="Google Shape;95;p14"/>
          <p:cNvCxnSpPr/>
          <p:nvPr/>
        </p:nvCxnSpPr>
        <p:spPr>
          <a:xfrm rot="10800000">
            <a:off x="5614825" y="752425"/>
            <a:ext cx="835200" cy="9786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6" name="Google Shape;96;p14"/>
          <p:cNvSpPr txBox="1"/>
          <p:nvPr/>
        </p:nvSpPr>
        <p:spPr>
          <a:xfrm>
            <a:off x="7608650" y="1985475"/>
            <a:ext cx="1107600" cy="44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Object Count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97" name="Google Shape;97;p14"/>
          <p:cNvCxnSpPr/>
          <p:nvPr/>
        </p:nvCxnSpPr>
        <p:spPr>
          <a:xfrm>
            <a:off x="5941100" y="752100"/>
            <a:ext cx="1944300" cy="12528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8" name="Google Shape;98;p14"/>
          <p:cNvSpPr txBox="1"/>
          <p:nvPr/>
        </p:nvSpPr>
        <p:spPr>
          <a:xfrm>
            <a:off x="7854800" y="934800"/>
            <a:ext cx="824100" cy="37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</a:rPr>
              <a:t>Fitspan</a:t>
            </a:r>
            <a:endParaRPr b="1" sz="1100">
              <a:solidFill>
                <a:schemeClr val="dk1"/>
              </a:solidFill>
            </a:endParaRPr>
          </a:p>
        </p:txBody>
      </p:sp>
      <p:cxnSp>
        <p:nvCxnSpPr>
          <p:cNvPr id="99" name="Google Shape;99;p14"/>
          <p:cNvCxnSpPr/>
          <p:nvPr/>
        </p:nvCxnSpPr>
        <p:spPr>
          <a:xfrm>
            <a:off x="6397850" y="791575"/>
            <a:ext cx="1552800" cy="1827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00" name="Google Shape;100;p14"/>
          <p:cNvSpPr txBox="1"/>
          <p:nvPr/>
        </p:nvSpPr>
        <p:spPr>
          <a:xfrm>
            <a:off x="-169800" y="1404600"/>
            <a:ext cx="2149800" cy="116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HAMR (H)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Close position (C)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Close apparent position (A)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Calibration satellites (N)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Unspecified (U)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1" name="Google Shape;101;p14"/>
          <p:cNvSpPr txBox="1"/>
          <p:nvPr/>
        </p:nvSpPr>
        <p:spPr>
          <a:xfrm>
            <a:off x="947425" y="2971500"/>
            <a:ext cx="1570200" cy="95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50% (50) 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10% (10)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01% (01)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2" name="Google Shape;102;p14"/>
          <p:cNvSpPr txBox="1"/>
          <p:nvPr/>
        </p:nvSpPr>
        <p:spPr>
          <a:xfrm>
            <a:off x="2105400" y="1606200"/>
            <a:ext cx="10947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GEO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MEO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LEO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HEO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3" name="Google Shape;103;p14"/>
          <p:cNvSpPr txBox="1"/>
          <p:nvPr/>
        </p:nvSpPr>
        <p:spPr>
          <a:xfrm>
            <a:off x="2309550" y="2806050"/>
            <a:ext cx="32382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Maneuver between Observations (MU) 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Breakup Event (BU)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Long Duration/Low Thrust Maneuver (LL)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No Event (NE)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4" name="Google Shape;104;p14"/>
          <p:cNvSpPr txBox="1"/>
          <p:nvPr/>
        </p:nvSpPr>
        <p:spPr>
          <a:xfrm>
            <a:off x="7715675" y="1056200"/>
            <a:ext cx="1183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[2 char int]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01-14 days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dk1"/>
                </a:solidFill>
              </a:rPr>
              <a:t>(e.g. 01; 07; 14)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5" name="Google Shape;105;p14"/>
          <p:cNvSpPr txBox="1"/>
          <p:nvPr/>
        </p:nvSpPr>
        <p:spPr>
          <a:xfrm>
            <a:off x="7463600" y="2148300"/>
            <a:ext cx="15006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80 +/- 2 (H)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40 +/- 2 (S)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10 +/- 2 (L)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6" name="Google Shape;106;p14"/>
          <p:cNvSpPr txBox="1"/>
          <p:nvPr/>
        </p:nvSpPr>
        <p:spPr>
          <a:xfrm>
            <a:off x="6340825" y="1957800"/>
            <a:ext cx="1264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</a:t>
            </a:r>
            <a:r>
              <a:rPr lang="en" sz="1100">
                <a:solidFill>
                  <a:schemeClr val="dk1"/>
                </a:solidFill>
              </a:rPr>
              <a:t>(A)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Some (S)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 (N)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7" name="Google Shape;107;p14"/>
          <p:cNvSpPr txBox="1"/>
          <p:nvPr/>
        </p:nvSpPr>
        <p:spPr>
          <a:xfrm>
            <a:off x="6582650" y="3117750"/>
            <a:ext cx="11832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</a:t>
            </a:r>
            <a:r>
              <a:rPr lang="en" sz="1100">
                <a:solidFill>
                  <a:schemeClr val="dk1"/>
                </a:solidFill>
              </a:rPr>
              <a:t> (A)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Some (S)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 (N)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8" name="Google Shape;108;p14"/>
          <p:cNvSpPr txBox="1"/>
          <p:nvPr/>
        </p:nvSpPr>
        <p:spPr>
          <a:xfrm>
            <a:off x="4481288" y="1283625"/>
            <a:ext cx="1183200" cy="67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High (A)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Some (S)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Low (N)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109" name="Google Shape;109;p14"/>
          <p:cNvSpPr txBox="1"/>
          <p:nvPr/>
        </p:nvSpPr>
        <p:spPr>
          <a:xfrm>
            <a:off x="3690092" y="2071050"/>
            <a:ext cx="1639500" cy="73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Optical (OP)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Radar (RA)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Radio (RF)</a:t>
            </a:r>
            <a:endParaRPr sz="1100">
              <a:solidFill>
                <a:schemeClr val="dk1"/>
              </a:solidFill>
            </a:endParaRPr>
          </a:p>
          <a:p>
            <a:pPr indent="-207009" lvl="0" marL="36576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 sz="1100">
                <a:solidFill>
                  <a:schemeClr val="dk1"/>
                </a:solidFill>
              </a:rPr>
              <a:t>Data Fusion (FU)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